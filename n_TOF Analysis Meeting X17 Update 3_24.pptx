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y="6858000" cx="12188950"/>
  <p:notesSz cx="6858000" cy="9144000"/>
  <p:embeddedFontLst>
    <p:embeddedFont>
      <p:font typeface="Roboto"/>
      <p:regular r:id="rId47"/>
      <p:bold r:id="rId48"/>
      <p:italic r:id="rId49"/>
      <p:boldItalic r:id="rId50"/>
    </p:embeddedFont>
    <p:embeddedFont>
      <p:font typeface="Lato"/>
      <p:regular r:id="rId51"/>
      <p:bold r:id="rId52"/>
      <p:italic r:id="rId53"/>
      <p:boldItalic r:id="rId54"/>
    </p:embeddedFont>
    <p:embeddedFont>
      <p:font typeface="Average"/>
      <p:regular r:id="rId55"/>
    </p:embeddedFont>
    <p:embeddedFont>
      <p:font typeface="Oswald"/>
      <p:regular r:id="rId56"/>
      <p:bold r:id="rId5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39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Roboto-bold.fntdata"/><Relationship Id="rId47" Type="http://schemas.openxmlformats.org/officeDocument/2006/relationships/font" Target="fonts/Roboto-regular.fntdata"/><Relationship Id="rId49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Lato-regular.fntdata"/><Relationship Id="rId50" Type="http://schemas.openxmlformats.org/officeDocument/2006/relationships/font" Target="fonts/Roboto-boldItalic.fntdata"/><Relationship Id="rId53" Type="http://schemas.openxmlformats.org/officeDocument/2006/relationships/font" Target="fonts/Lato-italic.fntdata"/><Relationship Id="rId52" Type="http://schemas.openxmlformats.org/officeDocument/2006/relationships/font" Target="fonts/Lato-bold.fntdata"/><Relationship Id="rId11" Type="http://schemas.openxmlformats.org/officeDocument/2006/relationships/slide" Target="slides/slide6.xml"/><Relationship Id="rId55" Type="http://schemas.openxmlformats.org/officeDocument/2006/relationships/font" Target="fonts/Average-regular.fntdata"/><Relationship Id="rId10" Type="http://schemas.openxmlformats.org/officeDocument/2006/relationships/slide" Target="slides/slide5.xml"/><Relationship Id="rId54" Type="http://schemas.openxmlformats.org/officeDocument/2006/relationships/font" Target="fonts/Lato-boldItalic.fntdata"/><Relationship Id="rId13" Type="http://schemas.openxmlformats.org/officeDocument/2006/relationships/slide" Target="slides/slide8.xml"/><Relationship Id="rId57" Type="http://schemas.openxmlformats.org/officeDocument/2006/relationships/font" Target="fonts/Oswald-bold.fntdata"/><Relationship Id="rId12" Type="http://schemas.openxmlformats.org/officeDocument/2006/relationships/slide" Target="slides/slide7.xml"/><Relationship Id="rId56" Type="http://schemas.openxmlformats.org/officeDocument/2006/relationships/font" Target="fonts/Oswald-regular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9655e2fdea_0_155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9655e2fdea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6ea794e02462920_0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6ea794e0246292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14e2ca575_0_258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14e2ca575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14e2ca575_0_0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d14e2ca57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9655e2fdea_0_182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9655e2fdea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655e2fdea_0_190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9655e2fdea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d14e2ca575_0_68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d14e2ca575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Maybe the title like </a:t>
            </a:r>
            <a:br>
              <a:rPr lang="en"/>
            </a:br>
            <a:br>
              <a:rPr lang="en"/>
            </a:br>
            <a:r>
              <a:rPr b="1" lang="en" sz="1300">
                <a:solidFill>
                  <a:schemeClr val="dk1"/>
                </a:solidFill>
              </a:rPr>
              <a:t>Large-Area Micromegas Telescope – Commissioning &amp; DAQ Development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Commissioned the first 40 × 40 cm² Micromegas detector</a:t>
            </a:r>
            <a:r>
              <a:rPr lang="en">
                <a:solidFill>
                  <a:schemeClr val="dk1"/>
                </a:solidFill>
              </a:rPr>
              <a:t> of a 4-plane telescope for e⁺e⁻ pair measurements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→ Final setup will consist of four detectors arranged around the beam to measure e⁺e⁻ opening angles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deployed the complete DAQ architecture and synchronization scheme</a:t>
            </a:r>
            <a:br>
              <a:rPr b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→ Rapid implementation enabled early data-taking and system validation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→ Integrated 2D strip readout with top pixel layer for balanced x/y charge sharing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Enabled micro-TPC operation with a 3 cm drift gap</a:t>
            </a:r>
            <a:br>
              <a:rPr b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→ 3D track reconstruction capability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→ Reconstruction of tracks pointing back to the conversion source (ongoing optimization)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Developing a Geant4 simulation framework to optimize the detector gas mixture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→ Evaluate alternative mixtures to suppress γ-flash–induced background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→ Improve signal-to-background and enhance the e⁺e⁻ measurement sensitivity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Core contribution:</a:t>
            </a:r>
            <a:r>
              <a:rPr lang="en">
                <a:solidFill>
                  <a:schemeClr val="dk1"/>
                </a:solidFill>
              </a:rPr>
              <a:t> Fast and robust DAQ setup significantly accelerated commissioning and made the measurement campaign feasible.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6ea794e02462920_7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6ea794e0246292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9655e2fdea_0_7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9655e2fde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9655e2fdea_0_310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9655e2fdea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9655e2fdea_0_137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9655e2fdea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9655e2fdea_0_145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9655e2fdea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9655e2fdea_0_121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9655e2fdea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9655e2fdea_0_129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9655e2fdea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6ea794e02462920_12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6ea794e0246292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9655e2fdea_0_303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9655e2fdea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d05c571e55_0_39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d05c571e55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9655e2fdea_0_289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9655e2fdea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d05c571e55_0_109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d05c571e55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d05c571e55_0_55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d05c571e55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d05c571e55_0_7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3d05c571e5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don’t have any </a:t>
            </a:r>
            <a:r>
              <a:rPr lang="en"/>
              <a:t>plateau….Cazzo!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d05c571e55_0_15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d05c571e5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d05c571e55_0_23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3d05c571e55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d09f0e23b0_0_9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d09f0e23b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9655e2fdea_0_319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39655e2fdea_0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9655e2fdea_0_200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39655e2fdea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9655e2fdea_0_272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39655e2fdea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c60d9788bd_0_0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3c60d9788b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c60d9788bd_0_7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3c60d9788b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d05c571e55_0_31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3d05c571e55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9655e2fdea_0_281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39655e2fdea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d14e2ca575_0_178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3d14e2ca575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d1f76f0fce_0_2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3d1f76f0fc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d1f76f0fce_0_13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3d1f76f0fc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d1f76f0fce_0_22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3d1f76f0fce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d1f76f0fce_0_31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3d1f76f0fce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3d1f76f0fce_0_40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g3d1f76f0fce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d1f76f0fce_0_49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3d1f76f0fce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d1f76f0fce_0_58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3d1f76f0fce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3d1f76f0fce_0_67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" name="Google Shape;595;g3d1f76f0fce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5799073" y="3807170"/>
            <a:ext cx="591336" cy="140843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875" lIns="121875" spcFirstLastPara="1" rIns="121875" wrap="square" tIns="121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875" lIns="121875" spcFirstLastPara="1" rIns="121875" wrap="square" tIns="121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875" lIns="121875" spcFirstLastPara="1" rIns="121875" wrap="square" tIns="121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894786" y="1321067"/>
            <a:ext cx="10399500" cy="2306700"/>
          </a:xfrm>
          <a:prstGeom prst="rect">
            <a:avLst/>
          </a:prstGeom>
        </p:spPr>
        <p:txBody>
          <a:bodyPr anchorCtr="0" anchor="b" bIns="121875" lIns="121875" spcFirstLastPara="1" rIns="121875" wrap="square" tIns="12187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894776" y="4233168"/>
            <a:ext cx="10399500" cy="10569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11042108" y="6537888"/>
            <a:ext cx="731400" cy="320100"/>
          </a:xfrm>
          <a:prstGeom prst="rect">
            <a:avLst/>
          </a:prstGeom>
        </p:spPr>
        <p:txBody>
          <a:bodyPr anchorCtr="0" anchor="b" bIns="45700" lIns="121875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94776" y="2855000"/>
            <a:ext cx="10467000" cy="1148100"/>
          </a:xfrm>
          <a:prstGeom prst="rect">
            <a:avLst/>
          </a:prstGeom>
        </p:spPr>
        <p:txBody>
          <a:bodyPr anchorCtr="0" anchor="ctr" bIns="121875" lIns="121875" spcFirstLastPara="1" rIns="121875" wrap="square" tIns="12187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11042108" y="6537888"/>
            <a:ext cx="731400" cy="320100"/>
          </a:xfrm>
          <a:prstGeom prst="rect">
            <a:avLst/>
          </a:prstGeom>
        </p:spPr>
        <p:txBody>
          <a:bodyPr anchorCtr="0" anchor="b" bIns="45700" lIns="121875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415496" y="593367"/>
            <a:ext cx="11358000" cy="7635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15496" y="1536633"/>
            <a:ext cx="11358000" cy="45552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rtl="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rtl="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rtl="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rtl="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rtl="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rtl="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11042108" y="6537888"/>
            <a:ext cx="731400" cy="320100"/>
          </a:xfrm>
          <a:prstGeom prst="rect">
            <a:avLst/>
          </a:prstGeom>
        </p:spPr>
        <p:txBody>
          <a:bodyPr anchorCtr="0" anchor="b" bIns="45700" lIns="121875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Physics">
  <p:cSld name="TITLE_AND_TWO_COLUMNS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415496" y="182880"/>
            <a:ext cx="11358000" cy="7635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415496" y="1536633"/>
            <a:ext cx="5331900" cy="45552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>
            <a:lvl1pPr indent="-349250" lvl="0" marL="45720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6441588" y="1536633"/>
            <a:ext cx="5331900" cy="45552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>
            <a:lvl1pPr indent="-349250" lvl="0" marL="45720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11042108" y="6537888"/>
            <a:ext cx="731400" cy="320100"/>
          </a:xfrm>
          <a:prstGeom prst="rect">
            <a:avLst/>
          </a:prstGeom>
        </p:spPr>
        <p:txBody>
          <a:bodyPr anchorCtr="0" anchor="b" bIns="64000" lIns="91425" spcFirstLastPara="1" rIns="0" wrap="square" tIns="91425">
            <a:noAutofit/>
          </a:bodyPr>
          <a:lstStyle>
            <a:lvl1pPr lvl="0" rtl="0">
              <a:buNone/>
              <a:defRPr sz="1400"/>
            </a:lvl1pPr>
            <a:lvl2pPr lvl="1" rtl="0">
              <a:buNone/>
              <a:defRPr sz="1400"/>
            </a:lvl2pPr>
            <a:lvl3pPr lvl="2" rtl="0">
              <a:buNone/>
              <a:defRPr sz="1400"/>
            </a:lvl3pPr>
            <a:lvl4pPr lvl="3" rtl="0">
              <a:buNone/>
              <a:defRPr sz="1400"/>
            </a:lvl4pPr>
            <a:lvl5pPr lvl="4" rtl="0">
              <a:buNone/>
              <a:defRPr sz="1400"/>
            </a:lvl5pPr>
            <a:lvl6pPr lvl="5" rtl="0">
              <a:buNone/>
              <a:defRPr sz="1400"/>
            </a:lvl6pPr>
            <a:lvl7pPr lvl="6" rtl="0">
              <a:buNone/>
              <a:defRPr sz="1400"/>
            </a:lvl7pPr>
            <a:lvl8pPr lvl="7" rtl="0">
              <a:buNone/>
              <a:defRPr sz="1400"/>
            </a:lvl8pPr>
            <a:lvl9pPr lvl="8" rtl="0"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" name="Google Shape;29;p5"/>
          <p:cNvSpPr txBox="1"/>
          <p:nvPr/>
        </p:nvSpPr>
        <p:spPr>
          <a:xfrm>
            <a:off x="11731752" y="6528816"/>
            <a:ext cx="523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/ 26</a:t>
            </a:r>
            <a:endParaRPr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30" name="Google Shape;30;p5"/>
          <p:cNvSpPr txBox="1"/>
          <p:nvPr/>
        </p:nvSpPr>
        <p:spPr>
          <a:xfrm>
            <a:off x="0" y="6537900"/>
            <a:ext cx="1650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3/24/2026</a:t>
            </a:r>
            <a:endParaRPr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31" name="Google Shape;31;p5"/>
          <p:cNvCxnSpPr/>
          <p:nvPr/>
        </p:nvCxnSpPr>
        <p:spPr>
          <a:xfrm>
            <a:off x="0" y="6565392"/>
            <a:ext cx="12189000" cy="2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" name="Google Shape;32;p5"/>
          <p:cNvSpPr/>
          <p:nvPr/>
        </p:nvSpPr>
        <p:spPr>
          <a:xfrm>
            <a:off x="53750" y="850399"/>
            <a:ext cx="7391400" cy="26700"/>
          </a:xfrm>
          <a:prstGeom prst="rect">
            <a:avLst/>
          </a:prstGeom>
          <a:gradFill>
            <a:gsLst>
              <a:gs pos="0">
                <a:schemeClr val="accent5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5"/>
          <p:cNvSpPr txBox="1"/>
          <p:nvPr/>
        </p:nvSpPr>
        <p:spPr>
          <a:xfrm>
            <a:off x="3979800" y="6528825"/>
            <a:ext cx="4229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Dylan Neff – n_TOF Analysis Meeting March 2026</a:t>
            </a:r>
            <a:endParaRPr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Physics">
  <p:cSld name="TITLE_AND_TWO_COLUMNS_1_1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373746" y="3047255"/>
            <a:ext cx="11358000" cy="7635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11042108" y="6537888"/>
            <a:ext cx="731400" cy="320100"/>
          </a:xfrm>
          <a:prstGeom prst="rect">
            <a:avLst/>
          </a:prstGeom>
        </p:spPr>
        <p:txBody>
          <a:bodyPr anchorCtr="0" anchor="b" bIns="64000" lIns="91425" spcFirstLastPara="1" rIns="0" wrap="square" tIns="91425">
            <a:noAutofit/>
          </a:bodyPr>
          <a:lstStyle>
            <a:lvl1pPr lvl="0" rtl="0">
              <a:buNone/>
              <a:defRPr sz="1400"/>
            </a:lvl1pPr>
            <a:lvl2pPr lvl="1" rtl="0">
              <a:buNone/>
              <a:defRPr sz="1400"/>
            </a:lvl2pPr>
            <a:lvl3pPr lvl="2" rtl="0">
              <a:buNone/>
              <a:defRPr sz="1400"/>
            </a:lvl3pPr>
            <a:lvl4pPr lvl="3" rtl="0">
              <a:buNone/>
              <a:defRPr sz="1400"/>
            </a:lvl4pPr>
            <a:lvl5pPr lvl="4" rtl="0">
              <a:buNone/>
              <a:defRPr sz="1400"/>
            </a:lvl5pPr>
            <a:lvl6pPr lvl="5" rtl="0">
              <a:buNone/>
              <a:defRPr sz="1400"/>
            </a:lvl6pPr>
            <a:lvl7pPr lvl="6" rtl="0">
              <a:buNone/>
              <a:defRPr sz="1400"/>
            </a:lvl7pPr>
            <a:lvl8pPr lvl="7" rtl="0">
              <a:buNone/>
              <a:defRPr sz="1400"/>
            </a:lvl8pPr>
            <a:lvl9pPr lvl="8" rtl="0"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" name="Google Shape;37;p6"/>
          <p:cNvSpPr txBox="1"/>
          <p:nvPr/>
        </p:nvSpPr>
        <p:spPr>
          <a:xfrm>
            <a:off x="11731752" y="6528816"/>
            <a:ext cx="523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/ 26</a:t>
            </a:r>
            <a:endParaRPr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38" name="Google Shape;38;p6"/>
          <p:cNvSpPr txBox="1"/>
          <p:nvPr/>
        </p:nvSpPr>
        <p:spPr>
          <a:xfrm>
            <a:off x="0" y="6537900"/>
            <a:ext cx="1650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3</a:t>
            </a:r>
            <a:r>
              <a:rPr lang="en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/24/2026</a:t>
            </a:r>
            <a:endParaRPr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39" name="Google Shape;39;p6"/>
          <p:cNvCxnSpPr/>
          <p:nvPr/>
        </p:nvCxnSpPr>
        <p:spPr>
          <a:xfrm>
            <a:off x="0" y="6565392"/>
            <a:ext cx="12189000" cy="2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" name="Google Shape;40;p6"/>
          <p:cNvSpPr txBox="1"/>
          <p:nvPr/>
        </p:nvSpPr>
        <p:spPr>
          <a:xfrm>
            <a:off x="3979800" y="6528825"/>
            <a:ext cx="4229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Dylan Neff – n_TOF Analysis Meeting March 2026</a:t>
            </a:r>
            <a:endParaRPr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415496" y="593367"/>
            <a:ext cx="11358000" cy="7635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11042108" y="6537888"/>
            <a:ext cx="731400" cy="320100"/>
          </a:xfrm>
          <a:prstGeom prst="rect">
            <a:avLst/>
          </a:prstGeom>
        </p:spPr>
        <p:txBody>
          <a:bodyPr anchorCtr="0" anchor="b" bIns="45700" lIns="121875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415496" y="740800"/>
            <a:ext cx="3743100" cy="1007700"/>
          </a:xfrm>
          <a:prstGeom prst="rect">
            <a:avLst/>
          </a:prstGeom>
        </p:spPr>
        <p:txBody>
          <a:bodyPr anchorCtr="0" anchor="b" bIns="121875" lIns="121875" spcFirstLastPara="1" rIns="121875" wrap="square" tIns="12187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46" name="Google Shape;46;p8"/>
          <p:cNvSpPr txBox="1"/>
          <p:nvPr>
            <p:ph idx="1" type="body"/>
          </p:nvPr>
        </p:nvSpPr>
        <p:spPr>
          <a:xfrm>
            <a:off x="415496" y="1852800"/>
            <a:ext cx="3743100" cy="42393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11042108" y="6537888"/>
            <a:ext cx="731400" cy="320100"/>
          </a:xfrm>
          <a:prstGeom prst="rect">
            <a:avLst/>
          </a:prstGeom>
        </p:spPr>
        <p:txBody>
          <a:bodyPr anchorCtr="0" anchor="b" bIns="45700" lIns="121875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 txBox="1"/>
          <p:nvPr>
            <p:ph type="title"/>
          </p:nvPr>
        </p:nvSpPr>
        <p:spPr>
          <a:xfrm>
            <a:off x="653503" y="701800"/>
            <a:ext cx="8300700" cy="5454300"/>
          </a:xfrm>
          <a:prstGeom prst="rect">
            <a:avLst/>
          </a:prstGeom>
        </p:spPr>
        <p:txBody>
          <a:bodyPr anchorCtr="0" anchor="ctr" bIns="121875" lIns="121875" spcFirstLastPara="1" rIns="121875" wrap="square" tIns="12187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" name="Google Shape;50;p9"/>
          <p:cNvSpPr txBox="1"/>
          <p:nvPr>
            <p:ph idx="12" type="sldNum"/>
          </p:nvPr>
        </p:nvSpPr>
        <p:spPr>
          <a:xfrm>
            <a:off x="11042108" y="6537888"/>
            <a:ext cx="731400" cy="320100"/>
          </a:xfrm>
          <a:prstGeom prst="rect">
            <a:avLst/>
          </a:prstGeom>
        </p:spPr>
        <p:txBody>
          <a:bodyPr anchorCtr="0" anchor="b" bIns="45700" lIns="121875" spcFirstLastPara="1" rIns="0" wrap="square" tIns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/>
          <p:nvPr/>
        </p:nvSpPr>
        <p:spPr>
          <a:xfrm>
            <a:off x="6094475" y="0"/>
            <a:ext cx="60945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3" name="Google Shape;53;p10"/>
          <p:cNvCxnSpPr/>
          <p:nvPr/>
        </p:nvCxnSpPr>
        <p:spPr>
          <a:xfrm>
            <a:off x="6704556" y="5994000"/>
            <a:ext cx="624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" name="Google Shape;54;p10"/>
          <p:cNvSpPr txBox="1"/>
          <p:nvPr>
            <p:ph type="title"/>
          </p:nvPr>
        </p:nvSpPr>
        <p:spPr>
          <a:xfrm>
            <a:off x="353911" y="1441867"/>
            <a:ext cx="5392200" cy="2280300"/>
          </a:xfrm>
          <a:prstGeom prst="rect">
            <a:avLst/>
          </a:prstGeom>
        </p:spPr>
        <p:txBody>
          <a:bodyPr anchorCtr="0" anchor="b" bIns="121875" lIns="121875" spcFirstLastPara="1" rIns="121875" wrap="square" tIns="12187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55" name="Google Shape;55;p10"/>
          <p:cNvSpPr txBox="1"/>
          <p:nvPr>
            <p:ph idx="1" type="subTitle"/>
          </p:nvPr>
        </p:nvSpPr>
        <p:spPr>
          <a:xfrm>
            <a:off x="353911" y="3793601"/>
            <a:ext cx="5392200" cy="17940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" name="Google Shape;56;p10"/>
          <p:cNvSpPr txBox="1"/>
          <p:nvPr>
            <p:ph idx="2" type="body"/>
          </p:nvPr>
        </p:nvSpPr>
        <p:spPr>
          <a:xfrm>
            <a:off x="6584352" y="965600"/>
            <a:ext cx="5114700" cy="4926900"/>
          </a:xfrm>
          <a:prstGeom prst="rect">
            <a:avLst/>
          </a:prstGeom>
        </p:spPr>
        <p:txBody>
          <a:bodyPr anchorCtr="0" anchor="ctr" bIns="121875" lIns="121875" spcFirstLastPara="1" rIns="121875" wrap="square" tIns="121875">
            <a:norm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>
                <a:solidFill>
                  <a:schemeClr val="lt1"/>
                </a:solidFill>
              </a:defRPr>
            </a:lvl1pPr>
            <a:lvl2pPr indent="-34925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2pPr>
            <a:lvl3pPr indent="-34925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3pPr>
            <a:lvl4pPr indent="-34925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4pPr>
            <a:lvl5pPr indent="-34925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5pPr>
            <a:lvl6pPr indent="-34925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6pPr>
            <a:lvl7pPr indent="-34925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7pPr>
            <a:lvl8pPr indent="-34925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8pPr>
            <a:lvl9pPr indent="-34925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" name="Google Shape;57;p10"/>
          <p:cNvSpPr txBox="1"/>
          <p:nvPr>
            <p:ph idx="12" type="sldNum"/>
          </p:nvPr>
        </p:nvSpPr>
        <p:spPr>
          <a:xfrm>
            <a:off x="11042108" y="6537888"/>
            <a:ext cx="731400" cy="320100"/>
          </a:xfrm>
          <a:prstGeom prst="rect">
            <a:avLst/>
          </a:prstGeom>
        </p:spPr>
        <p:txBody>
          <a:bodyPr anchorCtr="0" anchor="b" bIns="45700" lIns="121875" spcFirstLastPara="1" rIns="0" wrap="square" tIns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15496" y="5640767"/>
            <a:ext cx="7996500" cy="806700"/>
          </a:xfrm>
          <a:prstGeom prst="rect">
            <a:avLst/>
          </a:prstGeom>
        </p:spPr>
        <p:txBody>
          <a:bodyPr anchorCtr="0" anchor="ctr" bIns="121875" lIns="121875" spcFirstLastPara="1" rIns="121875" wrap="square" tIns="12187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11042108" y="6537888"/>
            <a:ext cx="731400" cy="320100"/>
          </a:xfrm>
          <a:prstGeom prst="rect">
            <a:avLst/>
          </a:prstGeom>
        </p:spPr>
        <p:txBody>
          <a:bodyPr anchorCtr="0" anchor="b" bIns="45700" lIns="121875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hasCustomPrompt="1" type="title"/>
          </p:nvPr>
        </p:nvSpPr>
        <p:spPr>
          <a:xfrm>
            <a:off x="415496" y="1673700"/>
            <a:ext cx="11358000" cy="2520900"/>
          </a:xfrm>
          <a:prstGeom prst="rect">
            <a:avLst/>
          </a:prstGeom>
        </p:spPr>
        <p:txBody>
          <a:bodyPr anchorCtr="0" anchor="b" bIns="121875" lIns="121875" spcFirstLastPara="1" rIns="121875" wrap="square" tIns="12187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63" name="Google Shape;63;p12"/>
          <p:cNvSpPr txBox="1"/>
          <p:nvPr>
            <p:ph idx="1" type="body"/>
          </p:nvPr>
        </p:nvSpPr>
        <p:spPr>
          <a:xfrm>
            <a:off x="415496" y="4304567"/>
            <a:ext cx="11358000" cy="17343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rtl="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rtl="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rtl="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rtl="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rtl="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rtl="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rtl="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rtl="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64" name="Google Shape;64;p12"/>
          <p:cNvSpPr txBox="1"/>
          <p:nvPr>
            <p:ph idx="12" type="sldNum"/>
          </p:nvPr>
        </p:nvSpPr>
        <p:spPr>
          <a:xfrm>
            <a:off x="11042108" y="6537888"/>
            <a:ext cx="731400" cy="320100"/>
          </a:xfrm>
          <a:prstGeom prst="rect">
            <a:avLst/>
          </a:prstGeom>
        </p:spPr>
        <p:txBody>
          <a:bodyPr anchorCtr="0" anchor="b" bIns="45700" lIns="121875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idx="12" type="sldNum"/>
          </p:nvPr>
        </p:nvSpPr>
        <p:spPr>
          <a:xfrm>
            <a:off x="11042108" y="6537888"/>
            <a:ext cx="731400" cy="320100"/>
          </a:xfrm>
          <a:prstGeom prst="rect">
            <a:avLst/>
          </a:prstGeom>
        </p:spPr>
        <p:txBody>
          <a:bodyPr anchorCtr="0" anchor="b" bIns="45700" lIns="121875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idx="1" type="subTitle"/>
          </p:nvPr>
        </p:nvSpPr>
        <p:spPr>
          <a:xfrm>
            <a:off x="609126" y="272880"/>
            <a:ext cx="10969672" cy="5309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spcBef>
                <a:spcPts val="1600"/>
              </a:spcBef>
              <a:spcAft>
                <a:spcPts val="1600"/>
              </a:spcAft>
              <a:buSzPts val="1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609126" y="272880"/>
            <a:ext cx="10969672" cy="114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609126" y="1604160"/>
            <a:ext cx="10969672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indent="-228600" lvl="1" marL="914400" algn="l"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4pPr>
            <a:lvl5pPr indent="-228600" lvl="4" marL="2286000" algn="l"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5pPr>
            <a:lvl6pPr indent="-228600" lvl="5" marL="2743200" algn="l"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spcBef>
                <a:spcPts val="1600"/>
              </a:spcBef>
              <a:spcAft>
                <a:spcPts val="1600"/>
              </a:spcAft>
              <a:buSzPts val="1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15496" y="593367"/>
            <a:ext cx="113580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swald"/>
              <a:buNone/>
              <a:defRPr sz="4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swald"/>
              <a:buNone/>
              <a:defRPr sz="4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swald"/>
              <a:buNone/>
              <a:defRPr sz="4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swald"/>
              <a:buNone/>
              <a:defRPr sz="4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swald"/>
              <a:buNone/>
              <a:defRPr sz="4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swald"/>
              <a:buNone/>
              <a:defRPr sz="4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swald"/>
              <a:buNone/>
              <a:defRPr sz="4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swald"/>
              <a:buNone/>
              <a:defRPr sz="4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swald"/>
              <a:buNone/>
              <a:defRPr sz="4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15496" y="1536633"/>
            <a:ext cx="113580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rmAutofit/>
          </a:bodyPr>
          <a:lstStyle>
            <a:lvl1pPr indent="-3810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Average"/>
              <a:buChar char="●"/>
              <a:defRPr sz="2400">
                <a:solidFill>
                  <a:schemeClr val="accent6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492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900"/>
              <a:buFont typeface="Average"/>
              <a:buChar char="○"/>
              <a:defRPr sz="1900">
                <a:solidFill>
                  <a:schemeClr val="accent6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492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900"/>
              <a:buFont typeface="Average"/>
              <a:buChar char="■"/>
              <a:defRPr sz="1900">
                <a:solidFill>
                  <a:schemeClr val="accent6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492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900"/>
              <a:buFont typeface="Average"/>
              <a:buChar char="●"/>
              <a:defRPr sz="1900">
                <a:solidFill>
                  <a:schemeClr val="accent6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492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900"/>
              <a:buFont typeface="Average"/>
              <a:buChar char="○"/>
              <a:defRPr sz="1900">
                <a:solidFill>
                  <a:schemeClr val="accent6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492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900"/>
              <a:buFont typeface="Average"/>
              <a:buChar char="■"/>
              <a:defRPr sz="1900">
                <a:solidFill>
                  <a:schemeClr val="accent6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492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900"/>
              <a:buFont typeface="Average"/>
              <a:buChar char="●"/>
              <a:defRPr sz="1900">
                <a:solidFill>
                  <a:schemeClr val="accent6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492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900"/>
              <a:buFont typeface="Average"/>
              <a:buChar char="○"/>
              <a:defRPr sz="1900">
                <a:solidFill>
                  <a:schemeClr val="accent6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492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900"/>
              <a:buFont typeface="Average"/>
              <a:buChar char="■"/>
              <a:defRPr sz="1900">
                <a:solidFill>
                  <a:schemeClr val="accent6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1042108" y="6537888"/>
            <a:ext cx="731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121875" spcFirstLastPara="1" rIns="0" wrap="square" tIns="0">
            <a:noAutofit/>
          </a:bodyPr>
          <a:lstStyle>
            <a:lvl1pPr lvl="0" rtl="0" algn="r">
              <a:lnSpc>
                <a:spcPct val="80000"/>
              </a:lnSpc>
              <a:buSzPts val="523"/>
              <a:buNone/>
              <a:defRPr sz="1418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rtl="0" algn="r">
              <a:lnSpc>
                <a:spcPct val="80000"/>
              </a:lnSpc>
              <a:buSzPts val="523"/>
              <a:buNone/>
              <a:defRPr sz="1418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rtl="0" algn="r">
              <a:lnSpc>
                <a:spcPct val="80000"/>
              </a:lnSpc>
              <a:buSzPts val="523"/>
              <a:buNone/>
              <a:defRPr sz="1418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rtl="0" algn="r">
              <a:lnSpc>
                <a:spcPct val="80000"/>
              </a:lnSpc>
              <a:buSzPts val="523"/>
              <a:buNone/>
              <a:defRPr sz="1418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rtl="0" algn="r">
              <a:lnSpc>
                <a:spcPct val="80000"/>
              </a:lnSpc>
              <a:buSzPts val="523"/>
              <a:buNone/>
              <a:defRPr sz="1418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rtl="0" algn="r">
              <a:lnSpc>
                <a:spcPct val="80000"/>
              </a:lnSpc>
              <a:buSzPts val="523"/>
              <a:buNone/>
              <a:defRPr sz="1418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rtl="0" algn="r">
              <a:lnSpc>
                <a:spcPct val="80000"/>
              </a:lnSpc>
              <a:buSzPts val="523"/>
              <a:buNone/>
              <a:defRPr sz="1418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rtl="0" algn="r">
              <a:lnSpc>
                <a:spcPct val="80000"/>
              </a:lnSpc>
              <a:buSzPts val="523"/>
              <a:buNone/>
              <a:defRPr sz="1418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rtl="0" algn="r">
              <a:lnSpc>
                <a:spcPct val="80000"/>
              </a:lnSpc>
              <a:buSzPts val="523"/>
              <a:buNone/>
              <a:defRPr sz="1418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cds.cern.ch/record/2920978/files/INTC-P-727.pdf" TargetMode="External"/><Relationship Id="rId4" Type="http://schemas.openxmlformats.org/officeDocument/2006/relationships/image" Target="../media/image4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hyperlink" Target="https://www.mdpi.com/2218-1997/10/7/285" TargetMode="External"/><Relationship Id="rId6" Type="http://schemas.openxmlformats.org/officeDocument/2006/relationships/hyperlink" Target="https://journals.aps.org/prl/abstract/10.1103/PhysRevLett.116.042501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gif"/><Relationship Id="rId4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gif"/><Relationship Id="rId4" Type="http://schemas.openxmlformats.org/officeDocument/2006/relationships/image" Target="../media/image1.gif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Relationship Id="rId4" Type="http://schemas.openxmlformats.org/officeDocument/2006/relationships/image" Target="../media/image3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3.png"/><Relationship Id="rId4" Type="http://schemas.openxmlformats.org/officeDocument/2006/relationships/image" Target="../media/image3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8.png"/><Relationship Id="rId4" Type="http://schemas.openxmlformats.org/officeDocument/2006/relationships/image" Target="../media/image2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7.png"/><Relationship Id="rId4" Type="http://schemas.openxmlformats.org/officeDocument/2006/relationships/image" Target="../media/image2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.png"/><Relationship Id="rId4" Type="http://schemas.openxmlformats.org/officeDocument/2006/relationships/image" Target="../media/image26.png"/><Relationship Id="rId5" Type="http://schemas.openxmlformats.org/officeDocument/2006/relationships/image" Target="../media/image34.png"/><Relationship Id="rId6" Type="http://schemas.openxmlformats.org/officeDocument/2006/relationships/image" Target="../media/image25.png"/><Relationship Id="rId7" Type="http://schemas.openxmlformats.org/officeDocument/2006/relationships/image" Target="../media/image3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ctrTitle"/>
          </p:nvPr>
        </p:nvSpPr>
        <p:spPr>
          <a:xfrm>
            <a:off x="344625" y="1321075"/>
            <a:ext cx="11326500" cy="2306700"/>
          </a:xfrm>
          <a:prstGeom prst="rect">
            <a:avLst/>
          </a:prstGeom>
        </p:spPr>
        <p:txBody>
          <a:bodyPr anchorCtr="0" anchor="b" bIns="121875" lIns="121875" spcFirstLastPara="1" rIns="121875" wrap="square" tIns="1218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X17 Search at EAR2</a:t>
            </a:r>
            <a:endParaRPr/>
          </a:p>
        </p:txBody>
      </p:sp>
      <p:sp>
        <p:nvSpPr>
          <p:cNvPr id="77" name="Google Shape;77;p16"/>
          <p:cNvSpPr txBox="1"/>
          <p:nvPr>
            <p:ph idx="1" type="subTitle"/>
          </p:nvPr>
        </p:nvSpPr>
        <p:spPr>
          <a:xfrm>
            <a:off x="894776" y="4233168"/>
            <a:ext cx="10399500" cy="10569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Dylan Neff</a:t>
            </a:r>
            <a:br>
              <a:rPr lang="en"/>
            </a:br>
            <a:r>
              <a:rPr lang="en" sz="2500"/>
              <a:t>University of Manchester &amp; INFN Legnaro</a:t>
            </a:r>
            <a:endParaRPr sz="2500"/>
          </a:p>
        </p:txBody>
      </p:sp>
      <p:sp>
        <p:nvSpPr>
          <p:cNvPr id="78" name="Google Shape;78;p16"/>
          <p:cNvSpPr txBox="1"/>
          <p:nvPr/>
        </p:nvSpPr>
        <p:spPr>
          <a:xfrm>
            <a:off x="406000" y="6148525"/>
            <a:ext cx="1653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3/24/2026</a:t>
            </a:r>
            <a:endParaRPr sz="20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415496" y="182880"/>
            <a:ext cx="11358000" cy="7635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415502" y="1536625"/>
            <a:ext cx="7906200" cy="45552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 sz="2600"/>
              <a:t>X17 Measurement at n_TOF</a:t>
            </a:r>
            <a:br>
              <a:rPr lang="en" sz="2600"/>
            </a:b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 sz="2600"/>
              <a:t>MM Detector 0 Characterization</a:t>
            </a:r>
            <a:br>
              <a:rPr lang="en" sz="2600"/>
            </a:b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 sz="2600"/>
              <a:t>February Beam Test</a:t>
            </a:r>
            <a:br>
              <a:rPr lang="en" sz="2600"/>
            </a:b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 sz="2600"/>
              <a:t>Outlook</a:t>
            </a:r>
            <a:endParaRPr sz="2600"/>
          </a:p>
        </p:txBody>
      </p:sp>
      <p:sp>
        <p:nvSpPr>
          <p:cNvPr id="85" name="Google Shape;85;p17"/>
          <p:cNvSpPr txBox="1"/>
          <p:nvPr>
            <p:ph idx="12" type="sldNum"/>
          </p:nvPr>
        </p:nvSpPr>
        <p:spPr>
          <a:xfrm>
            <a:off x="11042108" y="6537888"/>
            <a:ext cx="731400" cy="320100"/>
          </a:xfrm>
          <a:prstGeom prst="rect">
            <a:avLst/>
          </a:prstGeom>
        </p:spPr>
        <p:txBody>
          <a:bodyPr anchorCtr="0" anchor="b" bIns="64000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73746" y="3047255"/>
            <a:ext cx="11358000" cy="7635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X17 at n_TOF</a:t>
            </a:r>
            <a:endParaRPr/>
          </a:p>
        </p:txBody>
      </p:sp>
      <p:sp>
        <p:nvSpPr>
          <p:cNvPr id="91" name="Google Shape;91;p18"/>
          <p:cNvSpPr txBox="1"/>
          <p:nvPr>
            <p:ph idx="12" type="sldNum"/>
          </p:nvPr>
        </p:nvSpPr>
        <p:spPr>
          <a:xfrm>
            <a:off x="11042108" y="6537888"/>
            <a:ext cx="731400" cy="320100"/>
          </a:xfrm>
          <a:prstGeom prst="rect">
            <a:avLst/>
          </a:prstGeom>
        </p:spPr>
        <p:txBody>
          <a:bodyPr anchorCtr="0" anchor="b" bIns="64000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415496" y="182880"/>
            <a:ext cx="11358000" cy="7635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X17 Anomaly at ATOMKI in 2016</a:t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5" y="988857"/>
            <a:ext cx="12189000" cy="5478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Proton beam on </a:t>
            </a:r>
            <a:r>
              <a:rPr baseline="30000" lang="en"/>
              <a:t>7</a:t>
            </a:r>
            <a:r>
              <a:rPr lang="en"/>
              <a:t>Li, </a:t>
            </a:r>
            <a:r>
              <a:rPr baseline="30000" lang="en"/>
              <a:t>11</a:t>
            </a:r>
            <a:r>
              <a:rPr lang="en"/>
              <a:t>B, and</a:t>
            </a:r>
            <a:r>
              <a:rPr lang="en"/>
              <a:t> </a:t>
            </a:r>
            <a:r>
              <a:rPr baseline="30000" lang="en"/>
              <a:t>3</a:t>
            </a:r>
            <a:r>
              <a:rPr lang="en"/>
              <a:t>H targets consistently produce excess e</a:t>
            </a:r>
            <a:r>
              <a:rPr baseline="30000" lang="en"/>
              <a:t>+</a:t>
            </a:r>
            <a:r>
              <a:rPr lang="en"/>
              <a:t>e</a:t>
            </a:r>
            <a:r>
              <a:rPr baseline="30000" lang="en"/>
              <a:t>-</a:t>
            </a:r>
            <a:r>
              <a:rPr lang="en"/>
              <a:t> pairs with ~120° relative angle.</a:t>
            </a:r>
            <a:endParaRPr/>
          </a:p>
        </p:txBody>
      </p:sp>
      <p:sp>
        <p:nvSpPr>
          <p:cNvPr id="98" name="Google Shape;98;p19"/>
          <p:cNvSpPr txBox="1"/>
          <p:nvPr>
            <p:ph idx="2" type="body"/>
          </p:nvPr>
        </p:nvSpPr>
        <p:spPr>
          <a:xfrm>
            <a:off x="0" y="1767850"/>
            <a:ext cx="4206300" cy="29703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Could be consistent with new boson at 17 MeV?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Several follow up experiments have reported similar anomalies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Others have failed to reproduce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9"/>
          <p:cNvSpPr txBox="1"/>
          <p:nvPr>
            <p:ph idx="12" type="sldNum"/>
          </p:nvPr>
        </p:nvSpPr>
        <p:spPr>
          <a:xfrm>
            <a:off x="11042108" y="6537888"/>
            <a:ext cx="731400" cy="320100"/>
          </a:xfrm>
          <a:prstGeom prst="rect">
            <a:avLst/>
          </a:prstGeom>
        </p:spPr>
        <p:txBody>
          <a:bodyPr anchorCtr="0" anchor="b" bIns="64000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0" name="Google Shape;100;p19"/>
          <p:cNvSpPr txBox="1"/>
          <p:nvPr/>
        </p:nvSpPr>
        <p:spPr>
          <a:xfrm>
            <a:off x="7841075" y="6289025"/>
            <a:ext cx="3007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u="sng">
                <a:solidFill>
                  <a:schemeClr val="hlink"/>
                </a:solidFill>
                <a:latin typeface="Average"/>
                <a:ea typeface="Average"/>
                <a:cs typeface="Average"/>
                <a:sym typeface="Average"/>
                <a:hlinkClick r:id="rId3"/>
              </a:rPr>
              <a:t>https://cds.cern.ch/record/2920978/files/INTC-P-727.pdf</a:t>
            </a:r>
            <a:endParaRPr sz="800">
              <a:solidFill>
                <a:schemeClr val="accent6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101" name="Google Shape;10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06246" y="1609900"/>
            <a:ext cx="7982701" cy="4679126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 txBox="1"/>
          <p:nvPr/>
        </p:nvSpPr>
        <p:spPr>
          <a:xfrm>
            <a:off x="-175" y="4969350"/>
            <a:ext cx="4206300" cy="13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FFFF00"/>
                </a:solidFill>
                <a:latin typeface="Average"/>
                <a:ea typeface="Average"/>
                <a:cs typeface="Average"/>
                <a:sym typeface="Average"/>
              </a:rPr>
              <a:t>Can we make an X17 measurement at n_TOF?</a:t>
            </a:r>
            <a:endParaRPr sz="2800">
              <a:solidFill>
                <a:srgbClr val="FFFF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7" name="Google Shape;107;p20"/>
          <p:cNvCxnSpPr/>
          <p:nvPr/>
        </p:nvCxnSpPr>
        <p:spPr>
          <a:xfrm>
            <a:off x="5604512" y="4921555"/>
            <a:ext cx="3394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" name="Google Shape;108;p20"/>
          <p:cNvCxnSpPr/>
          <p:nvPr/>
        </p:nvCxnSpPr>
        <p:spPr>
          <a:xfrm>
            <a:off x="5604512" y="2356705"/>
            <a:ext cx="3394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" name="Google Shape;109;p20"/>
          <p:cNvSpPr txBox="1"/>
          <p:nvPr>
            <p:ph type="title"/>
          </p:nvPr>
        </p:nvSpPr>
        <p:spPr>
          <a:xfrm>
            <a:off x="415496" y="182880"/>
            <a:ext cx="11358000" cy="7635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Proposed X17 Particle</a:t>
            </a:r>
            <a:endParaRPr/>
          </a:p>
        </p:txBody>
      </p:sp>
      <p:sp>
        <p:nvSpPr>
          <p:cNvPr id="110" name="Google Shape;110;p20"/>
          <p:cNvSpPr txBox="1"/>
          <p:nvPr>
            <p:ph idx="1" type="body"/>
          </p:nvPr>
        </p:nvSpPr>
        <p:spPr>
          <a:xfrm>
            <a:off x="0" y="1083875"/>
            <a:ext cx="5481900" cy="21390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can be measured at n_TOF?</a:t>
            </a:r>
            <a:endParaRPr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Complementary &amp; independent measurement to the original ATOMKI experiment using ³He target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Boson may be protophobic – larger cross-section in neutron beam → first X17 measurement with neutrons</a:t>
            </a:r>
            <a:endParaRPr sz="1600"/>
          </a:p>
        </p:txBody>
      </p:sp>
      <p:sp>
        <p:nvSpPr>
          <p:cNvPr id="111" name="Google Shape;111;p20"/>
          <p:cNvSpPr txBox="1"/>
          <p:nvPr>
            <p:ph idx="12" type="sldNum"/>
          </p:nvPr>
        </p:nvSpPr>
        <p:spPr>
          <a:xfrm>
            <a:off x="11042108" y="6537888"/>
            <a:ext cx="731400" cy="320100"/>
          </a:xfrm>
          <a:prstGeom prst="rect">
            <a:avLst/>
          </a:prstGeom>
        </p:spPr>
        <p:txBody>
          <a:bodyPr anchorCtr="0" anchor="b" bIns="64000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" name="Google Shape;112;p20"/>
          <p:cNvSpPr/>
          <p:nvPr/>
        </p:nvSpPr>
        <p:spPr>
          <a:xfrm>
            <a:off x="5736408" y="2196830"/>
            <a:ext cx="320100" cy="320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13" name="Google Shape;113;p20"/>
          <p:cNvSpPr/>
          <p:nvPr/>
        </p:nvSpPr>
        <p:spPr>
          <a:xfrm>
            <a:off x="6832658" y="2196830"/>
            <a:ext cx="320100" cy="320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14" name="Google Shape;114;p20"/>
          <p:cNvSpPr/>
          <p:nvPr/>
        </p:nvSpPr>
        <p:spPr>
          <a:xfrm>
            <a:off x="7007083" y="2424805"/>
            <a:ext cx="320100" cy="3201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15" name="Google Shape;115;p20"/>
          <p:cNvSpPr/>
          <p:nvPr/>
        </p:nvSpPr>
        <p:spPr>
          <a:xfrm>
            <a:off x="7105133" y="2139630"/>
            <a:ext cx="320100" cy="3201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116" name="Google Shape;116;p20"/>
          <p:cNvCxnSpPr/>
          <p:nvPr/>
        </p:nvCxnSpPr>
        <p:spPr>
          <a:xfrm>
            <a:off x="6118763" y="2356880"/>
            <a:ext cx="637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7" name="Google Shape;117;p20"/>
          <p:cNvSpPr txBox="1"/>
          <p:nvPr/>
        </p:nvSpPr>
        <p:spPr>
          <a:xfrm>
            <a:off x="5736408" y="1748280"/>
            <a:ext cx="320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n</a:t>
            </a:r>
            <a:endParaRPr sz="2400"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" name="Google Shape;118;p20"/>
          <p:cNvSpPr txBox="1"/>
          <p:nvPr/>
        </p:nvSpPr>
        <p:spPr>
          <a:xfrm>
            <a:off x="6887533" y="1695180"/>
            <a:ext cx="5592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" sz="24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lang="en" sz="24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He</a:t>
            </a:r>
            <a:endParaRPr baseline="30000" sz="2400"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" name="Google Shape;119;p20"/>
          <p:cNvSpPr/>
          <p:nvPr/>
        </p:nvSpPr>
        <p:spPr>
          <a:xfrm>
            <a:off x="8612233" y="2223380"/>
            <a:ext cx="320100" cy="320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20" name="Google Shape;120;p20"/>
          <p:cNvSpPr/>
          <p:nvPr/>
        </p:nvSpPr>
        <p:spPr>
          <a:xfrm>
            <a:off x="8723783" y="2424805"/>
            <a:ext cx="320100" cy="3201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21" name="Google Shape;121;p20"/>
          <p:cNvSpPr/>
          <p:nvPr/>
        </p:nvSpPr>
        <p:spPr>
          <a:xfrm>
            <a:off x="8792333" y="2139630"/>
            <a:ext cx="320100" cy="3201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22" name="Google Shape;122;p20"/>
          <p:cNvSpPr txBox="1"/>
          <p:nvPr/>
        </p:nvSpPr>
        <p:spPr>
          <a:xfrm>
            <a:off x="8613583" y="1695180"/>
            <a:ext cx="6375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" sz="24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lang="en" sz="24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He</a:t>
            </a:r>
            <a:r>
              <a:rPr baseline="30000" lang="en" sz="24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*</a:t>
            </a:r>
            <a:endParaRPr baseline="30000" sz="2400"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" name="Google Shape;123;p20"/>
          <p:cNvSpPr/>
          <p:nvPr/>
        </p:nvSpPr>
        <p:spPr>
          <a:xfrm>
            <a:off x="8932333" y="2285430"/>
            <a:ext cx="320100" cy="320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24" name="Google Shape;124;p20"/>
          <p:cNvSpPr/>
          <p:nvPr/>
        </p:nvSpPr>
        <p:spPr>
          <a:xfrm>
            <a:off x="8678971" y="4729705"/>
            <a:ext cx="320100" cy="320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25" name="Google Shape;125;p20"/>
          <p:cNvSpPr/>
          <p:nvPr/>
        </p:nvSpPr>
        <p:spPr>
          <a:xfrm>
            <a:off x="8759396" y="4871130"/>
            <a:ext cx="320100" cy="3201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26" name="Google Shape;126;p20"/>
          <p:cNvSpPr/>
          <p:nvPr/>
        </p:nvSpPr>
        <p:spPr>
          <a:xfrm>
            <a:off x="8827946" y="4645955"/>
            <a:ext cx="320100" cy="3201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27" name="Google Shape;127;p20"/>
          <p:cNvSpPr/>
          <p:nvPr/>
        </p:nvSpPr>
        <p:spPr>
          <a:xfrm>
            <a:off x="8905696" y="4773080"/>
            <a:ext cx="320100" cy="320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28" name="Google Shape;128;p20"/>
          <p:cNvSpPr txBox="1"/>
          <p:nvPr/>
        </p:nvSpPr>
        <p:spPr>
          <a:xfrm>
            <a:off x="8633633" y="5275055"/>
            <a:ext cx="6375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" sz="24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lang="en" sz="24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He</a:t>
            </a:r>
            <a:endParaRPr baseline="30000" sz="2400"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" name="Google Shape;129;p20"/>
          <p:cNvSpPr txBox="1"/>
          <p:nvPr/>
        </p:nvSpPr>
        <p:spPr>
          <a:xfrm>
            <a:off x="8262608" y="1428180"/>
            <a:ext cx="1313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(Excited State)</a:t>
            </a:r>
            <a:endParaRPr sz="1100"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" name="Google Shape;130;p20"/>
          <p:cNvSpPr txBox="1"/>
          <p:nvPr/>
        </p:nvSpPr>
        <p:spPr>
          <a:xfrm>
            <a:off x="8295533" y="5592351"/>
            <a:ext cx="1313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(Ground State)</a:t>
            </a:r>
            <a:endParaRPr sz="1100"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1" name="Google Shape;131;p20"/>
          <p:cNvCxnSpPr/>
          <p:nvPr/>
        </p:nvCxnSpPr>
        <p:spPr>
          <a:xfrm rot="10800000">
            <a:off x="5609083" y="2352036"/>
            <a:ext cx="0" cy="256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" name="Google Shape;132;p20"/>
          <p:cNvSpPr txBox="1"/>
          <p:nvPr/>
        </p:nvSpPr>
        <p:spPr>
          <a:xfrm rot="-5400000">
            <a:off x="4833641" y="3163690"/>
            <a:ext cx="1313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Energy (MeV)</a:t>
            </a:r>
            <a:endParaRPr sz="1100"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3" name="Google Shape;133;p20"/>
          <p:cNvCxnSpPr/>
          <p:nvPr/>
        </p:nvCxnSpPr>
        <p:spPr>
          <a:xfrm>
            <a:off x="8883833" y="2771611"/>
            <a:ext cx="0" cy="1800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4" name="Google Shape;134;p20"/>
          <p:cNvSpPr txBox="1"/>
          <p:nvPr/>
        </p:nvSpPr>
        <p:spPr>
          <a:xfrm rot="-5400000">
            <a:off x="8066933" y="3407529"/>
            <a:ext cx="1313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De-excitation</a:t>
            </a:r>
            <a:endParaRPr sz="1100"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" name="Google Shape;135;p20"/>
          <p:cNvSpPr txBox="1"/>
          <p:nvPr/>
        </p:nvSpPr>
        <p:spPr>
          <a:xfrm>
            <a:off x="7425233" y="2111445"/>
            <a:ext cx="1313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  <a:t>20.58 MeV</a:t>
            </a:r>
            <a:endParaRPr sz="900">
              <a:solidFill>
                <a:srgbClr val="DDDDD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" name="Google Shape;136;p20"/>
          <p:cNvSpPr txBox="1"/>
          <p:nvPr/>
        </p:nvSpPr>
        <p:spPr>
          <a:xfrm>
            <a:off x="7425233" y="4669925"/>
            <a:ext cx="1313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  <a:t>0 MeV</a:t>
            </a:r>
            <a:endParaRPr sz="900">
              <a:solidFill>
                <a:srgbClr val="DDDDD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7" name="Google Shape;137;p20"/>
          <p:cNvCxnSpPr/>
          <p:nvPr/>
        </p:nvCxnSpPr>
        <p:spPr>
          <a:xfrm>
            <a:off x="9009883" y="4279504"/>
            <a:ext cx="1059900" cy="1818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38" name="Google Shape;138;p20"/>
          <p:cNvCxnSpPr/>
          <p:nvPr/>
        </p:nvCxnSpPr>
        <p:spPr>
          <a:xfrm flipH="1" rot="10800000">
            <a:off x="8984972" y="3034414"/>
            <a:ext cx="1749300" cy="298800"/>
          </a:xfrm>
          <a:prstGeom prst="straightConnector1">
            <a:avLst/>
          </a:prstGeom>
          <a:noFill/>
          <a:ln cap="flat" cmpd="sng" w="9525">
            <a:solidFill>
              <a:srgbClr val="C9DAF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" name="Google Shape;139;p20"/>
          <p:cNvCxnSpPr/>
          <p:nvPr/>
        </p:nvCxnSpPr>
        <p:spPr>
          <a:xfrm>
            <a:off x="8984972" y="3383039"/>
            <a:ext cx="1743300" cy="186900"/>
          </a:xfrm>
          <a:prstGeom prst="straightConnector1">
            <a:avLst/>
          </a:prstGeom>
          <a:noFill/>
          <a:ln cap="flat" cmpd="sng" w="9525">
            <a:solidFill>
              <a:srgbClr val="F4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" name="Google Shape;140;p20"/>
          <p:cNvSpPr txBox="1"/>
          <p:nvPr/>
        </p:nvSpPr>
        <p:spPr>
          <a:xfrm>
            <a:off x="10734272" y="2850739"/>
            <a:ext cx="320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baseline="30000" lang="en" sz="16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baseline="30000" sz="1600"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" name="Google Shape;141;p20"/>
          <p:cNvSpPr txBox="1"/>
          <p:nvPr/>
        </p:nvSpPr>
        <p:spPr>
          <a:xfrm>
            <a:off x="10734272" y="3414014"/>
            <a:ext cx="320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baseline="30000" lang="en" sz="16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-</a:t>
            </a:r>
            <a:endParaRPr baseline="30000" sz="1600"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" name="Google Shape;142;p20"/>
          <p:cNvSpPr/>
          <p:nvPr/>
        </p:nvSpPr>
        <p:spPr>
          <a:xfrm>
            <a:off x="9353208" y="2379196"/>
            <a:ext cx="1295400" cy="125500"/>
          </a:xfrm>
          <a:custGeom>
            <a:rect b="b" l="l" r="r" t="t"/>
            <a:pathLst>
              <a:path extrusionOk="0" h="5020" w="51816">
                <a:moveTo>
                  <a:pt x="0" y="3318"/>
                </a:moveTo>
                <a:cubicBezTo>
                  <a:pt x="3288" y="3318"/>
                  <a:pt x="6397" y="821"/>
                  <a:pt x="9652" y="1286"/>
                </a:cubicBezTo>
                <a:cubicBezTo>
                  <a:pt x="12520" y="1696"/>
                  <a:pt x="14658" y="5379"/>
                  <a:pt x="17526" y="4969"/>
                </a:cubicBezTo>
                <a:cubicBezTo>
                  <a:pt x="20269" y="4577"/>
                  <a:pt x="21613" y="270"/>
                  <a:pt x="24384" y="270"/>
                </a:cubicBezTo>
                <a:cubicBezTo>
                  <a:pt x="27085" y="270"/>
                  <a:pt x="28561" y="4253"/>
                  <a:pt x="31242" y="4588"/>
                </a:cubicBezTo>
                <a:cubicBezTo>
                  <a:pt x="34511" y="4997"/>
                  <a:pt x="36983" y="1239"/>
                  <a:pt x="40132" y="270"/>
                </a:cubicBezTo>
                <a:cubicBezTo>
                  <a:pt x="43910" y="-893"/>
                  <a:pt x="47863" y="2302"/>
                  <a:pt x="51816" y="2302"/>
                </a:cubicBezTo>
              </a:path>
            </a:pathLst>
          </a:custGeom>
          <a:noFill/>
          <a:ln cap="flat" cmpd="sng" w="9525">
            <a:solidFill>
              <a:srgbClr val="FFF2CC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43" name="Google Shape;143;p20"/>
          <p:cNvSpPr txBox="1"/>
          <p:nvPr/>
        </p:nvSpPr>
        <p:spPr>
          <a:xfrm>
            <a:off x="10661333" y="2256855"/>
            <a:ext cx="320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𝛄</a:t>
            </a:r>
            <a:endParaRPr baseline="30000" sz="1600"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4" name="Google Shape;144;p20"/>
          <p:cNvCxnSpPr/>
          <p:nvPr/>
        </p:nvCxnSpPr>
        <p:spPr>
          <a:xfrm flipH="1" rot="10800000">
            <a:off x="10109708" y="4223354"/>
            <a:ext cx="705600" cy="220200"/>
          </a:xfrm>
          <a:prstGeom prst="straightConnector1">
            <a:avLst/>
          </a:prstGeom>
          <a:noFill/>
          <a:ln cap="flat" cmpd="sng" w="9525">
            <a:solidFill>
              <a:srgbClr val="C9DAF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" name="Google Shape;145;p20"/>
          <p:cNvCxnSpPr/>
          <p:nvPr/>
        </p:nvCxnSpPr>
        <p:spPr>
          <a:xfrm>
            <a:off x="10099333" y="4484630"/>
            <a:ext cx="622800" cy="460800"/>
          </a:xfrm>
          <a:prstGeom prst="straightConnector1">
            <a:avLst/>
          </a:prstGeom>
          <a:noFill/>
          <a:ln cap="flat" cmpd="sng" w="9525">
            <a:solidFill>
              <a:srgbClr val="F4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" name="Google Shape;146;p20"/>
          <p:cNvSpPr txBox="1"/>
          <p:nvPr/>
        </p:nvSpPr>
        <p:spPr>
          <a:xfrm>
            <a:off x="10855233" y="4010529"/>
            <a:ext cx="320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baseline="30000" lang="en" sz="16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baseline="30000" sz="1600"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Google Shape;147;p20"/>
          <p:cNvSpPr txBox="1"/>
          <p:nvPr/>
        </p:nvSpPr>
        <p:spPr>
          <a:xfrm>
            <a:off x="10734283" y="4827079"/>
            <a:ext cx="320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baseline="30000" lang="en" sz="16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-</a:t>
            </a:r>
            <a:endParaRPr baseline="30000" sz="1600"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" name="Google Shape;148;p20"/>
          <p:cNvSpPr txBox="1"/>
          <p:nvPr/>
        </p:nvSpPr>
        <p:spPr>
          <a:xfrm>
            <a:off x="9294008" y="4065254"/>
            <a:ext cx="441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X17</a:t>
            </a:r>
            <a:endParaRPr baseline="30000" sz="1600"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" name="Google Shape;149;p20"/>
          <p:cNvSpPr txBox="1"/>
          <p:nvPr/>
        </p:nvSpPr>
        <p:spPr>
          <a:xfrm>
            <a:off x="9951608" y="1635231"/>
            <a:ext cx="1313700" cy="4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De-excitation</a:t>
            </a:r>
            <a:endParaRPr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Channels</a:t>
            </a:r>
            <a:endParaRPr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20"/>
          <p:cNvSpPr txBox="1"/>
          <p:nvPr/>
        </p:nvSpPr>
        <p:spPr>
          <a:xfrm>
            <a:off x="11148508" y="2242980"/>
            <a:ext cx="720300" cy="4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Gamma Emission</a:t>
            </a:r>
            <a:endParaRPr sz="1000"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" name="Google Shape;151;p20"/>
          <p:cNvSpPr txBox="1"/>
          <p:nvPr/>
        </p:nvSpPr>
        <p:spPr>
          <a:xfrm>
            <a:off x="11148508" y="3090180"/>
            <a:ext cx="720300" cy="4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Internal Pair Conversion</a:t>
            </a:r>
            <a:endParaRPr sz="1000"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" name="Google Shape;152;p20"/>
          <p:cNvSpPr txBox="1"/>
          <p:nvPr/>
        </p:nvSpPr>
        <p:spPr>
          <a:xfrm>
            <a:off x="11155858" y="4443555"/>
            <a:ext cx="705600" cy="4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X17 emission and decay?</a:t>
            </a:r>
            <a:endParaRPr sz="1000"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3" name="Google Shape;153;p20"/>
          <p:cNvCxnSpPr/>
          <p:nvPr/>
        </p:nvCxnSpPr>
        <p:spPr>
          <a:xfrm>
            <a:off x="132092" y="5805000"/>
            <a:ext cx="1387200" cy="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54" name="Google Shape;154;p20"/>
          <p:cNvCxnSpPr/>
          <p:nvPr/>
        </p:nvCxnSpPr>
        <p:spPr>
          <a:xfrm flipH="1" rot="10800000">
            <a:off x="1559067" y="5567052"/>
            <a:ext cx="705600" cy="220200"/>
          </a:xfrm>
          <a:prstGeom prst="straightConnector1">
            <a:avLst/>
          </a:prstGeom>
          <a:noFill/>
          <a:ln cap="flat" cmpd="sng" w="9525">
            <a:solidFill>
              <a:srgbClr val="C9DAF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" name="Google Shape;155;p20"/>
          <p:cNvCxnSpPr/>
          <p:nvPr/>
        </p:nvCxnSpPr>
        <p:spPr>
          <a:xfrm>
            <a:off x="1548692" y="5828328"/>
            <a:ext cx="622800" cy="460800"/>
          </a:xfrm>
          <a:prstGeom prst="straightConnector1">
            <a:avLst/>
          </a:prstGeom>
          <a:noFill/>
          <a:ln cap="flat" cmpd="sng" w="9525">
            <a:solidFill>
              <a:srgbClr val="F4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6" name="Google Shape;156;p20"/>
          <p:cNvSpPr txBox="1"/>
          <p:nvPr/>
        </p:nvSpPr>
        <p:spPr>
          <a:xfrm>
            <a:off x="2304592" y="5354227"/>
            <a:ext cx="320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baseline="30000" lang="en" sz="16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baseline="30000" sz="1600"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p20"/>
          <p:cNvSpPr txBox="1"/>
          <p:nvPr/>
        </p:nvSpPr>
        <p:spPr>
          <a:xfrm>
            <a:off x="2183642" y="6170777"/>
            <a:ext cx="320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baseline="30000" lang="en" sz="16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-</a:t>
            </a:r>
            <a:endParaRPr baseline="30000" sz="1600"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" name="Google Shape;158;p20"/>
          <p:cNvSpPr txBox="1"/>
          <p:nvPr/>
        </p:nvSpPr>
        <p:spPr>
          <a:xfrm>
            <a:off x="456792" y="5484902"/>
            <a:ext cx="441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X17</a:t>
            </a:r>
            <a:endParaRPr baseline="30000" sz="1600"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20"/>
          <p:cNvSpPr txBox="1"/>
          <p:nvPr/>
        </p:nvSpPr>
        <p:spPr>
          <a:xfrm>
            <a:off x="2462422" y="5698675"/>
            <a:ext cx="1832100" cy="6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Characteristic emission angle 𝜃~120°</a:t>
            </a:r>
            <a:endParaRPr sz="1300"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" name="Google Shape;160;p20"/>
          <p:cNvSpPr txBox="1"/>
          <p:nvPr/>
        </p:nvSpPr>
        <p:spPr>
          <a:xfrm>
            <a:off x="1840954" y="5681725"/>
            <a:ext cx="170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𝜃</a:t>
            </a:r>
            <a:endParaRPr/>
          </a:p>
        </p:txBody>
      </p:sp>
      <p:sp>
        <p:nvSpPr>
          <p:cNvPr id="161" name="Google Shape;161;p20"/>
          <p:cNvSpPr/>
          <p:nvPr/>
        </p:nvSpPr>
        <p:spPr>
          <a:xfrm>
            <a:off x="1949817" y="5657550"/>
            <a:ext cx="122925" cy="469450"/>
          </a:xfrm>
          <a:custGeom>
            <a:rect b="b" l="l" r="r" t="t"/>
            <a:pathLst>
              <a:path extrusionOk="0" h="18778" w="4917">
                <a:moveTo>
                  <a:pt x="0" y="18778"/>
                </a:moveTo>
                <a:cubicBezTo>
                  <a:pt x="5173" y="15080"/>
                  <a:pt x="6194" y="5690"/>
                  <a:pt x="3357" y="0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162" name="Google Shape;16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702" y="3360369"/>
            <a:ext cx="3613986" cy="180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83550" y="5160974"/>
            <a:ext cx="720300" cy="168322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0"/>
          <p:cNvSpPr txBox="1"/>
          <p:nvPr/>
        </p:nvSpPr>
        <p:spPr>
          <a:xfrm>
            <a:off x="6538667" y="3501920"/>
            <a:ext cx="1313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  <a:t>20.6 MeV</a:t>
            </a:r>
            <a:endParaRPr b="1" sz="1800">
              <a:solidFill>
                <a:srgbClr val="DDDDD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5" name="Google Shape;165;p20"/>
          <p:cNvCxnSpPr/>
          <p:nvPr/>
        </p:nvCxnSpPr>
        <p:spPr>
          <a:xfrm rot="10800000">
            <a:off x="6620533" y="2456993"/>
            <a:ext cx="0" cy="240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" name="Google Shape;166;p20"/>
          <p:cNvCxnSpPr/>
          <p:nvPr/>
        </p:nvCxnSpPr>
        <p:spPr>
          <a:xfrm>
            <a:off x="6519160" y="4864188"/>
            <a:ext cx="193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" name="Google Shape;167;p20"/>
          <p:cNvCxnSpPr/>
          <p:nvPr/>
        </p:nvCxnSpPr>
        <p:spPr>
          <a:xfrm>
            <a:off x="6528585" y="2459738"/>
            <a:ext cx="193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8" name="Google Shape;168;p20"/>
          <p:cNvSpPr txBox="1"/>
          <p:nvPr/>
        </p:nvSpPr>
        <p:spPr>
          <a:xfrm>
            <a:off x="2703850" y="5160975"/>
            <a:ext cx="1749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u="sng">
                <a:solidFill>
                  <a:schemeClr val="hlink"/>
                </a:solidFill>
                <a:latin typeface="Average"/>
                <a:ea typeface="Average"/>
                <a:cs typeface="Average"/>
                <a:sym typeface="Average"/>
                <a:hlinkClick r:id="rId5"/>
              </a:rPr>
              <a:t>DOI: 10.3390/universe10070285</a:t>
            </a:r>
            <a:endParaRPr sz="800">
              <a:solidFill>
                <a:schemeClr val="accent6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9946735" y="5421284"/>
            <a:ext cx="1749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u="sng">
                <a:solidFill>
                  <a:schemeClr val="hlink"/>
                </a:solidFill>
                <a:latin typeface="Average"/>
                <a:ea typeface="Average"/>
                <a:cs typeface="Average"/>
                <a:sym typeface="Average"/>
                <a:hlinkClick r:id="rId6"/>
              </a:rPr>
              <a:t>Phys. Rev. Lett. 116, 042501</a:t>
            </a:r>
            <a:endParaRPr sz="800">
              <a:solidFill>
                <a:schemeClr val="accent6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4763750" y="5478350"/>
            <a:ext cx="3221400" cy="627000"/>
          </a:xfrm>
          <a:prstGeom prst="rect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0FF00"/>
                </a:solidFill>
                <a:latin typeface="Average"/>
                <a:ea typeface="Average"/>
                <a:cs typeface="Average"/>
                <a:sym typeface="Average"/>
              </a:rPr>
              <a:t>Signal:</a:t>
            </a:r>
            <a:r>
              <a:rPr lang="en" sz="3200">
                <a:solidFill>
                  <a:srgbClr val="00FF00"/>
                </a:solidFill>
                <a:latin typeface="Average"/>
                <a:ea typeface="Average"/>
                <a:cs typeface="Average"/>
                <a:sym typeface="Average"/>
              </a:rPr>
              <a:t> e</a:t>
            </a:r>
            <a:r>
              <a:rPr baseline="30000" lang="en" sz="3200">
                <a:solidFill>
                  <a:srgbClr val="00FF00"/>
                </a:solidFill>
                <a:latin typeface="Average"/>
                <a:ea typeface="Average"/>
                <a:cs typeface="Average"/>
                <a:sym typeface="Average"/>
              </a:rPr>
              <a:t>+</a:t>
            </a:r>
            <a:r>
              <a:rPr lang="en" sz="3200">
                <a:solidFill>
                  <a:srgbClr val="00FF00"/>
                </a:solidFill>
                <a:latin typeface="Average"/>
                <a:ea typeface="Average"/>
                <a:cs typeface="Average"/>
                <a:sym typeface="Average"/>
              </a:rPr>
              <a:t>e</a:t>
            </a:r>
            <a:r>
              <a:rPr baseline="30000" lang="en" sz="3200">
                <a:solidFill>
                  <a:srgbClr val="00FF00"/>
                </a:solidFill>
                <a:latin typeface="Average"/>
                <a:ea typeface="Average"/>
                <a:cs typeface="Average"/>
                <a:sym typeface="Average"/>
              </a:rPr>
              <a:t>-</a:t>
            </a:r>
            <a:r>
              <a:rPr lang="en" sz="3200">
                <a:solidFill>
                  <a:srgbClr val="00FF00"/>
                </a:solidFill>
                <a:latin typeface="Average"/>
                <a:ea typeface="Average"/>
                <a:cs typeface="Average"/>
                <a:sym typeface="Average"/>
              </a:rPr>
              <a:t> at 120°</a:t>
            </a:r>
            <a:endParaRPr sz="3200">
              <a:solidFill>
                <a:srgbClr val="00FF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1"/>
          <p:cNvSpPr txBox="1"/>
          <p:nvPr>
            <p:ph type="title"/>
          </p:nvPr>
        </p:nvSpPr>
        <p:spPr>
          <a:xfrm>
            <a:off x="415496" y="182880"/>
            <a:ext cx="11358000" cy="7635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Do We Expect X17?</a:t>
            </a:r>
            <a:endParaRPr/>
          </a:p>
        </p:txBody>
      </p:sp>
      <p:sp>
        <p:nvSpPr>
          <p:cNvPr id="176" name="Google Shape;176;p21"/>
          <p:cNvSpPr txBox="1"/>
          <p:nvPr>
            <p:ph idx="1" type="body"/>
          </p:nvPr>
        </p:nvSpPr>
        <p:spPr>
          <a:xfrm>
            <a:off x="-1" y="1536625"/>
            <a:ext cx="4097100" cy="45552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/>
              <a:t>Peak around 1 MeV in neutron energy from high flux, ~80% of the expected yield</a:t>
            </a:r>
            <a:br>
              <a:rPr lang="en"/>
            </a:b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/>
              <a:t>Smaller peak in thermal region due to increase in cross-section, ~20% of expected yield.</a:t>
            </a:r>
            <a:endParaRPr/>
          </a:p>
        </p:txBody>
      </p:sp>
      <p:sp>
        <p:nvSpPr>
          <p:cNvPr id="177" name="Google Shape;177;p21"/>
          <p:cNvSpPr txBox="1"/>
          <p:nvPr>
            <p:ph idx="2" type="body"/>
          </p:nvPr>
        </p:nvSpPr>
        <p:spPr>
          <a:xfrm>
            <a:off x="6441588" y="1536633"/>
            <a:ext cx="5331900" cy="45552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1"/>
          <p:cNvSpPr txBox="1"/>
          <p:nvPr>
            <p:ph idx="12" type="sldNum"/>
          </p:nvPr>
        </p:nvSpPr>
        <p:spPr>
          <a:xfrm>
            <a:off x="11042108" y="6537888"/>
            <a:ext cx="731400" cy="320100"/>
          </a:xfrm>
          <a:prstGeom prst="rect">
            <a:avLst/>
          </a:prstGeom>
        </p:spPr>
        <p:txBody>
          <a:bodyPr anchorCtr="0" anchor="b" bIns="64000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9" name="Google Shape;179;p21" title="x17_yiel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97025" y="1386650"/>
            <a:ext cx="8091925" cy="4855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2"/>
          <p:cNvSpPr txBox="1"/>
          <p:nvPr>
            <p:ph type="title"/>
          </p:nvPr>
        </p:nvSpPr>
        <p:spPr>
          <a:xfrm>
            <a:off x="415496" y="182880"/>
            <a:ext cx="11358000" cy="7635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Do We Expect X17?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2"/>
          <p:cNvSpPr txBox="1"/>
          <p:nvPr>
            <p:ph idx="2" type="body"/>
          </p:nvPr>
        </p:nvSpPr>
        <p:spPr>
          <a:xfrm>
            <a:off x="6441588" y="1536633"/>
            <a:ext cx="5331900" cy="45552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2"/>
          <p:cNvSpPr txBox="1"/>
          <p:nvPr>
            <p:ph idx="12" type="sldNum"/>
          </p:nvPr>
        </p:nvSpPr>
        <p:spPr>
          <a:xfrm>
            <a:off x="11042108" y="6537888"/>
            <a:ext cx="731400" cy="320100"/>
          </a:xfrm>
          <a:prstGeom prst="rect">
            <a:avLst/>
          </a:prstGeom>
        </p:spPr>
        <p:txBody>
          <a:bodyPr anchorCtr="0" anchor="b" bIns="64000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7" name="Google Shape;187;p22" title="x17_yield_extra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97025" y="1386650"/>
            <a:ext cx="8091925" cy="4855151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2"/>
          <p:cNvSpPr txBox="1"/>
          <p:nvPr>
            <p:ph idx="1" type="body"/>
          </p:nvPr>
        </p:nvSpPr>
        <p:spPr>
          <a:xfrm>
            <a:off x="-1" y="1536625"/>
            <a:ext cx="4097100" cy="45552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/>
              <a:t>Peak around 1 MeV in neutron energy from high flux, ~80% of the expected yield</a:t>
            </a:r>
            <a:br>
              <a:rPr lang="en"/>
            </a:b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/>
              <a:t>Smaller peak in thermal region due to increase in cross-section, ~20% of expected yield.</a:t>
            </a:r>
            <a:br>
              <a:rPr lang="en"/>
            </a:b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900"/>
              <a:buChar char="●"/>
            </a:pPr>
            <a:r>
              <a:rPr lang="en">
                <a:solidFill>
                  <a:srgbClr val="FFFF00"/>
                </a:solidFill>
              </a:rPr>
              <a:t>With proper triggering strategy, could be possible to read out both, but focus on high energy for now.</a:t>
            </a:r>
            <a:endParaRPr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3" name="Google Shape;193;p23"/>
          <p:cNvCxnSpPr/>
          <p:nvPr/>
        </p:nvCxnSpPr>
        <p:spPr>
          <a:xfrm flipH="1" rot="10800000">
            <a:off x="7051633" y="1625375"/>
            <a:ext cx="378600" cy="534900"/>
          </a:xfrm>
          <a:prstGeom prst="straightConnector1">
            <a:avLst/>
          </a:prstGeom>
          <a:noFill/>
          <a:ln cap="flat" cmpd="sng" w="9525">
            <a:solidFill>
              <a:srgbClr val="C9DAF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" name="Google Shape;194;p23"/>
          <p:cNvCxnSpPr/>
          <p:nvPr/>
        </p:nvCxnSpPr>
        <p:spPr>
          <a:xfrm>
            <a:off x="7049358" y="2201100"/>
            <a:ext cx="738000" cy="313200"/>
          </a:xfrm>
          <a:prstGeom prst="straightConnector1">
            <a:avLst/>
          </a:prstGeom>
          <a:noFill/>
          <a:ln cap="flat" cmpd="sng" w="9525">
            <a:solidFill>
              <a:srgbClr val="F4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5" name="Google Shape;195;p23"/>
          <p:cNvSpPr txBox="1"/>
          <p:nvPr>
            <p:ph type="title"/>
          </p:nvPr>
        </p:nvSpPr>
        <p:spPr>
          <a:xfrm>
            <a:off x="415499" y="182875"/>
            <a:ext cx="8279400" cy="7635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Experimental Setup</a:t>
            </a:r>
            <a:endParaRPr/>
          </a:p>
        </p:txBody>
      </p:sp>
      <p:sp>
        <p:nvSpPr>
          <p:cNvPr id="196" name="Google Shape;196;p23"/>
          <p:cNvSpPr txBox="1"/>
          <p:nvPr>
            <p:ph idx="1" type="body"/>
          </p:nvPr>
        </p:nvSpPr>
        <p:spPr>
          <a:xfrm>
            <a:off x="0" y="1023250"/>
            <a:ext cx="6268200" cy="34941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/>
              <a:t>Four 40x40 cm resistive Micromegas detectors to measure e</a:t>
            </a:r>
            <a:r>
              <a:rPr baseline="30000" lang="en"/>
              <a:t>+</a:t>
            </a:r>
            <a:r>
              <a:rPr lang="en"/>
              <a:t>e</a:t>
            </a:r>
            <a:r>
              <a:rPr baseline="30000" lang="en"/>
              <a:t>-</a:t>
            </a:r>
            <a:r>
              <a:rPr lang="en"/>
              <a:t> pair angles.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3 cm drift volume for micro-TPC 3D reconstruction </a:t>
            </a:r>
            <a:br>
              <a:rPr lang="en"/>
            </a:br>
            <a:r>
              <a:rPr lang="en"/>
              <a:t>→ Look for tracks pointing back to source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1024 strips per detector, pitch of ~800μm</a:t>
            </a:r>
            <a:br>
              <a:rPr lang="en"/>
            </a:b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/>
              <a:t>Read out of ~4k channels with DREAM electronics</a:t>
            </a:r>
            <a:br>
              <a:rPr lang="en"/>
            </a:b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/>
              <a:t>MMs </a:t>
            </a:r>
            <a:r>
              <a:rPr lang="en"/>
              <a:t>backed by scintillator walls – vertical strips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Extra point for timing and tracking</a:t>
            </a:r>
            <a:endParaRPr/>
          </a:p>
        </p:txBody>
      </p:sp>
      <p:sp>
        <p:nvSpPr>
          <p:cNvPr id="197" name="Google Shape;197;p23"/>
          <p:cNvSpPr txBox="1"/>
          <p:nvPr>
            <p:ph idx="12" type="sldNum"/>
          </p:nvPr>
        </p:nvSpPr>
        <p:spPr>
          <a:xfrm>
            <a:off x="11042108" y="6537888"/>
            <a:ext cx="731400" cy="320100"/>
          </a:xfrm>
          <a:prstGeom prst="rect">
            <a:avLst/>
          </a:prstGeom>
        </p:spPr>
        <p:txBody>
          <a:bodyPr anchorCtr="0" anchor="b" bIns="64000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8" name="Google Shape;198;p23"/>
          <p:cNvSpPr/>
          <p:nvPr/>
        </p:nvSpPr>
        <p:spPr>
          <a:xfrm>
            <a:off x="6835408" y="1991050"/>
            <a:ext cx="393300" cy="3933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3</a:t>
            </a:r>
            <a:r>
              <a:rPr lang="en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He</a:t>
            </a:r>
            <a:endParaRPr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99" name="Google Shape;199;p23"/>
          <p:cNvSpPr/>
          <p:nvPr/>
        </p:nvSpPr>
        <p:spPr>
          <a:xfrm>
            <a:off x="6292708" y="1405625"/>
            <a:ext cx="1478700" cy="218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00" name="Google Shape;200;p23"/>
          <p:cNvSpPr/>
          <p:nvPr/>
        </p:nvSpPr>
        <p:spPr>
          <a:xfrm>
            <a:off x="6292709" y="2751375"/>
            <a:ext cx="1478700" cy="218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01" name="Google Shape;201;p23"/>
          <p:cNvSpPr/>
          <p:nvPr/>
        </p:nvSpPr>
        <p:spPr>
          <a:xfrm rot="5400000">
            <a:off x="7173483" y="2078500"/>
            <a:ext cx="1478700" cy="218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02" name="Google Shape;202;p23"/>
          <p:cNvSpPr/>
          <p:nvPr/>
        </p:nvSpPr>
        <p:spPr>
          <a:xfrm rot="5400000">
            <a:off x="5411933" y="2078500"/>
            <a:ext cx="1478700" cy="218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03" name="Google Shape;203;p23"/>
          <p:cNvSpPr txBox="1"/>
          <p:nvPr/>
        </p:nvSpPr>
        <p:spPr>
          <a:xfrm>
            <a:off x="7344732" y="1571097"/>
            <a:ext cx="320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baseline="30000" lang="en" sz="16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baseline="30000" sz="1600"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" name="Google Shape;204;p23"/>
          <p:cNvSpPr txBox="1"/>
          <p:nvPr/>
        </p:nvSpPr>
        <p:spPr>
          <a:xfrm>
            <a:off x="7506697" y="2173453"/>
            <a:ext cx="320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baseline="30000" lang="en" sz="16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-</a:t>
            </a:r>
            <a:endParaRPr baseline="30000" sz="1600"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5" name="Google Shape;205;p23"/>
          <p:cNvCxnSpPr/>
          <p:nvPr/>
        </p:nvCxnSpPr>
        <p:spPr>
          <a:xfrm>
            <a:off x="2862896" y="4593975"/>
            <a:ext cx="1959900" cy="2146800"/>
          </a:xfrm>
          <a:prstGeom prst="straightConnector1">
            <a:avLst/>
          </a:prstGeom>
          <a:noFill/>
          <a:ln cap="flat" cmpd="sng" w="9525">
            <a:solidFill>
              <a:srgbClr val="F4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6" name="Google Shape;206;p23"/>
          <p:cNvSpPr/>
          <p:nvPr/>
        </p:nvSpPr>
        <p:spPr>
          <a:xfrm>
            <a:off x="2655807" y="4374854"/>
            <a:ext cx="393300" cy="3933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3</a:t>
            </a:r>
            <a:r>
              <a:rPr lang="en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He</a:t>
            </a:r>
            <a:endParaRPr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07" name="Google Shape;207;p23"/>
          <p:cNvSpPr/>
          <p:nvPr/>
        </p:nvSpPr>
        <p:spPr>
          <a:xfrm rot="10800000">
            <a:off x="640821" y="6086425"/>
            <a:ext cx="5371800" cy="51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08" name="Google Shape;208;p23"/>
          <p:cNvSpPr txBox="1"/>
          <p:nvPr/>
        </p:nvSpPr>
        <p:spPr>
          <a:xfrm>
            <a:off x="3177661" y="4797917"/>
            <a:ext cx="320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baseline="30000" lang="en" sz="16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-</a:t>
            </a:r>
            <a:endParaRPr baseline="30000" sz="1600"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9" name="Google Shape;209;p23"/>
          <p:cNvSpPr/>
          <p:nvPr/>
        </p:nvSpPr>
        <p:spPr>
          <a:xfrm rot="10800000">
            <a:off x="640821" y="5343500"/>
            <a:ext cx="5371800" cy="513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10" name="Google Shape;210;p23"/>
          <p:cNvSpPr/>
          <p:nvPr/>
        </p:nvSpPr>
        <p:spPr>
          <a:xfrm rot="10800000">
            <a:off x="640821" y="6290025"/>
            <a:ext cx="5371800" cy="513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11" name="Google Shape;211;p23"/>
          <p:cNvSpPr txBox="1"/>
          <p:nvPr/>
        </p:nvSpPr>
        <p:spPr>
          <a:xfrm>
            <a:off x="855500" y="5187475"/>
            <a:ext cx="917700" cy="17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Mylar window</a:t>
            </a:r>
            <a:endParaRPr baseline="30000" sz="900"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2" name="Google Shape;212;p23"/>
          <p:cNvSpPr txBox="1"/>
          <p:nvPr/>
        </p:nvSpPr>
        <p:spPr>
          <a:xfrm>
            <a:off x="855500" y="5912125"/>
            <a:ext cx="917700" cy="17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Mesh</a:t>
            </a:r>
            <a:endParaRPr baseline="30000" sz="900"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3" name="Google Shape;213;p23"/>
          <p:cNvSpPr txBox="1"/>
          <p:nvPr/>
        </p:nvSpPr>
        <p:spPr>
          <a:xfrm>
            <a:off x="855508" y="6137725"/>
            <a:ext cx="917700" cy="17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Readout</a:t>
            </a:r>
            <a:endParaRPr baseline="30000" sz="900"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" name="Google Shape;214;p23"/>
          <p:cNvSpPr/>
          <p:nvPr/>
        </p:nvSpPr>
        <p:spPr>
          <a:xfrm>
            <a:off x="3624896" y="5458550"/>
            <a:ext cx="54900" cy="54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15" name="Google Shape;215;p23"/>
          <p:cNvSpPr/>
          <p:nvPr/>
        </p:nvSpPr>
        <p:spPr>
          <a:xfrm>
            <a:off x="3777296" y="5610950"/>
            <a:ext cx="54900" cy="54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16" name="Google Shape;216;p23"/>
          <p:cNvSpPr/>
          <p:nvPr/>
        </p:nvSpPr>
        <p:spPr>
          <a:xfrm>
            <a:off x="3929696" y="5763350"/>
            <a:ext cx="54900" cy="54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17" name="Google Shape;217;p23"/>
          <p:cNvSpPr/>
          <p:nvPr/>
        </p:nvSpPr>
        <p:spPr>
          <a:xfrm>
            <a:off x="4082096" y="5915750"/>
            <a:ext cx="54900" cy="54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18" name="Google Shape;218;p23"/>
          <p:cNvSpPr/>
          <p:nvPr/>
        </p:nvSpPr>
        <p:spPr>
          <a:xfrm>
            <a:off x="3632571" y="5512225"/>
            <a:ext cx="23000" cy="574204"/>
          </a:xfrm>
          <a:custGeom>
            <a:rect b="b" l="l" r="r" t="t"/>
            <a:pathLst>
              <a:path extrusionOk="0" h="21611" w="920">
                <a:moveTo>
                  <a:pt x="374" y="0"/>
                </a:moveTo>
                <a:cubicBezTo>
                  <a:pt x="-581" y="7141"/>
                  <a:pt x="2281" y="14777"/>
                  <a:pt x="0" y="21611"/>
                </a:cubicBezTo>
              </a:path>
            </a:pathLst>
          </a:custGeom>
          <a:noFill/>
          <a:ln cap="flat" cmpd="sng" w="9525">
            <a:solidFill>
              <a:srgbClr val="F4CCCC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19" name="Google Shape;219;p23"/>
          <p:cNvSpPr/>
          <p:nvPr/>
        </p:nvSpPr>
        <p:spPr>
          <a:xfrm>
            <a:off x="3788039" y="5666975"/>
            <a:ext cx="28625" cy="410875"/>
          </a:xfrm>
          <a:custGeom>
            <a:rect b="b" l="l" r="r" t="t"/>
            <a:pathLst>
              <a:path extrusionOk="0" h="16435" w="1145">
                <a:moveTo>
                  <a:pt x="558" y="0"/>
                </a:moveTo>
                <a:cubicBezTo>
                  <a:pt x="1376" y="566"/>
                  <a:pt x="-170" y="1960"/>
                  <a:pt x="24" y="2935"/>
                </a:cubicBezTo>
                <a:cubicBezTo>
                  <a:pt x="907" y="7363"/>
                  <a:pt x="1145" y="11920"/>
                  <a:pt x="1145" y="16435"/>
                </a:cubicBezTo>
              </a:path>
            </a:pathLst>
          </a:custGeom>
          <a:noFill/>
          <a:ln cap="flat" cmpd="sng" w="9525">
            <a:solidFill>
              <a:srgbClr val="F4CCCC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20" name="Google Shape;220;p23"/>
          <p:cNvSpPr/>
          <p:nvPr/>
        </p:nvSpPr>
        <p:spPr>
          <a:xfrm>
            <a:off x="3941785" y="5817725"/>
            <a:ext cx="53875" cy="261475"/>
          </a:xfrm>
          <a:custGeom>
            <a:rect b="b" l="l" r="r" t="t"/>
            <a:pathLst>
              <a:path extrusionOk="0" h="10459" w="2155">
                <a:moveTo>
                  <a:pt x="491" y="0"/>
                </a:moveTo>
                <a:cubicBezTo>
                  <a:pt x="36" y="579"/>
                  <a:pt x="1446" y="1130"/>
                  <a:pt x="1825" y="1761"/>
                </a:cubicBezTo>
                <a:cubicBezTo>
                  <a:pt x="3342" y="4289"/>
                  <a:pt x="-1010" y="7782"/>
                  <a:pt x="224" y="10459"/>
                </a:cubicBezTo>
              </a:path>
            </a:pathLst>
          </a:custGeom>
          <a:noFill/>
          <a:ln cap="flat" cmpd="sng" w="9525">
            <a:solidFill>
              <a:srgbClr val="F4CCCC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21" name="Google Shape;221;p23"/>
          <p:cNvSpPr/>
          <p:nvPr/>
        </p:nvSpPr>
        <p:spPr>
          <a:xfrm>
            <a:off x="4100576" y="5965275"/>
            <a:ext cx="13575" cy="127000"/>
          </a:xfrm>
          <a:custGeom>
            <a:rect b="b" l="l" r="r" t="t"/>
            <a:pathLst>
              <a:path extrusionOk="0" h="5080" w="543">
                <a:moveTo>
                  <a:pt x="469" y="0"/>
                </a:moveTo>
                <a:cubicBezTo>
                  <a:pt x="-571" y="1336"/>
                  <a:pt x="544" y="3386"/>
                  <a:pt x="544" y="5080"/>
                </a:cubicBezTo>
              </a:path>
            </a:pathLst>
          </a:custGeom>
          <a:noFill/>
          <a:ln cap="flat" cmpd="sng" w="9525">
            <a:solidFill>
              <a:srgbClr val="F4CCCC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22" name="Google Shape;222;p23"/>
          <p:cNvSpPr/>
          <p:nvPr/>
        </p:nvSpPr>
        <p:spPr>
          <a:xfrm>
            <a:off x="3581096" y="6137725"/>
            <a:ext cx="98700" cy="152400"/>
          </a:xfrm>
          <a:prstGeom prst="triangle">
            <a:avLst>
              <a:gd fmla="val 50000" name="adj"/>
            </a:avLst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23" name="Google Shape;223;p23"/>
          <p:cNvSpPr/>
          <p:nvPr/>
        </p:nvSpPr>
        <p:spPr>
          <a:xfrm>
            <a:off x="3769521" y="6137725"/>
            <a:ext cx="98700" cy="152400"/>
          </a:xfrm>
          <a:prstGeom prst="triangle">
            <a:avLst>
              <a:gd fmla="val 50000" name="adj"/>
            </a:avLst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24" name="Google Shape;224;p23"/>
          <p:cNvSpPr/>
          <p:nvPr/>
        </p:nvSpPr>
        <p:spPr>
          <a:xfrm>
            <a:off x="3907796" y="6137725"/>
            <a:ext cx="98700" cy="152400"/>
          </a:xfrm>
          <a:prstGeom prst="triangle">
            <a:avLst>
              <a:gd fmla="val 50000" name="adj"/>
            </a:avLst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25" name="Google Shape;225;p23"/>
          <p:cNvSpPr/>
          <p:nvPr/>
        </p:nvSpPr>
        <p:spPr>
          <a:xfrm>
            <a:off x="4066846" y="6137725"/>
            <a:ext cx="98700" cy="152400"/>
          </a:xfrm>
          <a:prstGeom prst="triangle">
            <a:avLst>
              <a:gd fmla="val 50000" name="adj"/>
            </a:avLst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grpSp>
        <p:nvGrpSpPr>
          <p:cNvPr id="226" name="Google Shape;226;p23"/>
          <p:cNvGrpSpPr/>
          <p:nvPr/>
        </p:nvGrpSpPr>
        <p:grpSpPr>
          <a:xfrm>
            <a:off x="8712624" y="1781848"/>
            <a:ext cx="3354226" cy="4440650"/>
            <a:chOff x="7437125" y="2097250"/>
            <a:chExt cx="3354226" cy="4440650"/>
          </a:xfrm>
        </p:grpSpPr>
        <p:pic>
          <p:nvPicPr>
            <p:cNvPr id="227" name="Google Shape;227;p23"/>
            <p:cNvPicPr preferRelativeResize="0"/>
            <p:nvPr/>
          </p:nvPicPr>
          <p:blipFill rotWithShape="1">
            <a:blip r:embed="rId3">
              <a:alphaModFix/>
            </a:blip>
            <a:srcRect b="0" l="19743" r="23606" t="0"/>
            <a:stretch/>
          </p:blipFill>
          <p:spPr>
            <a:xfrm>
              <a:off x="7437125" y="2097250"/>
              <a:ext cx="3354226" cy="44406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8" name="Google Shape;228;p23"/>
            <p:cNvSpPr/>
            <p:nvPr/>
          </p:nvSpPr>
          <p:spPr>
            <a:xfrm rot="-5400000">
              <a:off x="7742950" y="4959925"/>
              <a:ext cx="2010300" cy="3453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E0E0E0">
                <a:alpha val="59490"/>
              </a:srgbClr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Average"/>
                  <a:ea typeface="Average"/>
                  <a:cs typeface="Average"/>
                  <a:sym typeface="Average"/>
                </a:rPr>
                <a:t>neutrons</a:t>
              </a:r>
              <a:endParaRPr>
                <a:latin typeface="Average"/>
                <a:ea typeface="Average"/>
                <a:cs typeface="Average"/>
                <a:sym typeface="Average"/>
              </a:endParaRPr>
            </a:p>
          </p:txBody>
        </p:sp>
      </p:grpSp>
      <p:sp>
        <p:nvSpPr>
          <p:cNvPr id="229" name="Google Shape;229;p23"/>
          <p:cNvSpPr/>
          <p:nvPr/>
        </p:nvSpPr>
        <p:spPr>
          <a:xfrm rot="5400000">
            <a:off x="5151701" y="2113600"/>
            <a:ext cx="1478700" cy="1482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30" name="Google Shape;230;p23"/>
          <p:cNvSpPr/>
          <p:nvPr/>
        </p:nvSpPr>
        <p:spPr>
          <a:xfrm rot="5400000">
            <a:off x="7433701" y="2113600"/>
            <a:ext cx="1478700" cy="1482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31" name="Google Shape;231;p23"/>
          <p:cNvSpPr/>
          <p:nvPr/>
        </p:nvSpPr>
        <p:spPr>
          <a:xfrm>
            <a:off x="6292701" y="3042975"/>
            <a:ext cx="1478700" cy="1482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32" name="Google Shape;232;p23"/>
          <p:cNvSpPr/>
          <p:nvPr/>
        </p:nvSpPr>
        <p:spPr>
          <a:xfrm>
            <a:off x="6292701" y="1184638"/>
            <a:ext cx="1478700" cy="1482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33" name="Google Shape;233;p23"/>
          <p:cNvSpPr txBox="1"/>
          <p:nvPr/>
        </p:nvSpPr>
        <p:spPr>
          <a:xfrm>
            <a:off x="8176248" y="874150"/>
            <a:ext cx="19932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accent6"/>
                </a:solidFill>
                <a:latin typeface="Average"/>
                <a:ea typeface="Average"/>
                <a:cs typeface="Average"/>
                <a:sym typeface="Average"/>
              </a:rPr>
              <a:t>Micromegas</a:t>
            </a:r>
            <a:endParaRPr sz="1700">
              <a:solidFill>
                <a:schemeClr val="accent6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34" name="Google Shape;234;p23"/>
          <p:cNvSpPr txBox="1"/>
          <p:nvPr/>
        </p:nvSpPr>
        <p:spPr>
          <a:xfrm>
            <a:off x="7001448" y="3336800"/>
            <a:ext cx="15831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accent6"/>
                </a:solidFill>
                <a:latin typeface="Average"/>
                <a:ea typeface="Average"/>
                <a:cs typeface="Average"/>
                <a:sym typeface="Average"/>
              </a:rPr>
              <a:t>Scintillators</a:t>
            </a:r>
            <a:endParaRPr sz="1700">
              <a:solidFill>
                <a:schemeClr val="accent6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235" name="Google Shape;235;p23"/>
          <p:cNvCxnSpPr>
            <a:stCxn id="233" idx="1"/>
          </p:cNvCxnSpPr>
          <p:nvPr/>
        </p:nvCxnSpPr>
        <p:spPr>
          <a:xfrm flipH="1">
            <a:off x="7680648" y="1161250"/>
            <a:ext cx="495600" cy="291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6" name="Google Shape;236;p23"/>
          <p:cNvCxnSpPr>
            <a:stCxn id="233" idx="1"/>
          </p:cNvCxnSpPr>
          <p:nvPr/>
        </p:nvCxnSpPr>
        <p:spPr>
          <a:xfrm flipH="1">
            <a:off x="7934448" y="1161250"/>
            <a:ext cx="241800" cy="342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7" name="Google Shape;237;p23"/>
          <p:cNvCxnSpPr>
            <a:stCxn id="234" idx="0"/>
          </p:cNvCxnSpPr>
          <p:nvPr/>
        </p:nvCxnSpPr>
        <p:spPr>
          <a:xfrm rot="10800000">
            <a:off x="7639698" y="3190100"/>
            <a:ext cx="153300" cy="14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" name="Google Shape;238;p23"/>
          <p:cNvCxnSpPr>
            <a:stCxn id="234" idx="0"/>
            <a:endCxn id="230" idx="3"/>
          </p:cNvCxnSpPr>
          <p:nvPr/>
        </p:nvCxnSpPr>
        <p:spPr>
          <a:xfrm flipH="1" rot="10800000">
            <a:off x="7792998" y="2927000"/>
            <a:ext cx="380100" cy="40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9" name="Google Shape;239;p23"/>
          <p:cNvSpPr/>
          <p:nvPr/>
        </p:nvSpPr>
        <p:spPr>
          <a:xfrm>
            <a:off x="143300" y="1064532"/>
            <a:ext cx="5629800" cy="22416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4"/>
          <p:cNvSpPr txBox="1"/>
          <p:nvPr>
            <p:ph type="title"/>
          </p:nvPr>
        </p:nvSpPr>
        <p:spPr>
          <a:xfrm>
            <a:off x="373746" y="3047255"/>
            <a:ext cx="11358000" cy="7635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Micromegas at Saclay</a:t>
            </a:r>
            <a:endParaRPr/>
          </a:p>
        </p:txBody>
      </p:sp>
      <p:sp>
        <p:nvSpPr>
          <p:cNvPr id="245" name="Google Shape;245;p24"/>
          <p:cNvSpPr txBox="1"/>
          <p:nvPr>
            <p:ph idx="12" type="sldNum"/>
          </p:nvPr>
        </p:nvSpPr>
        <p:spPr>
          <a:xfrm>
            <a:off x="11042108" y="6537888"/>
            <a:ext cx="731400" cy="320100"/>
          </a:xfrm>
          <a:prstGeom prst="rect">
            <a:avLst/>
          </a:prstGeom>
        </p:spPr>
        <p:txBody>
          <a:bodyPr anchorCtr="0" anchor="b" bIns="64000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5"/>
          <p:cNvSpPr txBox="1"/>
          <p:nvPr>
            <p:ph type="title"/>
          </p:nvPr>
        </p:nvSpPr>
        <p:spPr>
          <a:xfrm>
            <a:off x="415496" y="182880"/>
            <a:ext cx="11358000" cy="7635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00"/>
              <a:t>Micromegas</a:t>
            </a:r>
            <a:r>
              <a:rPr lang="en" sz="3000"/>
              <a:t> Characterization in the Cosmic Test Bench @ CEA Saclay</a:t>
            </a:r>
            <a:endParaRPr sz="3000"/>
          </a:p>
        </p:txBody>
      </p:sp>
      <p:sp>
        <p:nvSpPr>
          <p:cNvPr id="251" name="Google Shape;251;p25"/>
          <p:cNvSpPr txBox="1"/>
          <p:nvPr>
            <p:ph idx="12" type="sldNum"/>
          </p:nvPr>
        </p:nvSpPr>
        <p:spPr>
          <a:xfrm>
            <a:off x="11042108" y="6537888"/>
            <a:ext cx="731400" cy="320100"/>
          </a:xfrm>
          <a:prstGeom prst="rect">
            <a:avLst/>
          </a:prstGeom>
        </p:spPr>
        <p:txBody>
          <a:bodyPr anchorCtr="0" anchor="b" bIns="64000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2" name="Google Shape;252;p25"/>
          <p:cNvSpPr/>
          <p:nvPr/>
        </p:nvSpPr>
        <p:spPr>
          <a:xfrm>
            <a:off x="80000" y="1574075"/>
            <a:ext cx="4572000" cy="1620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53" name="Google Shape;253;p25"/>
          <p:cNvSpPr/>
          <p:nvPr/>
        </p:nvSpPr>
        <p:spPr>
          <a:xfrm>
            <a:off x="80000" y="6313245"/>
            <a:ext cx="4572000" cy="1620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54" name="Google Shape;254;p25"/>
          <p:cNvSpPr/>
          <p:nvPr/>
        </p:nvSpPr>
        <p:spPr>
          <a:xfrm>
            <a:off x="459500" y="5983575"/>
            <a:ext cx="3813000" cy="1374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55" name="Google Shape;255;p25"/>
          <p:cNvSpPr/>
          <p:nvPr/>
        </p:nvSpPr>
        <p:spPr>
          <a:xfrm>
            <a:off x="459500" y="1928375"/>
            <a:ext cx="3813000" cy="1374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56" name="Google Shape;256;p25"/>
          <p:cNvSpPr/>
          <p:nvPr/>
        </p:nvSpPr>
        <p:spPr>
          <a:xfrm>
            <a:off x="459500" y="2385575"/>
            <a:ext cx="3813000" cy="1374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57" name="Google Shape;257;p25"/>
          <p:cNvSpPr/>
          <p:nvPr/>
        </p:nvSpPr>
        <p:spPr>
          <a:xfrm>
            <a:off x="459500" y="5526375"/>
            <a:ext cx="3813000" cy="1374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58" name="Google Shape;258;p25"/>
          <p:cNvSpPr/>
          <p:nvPr/>
        </p:nvSpPr>
        <p:spPr>
          <a:xfrm>
            <a:off x="914425" y="4590778"/>
            <a:ext cx="3159900" cy="60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59" name="Google Shape;259;p25"/>
          <p:cNvSpPr txBox="1"/>
          <p:nvPr/>
        </p:nvSpPr>
        <p:spPr>
          <a:xfrm>
            <a:off x="871850" y="978553"/>
            <a:ext cx="2988300" cy="4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FFFF00"/>
                </a:solidFill>
                <a:latin typeface="Average"/>
                <a:ea typeface="Average"/>
                <a:cs typeface="Average"/>
                <a:sym typeface="Average"/>
              </a:rPr>
              <a:t>Side View</a:t>
            </a:r>
            <a:endParaRPr b="1" sz="3000">
              <a:solidFill>
                <a:srgbClr val="FFFF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260" name="Google Shape;260;p25"/>
          <p:cNvCxnSpPr/>
          <p:nvPr/>
        </p:nvCxnSpPr>
        <p:spPr>
          <a:xfrm>
            <a:off x="1398350" y="877835"/>
            <a:ext cx="1604400" cy="5711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1" name="Google Shape;261;p25"/>
          <p:cNvCxnSpPr>
            <a:stCxn id="262" idx="0"/>
            <a:endCxn id="256" idx="3"/>
          </p:cNvCxnSpPr>
          <p:nvPr/>
        </p:nvCxnSpPr>
        <p:spPr>
          <a:xfrm rot="10800000">
            <a:off x="4272575" y="2454350"/>
            <a:ext cx="1472700" cy="3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3" name="Google Shape;263;p25"/>
          <p:cNvCxnSpPr>
            <a:stCxn id="262" idx="0"/>
            <a:endCxn id="255" idx="3"/>
          </p:cNvCxnSpPr>
          <p:nvPr/>
        </p:nvCxnSpPr>
        <p:spPr>
          <a:xfrm rot="10800000">
            <a:off x="4272575" y="1997150"/>
            <a:ext cx="1472700" cy="76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" name="Google Shape;264;p25"/>
          <p:cNvCxnSpPr>
            <a:stCxn id="262" idx="2"/>
            <a:endCxn id="257" idx="3"/>
          </p:cNvCxnSpPr>
          <p:nvPr/>
        </p:nvCxnSpPr>
        <p:spPr>
          <a:xfrm flipH="1">
            <a:off x="4272575" y="3115250"/>
            <a:ext cx="1472700" cy="247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5" name="Google Shape;265;p25"/>
          <p:cNvCxnSpPr>
            <a:stCxn id="262" idx="2"/>
            <a:endCxn id="254" idx="3"/>
          </p:cNvCxnSpPr>
          <p:nvPr/>
        </p:nvCxnSpPr>
        <p:spPr>
          <a:xfrm flipH="1">
            <a:off x="4272575" y="3115250"/>
            <a:ext cx="1472700" cy="293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" name="Google Shape;266;p25"/>
          <p:cNvCxnSpPr>
            <a:stCxn id="267" idx="1"/>
            <a:endCxn id="252" idx="3"/>
          </p:cNvCxnSpPr>
          <p:nvPr/>
        </p:nvCxnSpPr>
        <p:spPr>
          <a:xfrm rot="10800000">
            <a:off x="4652050" y="1655150"/>
            <a:ext cx="585300" cy="467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8" name="Google Shape;268;p25"/>
          <p:cNvCxnSpPr>
            <a:stCxn id="267" idx="1"/>
            <a:endCxn id="253" idx="3"/>
          </p:cNvCxnSpPr>
          <p:nvPr/>
        </p:nvCxnSpPr>
        <p:spPr>
          <a:xfrm flipH="1">
            <a:off x="4652050" y="6333950"/>
            <a:ext cx="585300" cy="6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69" name="Google Shape;269;p25"/>
          <p:cNvPicPr preferRelativeResize="0"/>
          <p:nvPr/>
        </p:nvPicPr>
        <p:blipFill rotWithShape="1">
          <a:blip r:embed="rId3">
            <a:alphaModFix/>
          </a:blip>
          <a:srcRect b="11174" l="0" r="0" t="0"/>
          <a:stretch/>
        </p:blipFill>
        <p:spPr>
          <a:xfrm>
            <a:off x="7234150" y="904245"/>
            <a:ext cx="4761760" cy="5641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5"/>
          <p:cNvSpPr txBox="1"/>
          <p:nvPr/>
        </p:nvSpPr>
        <p:spPr>
          <a:xfrm>
            <a:off x="5237350" y="6173900"/>
            <a:ext cx="2808000" cy="320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2 Trigger Scintillators</a:t>
            </a:r>
            <a:endParaRPr sz="24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62" name="Google Shape;262;p25"/>
          <p:cNvSpPr txBox="1"/>
          <p:nvPr/>
        </p:nvSpPr>
        <p:spPr>
          <a:xfrm>
            <a:off x="4322075" y="2764550"/>
            <a:ext cx="2846400" cy="350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2"/>
                </a:solidFill>
                <a:latin typeface="Average"/>
                <a:ea typeface="Average"/>
                <a:cs typeface="Average"/>
                <a:sym typeface="Average"/>
              </a:rPr>
              <a:t>4 Tracking Detectors</a:t>
            </a:r>
            <a:endParaRPr sz="2400">
              <a:solidFill>
                <a:schemeClr val="lt2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70" name="Google Shape;270;p25"/>
          <p:cNvSpPr txBox="1"/>
          <p:nvPr/>
        </p:nvSpPr>
        <p:spPr>
          <a:xfrm>
            <a:off x="4857350" y="4713650"/>
            <a:ext cx="2190000" cy="350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FF00"/>
                </a:solidFill>
                <a:latin typeface="Average"/>
                <a:ea typeface="Average"/>
                <a:cs typeface="Average"/>
                <a:sym typeface="Average"/>
              </a:rPr>
              <a:t>MX17</a:t>
            </a:r>
            <a:r>
              <a:rPr lang="en" sz="2400">
                <a:solidFill>
                  <a:srgbClr val="00FF00"/>
                </a:solidFill>
                <a:latin typeface="Average"/>
                <a:ea typeface="Average"/>
                <a:cs typeface="Average"/>
                <a:sym typeface="Average"/>
              </a:rPr>
              <a:t> Detector</a:t>
            </a:r>
            <a:endParaRPr sz="2400">
              <a:solidFill>
                <a:srgbClr val="00FF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271" name="Google Shape;271;p25"/>
          <p:cNvCxnSpPr>
            <a:stCxn id="270" idx="1"/>
            <a:endCxn id="258" idx="3"/>
          </p:cNvCxnSpPr>
          <p:nvPr/>
        </p:nvCxnSpPr>
        <p:spPr>
          <a:xfrm rot="10800000">
            <a:off x="4074350" y="4620800"/>
            <a:ext cx="783000" cy="26820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2" name="Google Shape;272;p25"/>
          <p:cNvSpPr txBox="1"/>
          <p:nvPr/>
        </p:nvSpPr>
        <p:spPr>
          <a:xfrm>
            <a:off x="60955" y="3385682"/>
            <a:ext cx="19599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0000"/>
                </a:solidFill>
                <a:latin typeface="Average"/>
                <a:ea typeface="Average"/>
                <a:cs typeface="Average"/>
                <a:sym typeface="Average"/>
              </a:rPr>
              <a:t>Cosmic Muon</a:t>
            </a:r>
            <a:endParaRPr sz="2400">
              <a:solidFill>
                <a:srgbClr val="FF00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273" name="Google Shape;273;p25"/>
          <p:cNvCxnSpPr/>
          <p:nvPr/>
        </p:nvCxnSpPr>
        <p:spPr>
          <a:xfrm flipH="1">
            <a:off x="1974400" y="3190250"/>
            <a:ext cx="57600" cy="3942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6"/>
          <p:cNvSpPr txBox="1"/>
          <p:nvPr>
            <p:ph type="title"/>
          </p:nvPr>
        </p:nvSpPr>
        <p:spPr>
          <a:xfrm>
            <a:off x="415496" y="182880"/>
            <a:ext cx="11358000" cy="7635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 Reconstruct Tracks in μ-TPC Mode</a:t>
            </a:r>
            <a:endParaRPr/>
          </a:p>
        </p:txBody>
      </p:sp>
      <p:sp>
        <p:nvSpPr>
          <p:cNvPr id="279" name="Google Shape;279;p26"/>
          <p:cNvSpPr txBox="1"/>
          <p:nvPr>
            <p:ph idx="1" type="body"/>
          </p:nvPr>
        </p:nvSpPr>
        <p:spPr>
          <a:xfrm>
            <a:off x="49725" y="883924"/>
            <a:ext cx="6317400" cy="8259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Cherry-picking a nice event, can reconstruct a track in agreement with the reference tracker</a:t>
            </a:r>
            <a:endParaRPr/>
          </a:p>
        </p:txBody>
      </p:sp>
      <p:sp>
        <p:nvSpPr>
          <p:cNvPr id="280" name="Google Shape;280;p26"/>
          <p:cNvSpPr txBox="1"/>
          <p:nvPr>
            <p:ph idx="2" type="body"/>
          </p:nvPr>
        </p:nvSpPr>
        <p:spPr>
          <a:xfrm>
            <a:off x="6441588" y="1536633"/>
            <a:ext cx="5331900" cy="45552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6"/>
          <p:cNvSpPr txBox="1"/>
          <p:nvPr>
            <p:ph idx="12" type="sldNum"/>
          </p:nvPr>
        </p:nvSpPr>
        <p:spPr>
          <a:xfrm>
            <a:off x="11042108" y="6537888"/>
            <a:ext cx="731400" cy="320100"/>
          </a:xfrm>
          <a:prstGeom prst="rect">
            <a:avLst/>
          </a:prstGeom>
        </p:spPr>
        <p:txBody>
          <a:bodyPr anchorCtr="0" anchor="b" bIns="64000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82" name="Google Shape;282;p26" title="event_33843_3d.gif"/>
          <p:cNvPicPr preferRelativeResize="0"/>
          <p:nvPr/>
        </p:nvPicPr>
        <p:blipFill rotWithShape="1">
          <a:blip r:embed="rId3">
            <a:alphaModFix/>
          </a:blip>
          <a:srcRect b="0" l="5659" r="5650" t="0"/>
          <a:stretch/>
        </p:blipFill>
        <p:spPr>
          <a:xfrm>
            <a:off x="6367275" y="1286675"/>
            <a:ext cx="5821675" cy="5251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6" title="cosmic_bench_event_displa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742676"/>
            <a:ext cx="6367274" cy="479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7"/>
          <p:cNvSpPr txBox="1"/>
          <p:nvPr>
            <p:ph type="title"/>
          </p:nvPr>
        </p:nvSpPr>
        <p:spPr>
          <a:xfrm>
            <a:off x="415496" y="182880"/>
            <a:ext cx="11358000" cy="7635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Detector 0 Is Efficient</a:t>
            </a:r>
            <a:endParaRPr/>
          </a:p>
        </p:txBody>
      </p:sp>
      <p:sp>
        <p:nvSpPr>
          <p:cNvPr id="289" name="Google Shape;289;p27"/>
          <p:cNvSpPr txBox="1"/>
          <p:nvPr>
            <p:ph idx="2" type="body"/>
          </p:nvPr>
        </p:nvSpPr>
        <p:spPr>
          <a:xfrm>
            <a:off x="4155450" y="945500"/>
            <a:ext cx="7965600" cy="5481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100"/>
              <a:t>Dead areas </a:t>
            </a:r>
            <a:r>
              <a:rPr lang="en" sz="2100"/>
              <a:t>understood</a:t>
            </a:r>
            <a:r>
              <a:rPr lang="en" sz="2100"/>
              <a:t>. Know how to fix in next detector iteration.</a:t>
            </a:r>
            <a:endParaRPr sz="2100"/>
          </a:p>
        </p:txBody>
      </p:sp>
      <p:sp>
        <p:nvSpPr>
          <p:cNvPr id="290" name="Google Shape;290;p27"/>
          <p:cNvSpPr txBox="1"/>
          <p:nvPr>
            <p:ph idx="12" type="sldNum"/>
          </p:nvPr>
        </p:nvSpPr>
        <p:spPr>
          <a:xfrm>
            <a:off x="11042108" y="6537888"/>
            <a:ext cx="731400" cy="320100"/>
          </a:xfrm>
          <a:prstGeom prst="rect">
            <a:avLst/>
          </a:prstGeom>
        </p:spPr>
        <p:txBody>
          <a:bodyPr anchorCtr="0" anchor="b" bIns="64000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91" name="Google Shape;291;p27" title="mx17_det0_efficiency_map.png"/>
          <p:cNvPicPr preferRelativeResize="0"/>
          <p:nvPr/>
        </p:nvPicPr>
        <p:blipFill rotWithShape="1">
          <a:blip r:embed="rId3">
            <a:alphaModFix/>
          </a:blip>
          <a:srcRect b="0" l="0" r="51487" t="0"/>
          <a:stretch/>
        </p:blipFill>
        <p:spPr>
          <a:xfrm>
            <a:off x="124900" y="1660500"/>
            <a:ext cx="5913101" cy="48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89055" y="2374500"/>
            <a:ext cx="5548800" cy="416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7"/>
          <p:cNvSpPr txBox="1"/>
          <p:nvPr/>
        </p:nvSpPr>
        <p:spPr>
          <a:xfrm>
            <a:off x="8790050" y="1766119"/>
            <a:ext cx="2535000" cy="6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00"/>
                </a:solidFill>
                <a:latin typeface="Average"/>
                <a:ea typeface="Average"/>
                <a:cs typeface="Average"/>
                <a:sym typeface="Average"/>
              </a:rPr>
              <a:t>Resistive strips broken </a:t>
            </a:r>
            <a:br>
              <a:rPr lang="en" sz="1600">
                <a:solidFill>
                  <a:srgbClr val="FFFF00"/>
                </a:solidFill>
                <a:latin typeface="Average"/>
                <a:ea typeface="Average"/>
                <a:cs typeface="Average"/>
                <a:sym typeface="Average"/>
              </a:rPr>
            </a:br>
            <a:r>
              <a:rPr lang="en" sz="1600">
                <a:solidFill>
                  <a:srgbClr val="FFFF00"/>
                </a:solidFill>
                <a:latin typeface="Average"/>
                <a:ea typeface="Average"/>
                <a:cs typeface="Average"/>
                <a:sym typeface="Average"/>
              </a:rPr>
              <a:t>(no HV here)</a:t>
            </a:r>
            <a:endParaRPr sz="1600">
              <a:solidFill>
                <a:srgbClr val="FFFF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94" name="Google Shape;294;p27"/>
          <p:cNvSpPr txBox="1"/>
          <p:nvPr/>
        </p:nvSpPr>
        <p:spPr>
          <a:xfrm>
            <a:off x="6289050" y="1660506"/>
            <a:ext cx="2065800" cy="6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00"/>
                </a:solidFill>
                <a:latin typeface="Average"/>
                <a:ea typeface="Average"/>
                <a:cs typeface="Average"/>
                <a:sym typeface="Average"/>
              </a:rPr>
              <a:t>M4 connector edge not making contact</a:t>
            </a:r>
            <a:endParaRPr sz="1600">
              <a:solidFill>
                <a:srgbClr val="FFFF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295" name="Google Shape;295;p27"/>
          <p:cNvCxnSpPr>
            <a:stCxn id="294" idx="2"/>
          </p:cNvCxnSpPr>
          <p:nvPr/>
        </p:nvCxnSpPr>
        <p:spPr>
          <a:xfrm>
            <a:off x="7321950" y="2307306"/>
            <a:ext cx="531600" cy="2203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6" name="Google Shape;296;p27"/>
          <p:cNvCxnSpPr>
            <a:stCxn id="293" idx="2"/>
          </p:cNvCxnSpPr>
          <p:nvPr/>
        </p:nvCxnSpPr>
        <p:spPr>
          <a:xfrm flipH="1">
            <a:off x="9021350" y="2412919"/>
            <a:ext cx="1036200" cy="1030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7" name="Google Shape;297;p27"/>
          <p:cNvCxnSpPr>
            <a:stCxn id="293" idx="2"/>
          </p:cNvCxnSpPr>
          <p:nvPr/>
        </p:nvCxnSpPr>
        <p:spPr>
          <a:xfrm flipH="1">
            <a:off x="9448850" y="2412919"/>
            <a:ext cx="608700" cy="1000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8" name="Google Shape;298;p27"/>
          <p:cNvCxnSpPr>
            <a:stCxn id="293" idx="2"/>
          </p:cNvCxnSpPr>
          <p:nvPr/>
        </p:nvCxnSpPr>
        <p:spPr>
          <a:xfrm>
            <a:off x="10057550" y="2412919"/>
            <a:ext cx="976200" cy="950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9" name="Google Shape;299;p27"/>
          <p:cNvSpPr txBox="1"/>
          <p:nvPr/>
        </p:nvSpPr>
        <p:spPr>
          <a:xfrm>
            <a:off x="9318000" y="103075"/>
            <a:ext cx="2709000" cy="9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Argon/Isobutane Gas</a:t>
            </a:r>
            <a:r>
              <a:rPr lang="en" sz="15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 (95/5)</a:t>
            </a:r>
            <a:endParaRPr sz="1500"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30 mm drift gap</a:t>
            </a:r>
            <a:br>
              <a:rPr lang="en" sz="15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sz="15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Aluminum Frame</a:t>
            </a:r>
            <a:endParaRPr sz="1500"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8"/>
          <p:cNvSpPr txBox="1"/>
          <p:nvPr>
            <p:ph type="title"/>
          </p:nvPr>
        </p:nvSpPr>
        <p:spPr>
          <a:xfrm>
            <a:off x="415496" y="182880"/>
            <a:ext cx="11358000" cy="7635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Detector 0 Spatial Resolution is Reasonable</a:t>
            </a:r>
            <a:endParaRPr/>
          </a:p>
        </p:txBody>
      </p:sp>
      <p:sp>
        <p:nvSpPr>
          <p:cNvPr id="305" name="Google Shape;305;p28"/>
          <p:cNvSpPr txBox="1"/>
          <p:nvPr>
            <p:ph idx="1" type="body"/>
          </p:nvPr>
        </p:nvSpPr>
        <p:spPr>
          <a:xfrm>
            <a:off x="1469925" y="938900"/>
            <a:ext cx="9249300" cy="9231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Reference tracker only has ~500μm spatial resolution.</a:t>
            </a:r>
            <a:br>
              <a:rPr lang="en"/>
            </a:br>
            <a:r>
              <a:rPr lang="en"/>
              <a:t>Good that most of the detector is around </a:t>
            </a:r>
            <a:r>
              <a:rPr lang="en"/>
              <a:t>500μm, hopefully better in reality</a:t>
            </a:r>
            <a:endParaRPr/>
          </a:p>
        </p:txBody>
      </p:sp>
      <p:sp>
        <p:nvSpPr>
          <p:cNvPr id="306" name="Google Shape;306;p28"/>
          <p:cNvSpPr txBox="1"/>
          <p:nvPr>
            <p:ph idx="12" type="sldNum"/>
          </p:nvPr>
        </p:nvSpPr>
        <p:spPr>
          <a:xfrm>
            <a:off x="11042108" y="6537888"/>
            <a:ext cx="731400" cy="320100"/>
          </a:xfrm>
          <a:prstGeom prst="rect">
            <a:avLst/>
          </a:prstGeom>
        </p:spPr>
        <p:txBody>
          <a:bodyPr anchorCtr="0" anchor="b" bIns="64000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07" name="Google Shape;307;p28" title="mx17_det0_spatial_res_map.png"/>
          <p:cNvPicPr preferRelativeResize="0"/>
          <p:nvPr/>
        </p:nvPicPr>
        <p:blipFill rotWithShape="1">
          <a:blip r:embed="rId3">
            <a:alphaModFix/>
          </a:blip>
          <a:srcRect b="0" l="0" r="34067" t="0"/>
          <a:stretch/>
        </p:blipFill>
        <p:spPr>
          <a:xfrm>
            <a:off x="1469913" y="1861850"/>
            <a:ext cx="9249174" cy="4676051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8"/>
          <p:cNvSpPr txBox="1"/>
          <p:nvPr/>
        </p:nvSpPr>
        <p:spPr>
          <a:xfrm>
            <a:off x="9318000" y="103075"/>
            <a:ext cx="2709000" cy="9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Argon/Isobutane Gas (95/5)</a:t>
            </a:r>
            <a:endParaRPr sz="1500"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30 mm drift gap</a:t>
            </a:r>
            <a:br>
              <a:rPr lang="en" sz="15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sz="15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Aluminum Frame</a:t>
            </a:r>
            <a:endParaRPr sz="1500"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9"/>
          <p:cNvSpPr txBox="1"/>
          <p:nvPr>
            <p:ph type="title"/>
          </p:nvPr>
        </p:nvSpPr>
        <p:spPr>
          <a:xfrm>
            <a:off x="415496" y="182880"/>
            <a:ext cx="11358000" cy="7635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Track Angles Reconstructed</a:t>
            </a:r>
            <a:endParaRPr/>
          </a:p>
        </p:txBody>
      </p:sp>
      <p:sp>
        <p:nvSpPr>
          <p:cNvPr id="314" name="Google Shape;314;p29"/>
          <p:cNvSpPr txBox="1"/>
          <p:nvPr>
            <p:ph idx="1" type="body"/>
          </p:nvPr>
        </p:nvSpPr>
        <p:spPr>
          <a:xfrm>
            <a:off x="415500" y="946374"/>
            <a:ext cx="11085600" cy="8223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The reconstructed track angles correlate with the reference track angles.</a:t>
            </a:r>
            <a:br>
              <a:rPr lang="en"/>
            </a:br>
            <a:r>
              <a:rPr lang="en" sz="1500"/>
              <a:t>O</a:t>
            </a:r>
            <a:r>
              <a:rPr lang="en" sz="1500"/>
              <a:t>ffset of the correlation is interesting, possibly an algorithmic issue?</a:t>
            </a:r>
            <a:endParaRPr sz="1500"/>
          </a:p>
        </p:txBody>
      </p:sp>
      <p:sp>
        <p:nvSpPr>
          <p:cNvPr id="315" name="Google Shape;315;p29"/>
          <p:cNvSpPr txBox="1"/>
          <p:nvPr>
            <p:ph idx="12" type="sldNum"/>
          </p:nvPr>
        </p:nvSpPr>
        <p:spPr>
          <a:xfrm>
            <a:off x="11042108" y="6537888"/>
            <a:ext cx="731400" cy="320100"/>
          </a:xfrm>
          <a:prstGeom prst="rect">
            <a:avLst/>
          </a:prstGeom>
        </p:spPr>
        <p:txBody>
          <a:bodyPr anchorCtr="0" anchor="b" bIns="64000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16" name="Google Shape;316;p29" title="mx17_det0_angular_correla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856271"/>
            <a:ext cx="12188950" cy="4688058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9"/>
          <p:cNvSpPr txBox="1"/>
          <p:nvPr/>
        </p:nvSpPr>
        <p:spPr>
          <a:xfrm>
            <a:off x="9318000" y="103075"/>
            <a:ext cx="2709000" cy="9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Argon/Isobutane Gas (95/5)</a:t>
            </a:r>
            <a:endParaRPr sz="1500"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30 mm drift gap</a:t>
            </a:r>
            <a:br>
              <a:rPr lang="en" sz="15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sz="15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Aluminum Frame</a:t>
            </a:r>
            <a:endParaRPr sz="1500"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0"/>
          <p:cNvSpPr txBox="1"/>
          <p:nvPr>
            <p:ph type="title"/>
          </p:nvPr>
        </p:nvSpPr>
        <p:spPr>
          <a:xfrm>
            <a:off x="415496" y="182880"/>
            <a:ext cx="11358000" cy="7635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Angular Resolution ~2°</a:t>
            </a:r>
            <a:endParaRPr/>
          </a:p>
        </p:txBody>
      </p:sp>
      <p:sp>
        <p:nvSpPr>
          <p:cNvPr id="323" name="Google Shape;323;p30"/>
          <p:cNvSpPr txBox="1"/>
          <p:nvPr>
            <p:ph idx="1" type="body"/>
          </p:nvPr>
        </p:nvSpPr>
        <p:spPr>
          <a:xfrm>
            <a:off x="2284514" y="1026181"/>
            <a:ext cx="7662300" cy="14343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Angular resolution of the detector is about 2°.</a:t>
            </a:r>
            <a:br>
              <a:rPr lang="en"/>
            </a:br>
            <a:r>
              <a:rPr lang="en"/>
              <a:t>Understandably worse at low angles (normal to the detector).</a:t>
            </a:r>
            <a:br>
              <a:rPr lang="en"/>
            </a:br>
            <a:r>
              <a:rPr lang="en"/>
              <a:t>Possible to do a bit better with improved reconstruction algorithm.</a:t>
            </a:r>
            <a:endParaRPr/>
          </a:p>
        </p:txBody>
      </p:sp>
      <p:pic>
        <p:nvPicPr>
          <p:cNvPr id="324" name="Google Shape;324;p30" title="mx17_det0_angular_resolu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9038" y="2261300"/>
            <a:ext cx="8553226" cy="4276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0"/>
          <p:cNvSpPr txBox="1"/>
          <p:nvPr>
            <p:ph idx="12" type="sldNum"/>
          </p:nvPr>
        </p:nvSpPr>
        <p:spPr>
          <a:xfrm>
            <a:off x="11042108" y="6537888"/>
            <a:ext cx="731400" cy="320100"/>
          </a:xfrm>
          <a:prstGeom prst="rect">
            <a:avLst/>
          </a:prstGeom>
        </p:spPr>
        <p:txBody>
          <a:bodyPr anchorCtr="0" anchor="b" bIns="64000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6" name="Google Shape;326;p30"/>
          <p:cNvSpPr txBox="1"/>
          <p:nvPr/>
        </p:nvSpPr>
        <p:spPr>
          <a:xfrm>
            <a:off x="9318000" y="103075"/>
            <a:ext cx="2709000" cy="9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Argon/Isobutane Gas (95/5)</a:t>
            </a:r>
            <a:endParaRPr sz="1500"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30 mm drift gap</a:t>
            </a:r>
            <a:br>
              <a:rPr lang="en" sz="15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sz="15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Aluminum Frame</a:t>
            </a:r>
            <a:endParaRPr sz="1500"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1"/>
          <p:cNvSpPr txBox="1"/>
          <p:nvPr>
            <p:ph type="title"/>
          </p:nvPr>
        </p:nvSpPr>
        <p:spPr>
          <a:xfrm>
            <a:off x="373746" y="3047255"/>
            <a:ext cx="11358000" cy="7635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February Beam Test</a:t>
            </a:r>
            <a:endParaRPr/>
          </a:p>
        </p:txBody>
      </p:sp>
      <p:sp>
        <p:nvSpPr>
          <p:cNvPr id="332" name="Google Shape;332;p31"/>
          <p:cNvSpPr txBox="1"/>
          <p:nvPr>
            <p:ph idx="12" type="sldNum"/>
          </p:nvPr>
        </p:nvSpPr>
        <p:spPr>
          <a:xfrm>
            <a:off x="11042108" y="6537888"/>
            <a:ext cx="731400" cy="320100"/>
          </a:xfrm>
          <a:prstGeom prst="rect">
            <a:avLst/>
          </a:prstGeom>
        </p:spPr>
        <p:txBody>
          <a:bodyPr anchorCtr="0" anchor="b" bIns="64000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2"/>
          <p:cNvSpPr txBox="1"/>
          <p:nvPr>
            <p:ph type="title"/>
          </p:nvPr>
        </p:nvSpPr>
        <p:spPr>
          <a:xfrm>
            <a:off x="415496" y="182880"/>
            <a:ext cx="11358000" cy="7635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February Beam Test</a:t>
            </a:r>
            <a:endParaRPr/>
          </a:p>
        </p:txBody>
      </p:sp>
      <p:sp>
        <p:nvSpPr>
          <p:cNvPr id="338" name="Google Shape;338;p32"/>
          <p:cNvSpPr txBox="1"/>
          <p:nvPr>
            <p:ph idx="1" type="body"/>
          </p:nvPr>
        </p:nvSpPr>
        <p:spPr>
          <a:xfrm>
            <a:off x="222475" y="1241995"/>
            <a:ext cx="7255200" cy="49962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Detector 0 on beam for a month, tested a variety of variables</a:t>
            </a:r>
            <a:endParaRPr/>
          </a:p>
          <a:p>
            <a:pPr indent="-349250" lvl="0" marL="457200" rtl="0" algn="l">
              <a:spcBef>
                <a:spcPts val="1600"/>
              </a:spcBef>
              <a:spcAft>
                <a:spcPts val="0"/>
              </a:spcAft>
              <a:buSzPts val="1900"/>
              <a:buChar char="●"/>
            </a:pPr>
            <a:r>
              <a:rPr lang="en"/>
              <a:t>Gases (all non-flammable)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Argon/CF4/Isobutane	88% / 10% / 2%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Helium/Ethane			96.5% / 3.5%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Argon/CF4/CO2		45% / 40% / 15%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Argon/CF4			90% / 10%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Argon/CO2			70% / 30%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/>
              <a:t>Drift Gaps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30 mm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11 mm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6 mm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/>
              <a:t>Detector Frames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Aluminum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Carbon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/>
              <a:t>Targets</a:t>
            </a:r>
            <a:endParaRPr/>
          </a:p>
        </p:txBody>
      </p:sp>
      <p:sp>
        <p:nvSpPr>
          <p:cNvPr id="339" name="Google Shape;339;p32"/>
          <p:cNvSpPr txBox="1"/>
          <p:nvPr>
            <p:ph idx="12" type="sldNum"/>
          </p:nvPr>
        </p:nvSpPr>
        <p:spPr>
          <a:xfrm>
            <a:off x="11042108" y="6537888"/>
            <a:ext cx="731400" cy="320100"/>
          </a:xfrm>
          <a:prstGeom prst="rect">
            <a:avLst/>
          </a:prstGeom>
        </p:spPr>
        <p:txBody>
          <a:bodyPr anchorCtr="0" anchor="b" bIns="64000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40" name="Google Shape;34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0875" y="1789625"/>
            <a:ext cx="6275376" cy="470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3"/>
          <p:cNvSpPr txBox="1"/>
          <p:nvPr>
            <p:ph type="title"/>
          </p:nvPr>
        </p:nvSpPr>
        <p:spPr>
          <a:xfrm>
            <a:off x="415496" y="182880"/>
            <a:ext cx="11358000" cy="7635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Isolated Track in Beam (Thermal Region)</a:t>
            </a:r>
            <a:endParaRPr/>
          </a:p>
        </p:txBody>
      </p:sp>
      <p:sp>
        <p:nvSpPr>
          <p:cNvPr id="346" name="Google Shape;346;p33"/>
          <p:cNvSpPr txBox="1"/>
          <p:nvPr>
            <p:ph idx="1" type="body"/>
          </p:nvPr>
        </p:nvSpPr>
        <p:spPr>
          <a:xfrm>
            <a:off x="0" y="1392075"/>
            <a:ext cx="3776100" cy="44664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/>
              <a:t>Naively, looks like exactly what we would expect from single track event</a:t>
            </a:r>
            <a:br>
              <a:rPr lang="en"/>
            </a:b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/>
              <a:t>In thermal neutron region</a:t>
            </a:r>
            <a:br>
              <a:rPr lang="en"/>
            </a:b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/>
              <a:t>Not sure what particle left this track (high dE/dx)</a:t>
            </a:r>
            <a:endParaRPr/>
          </a:p>
        </p:txBody>
      </p:sp>
      <p:sp>
        <p:nvSpPr>
          <p:cNvPr id="347" name="Google Shape;347;p33"/>
          <p:cNvSpPr txBox="1"/>
          <p:nvPr>
            <p:ph idx="2" type="body"/>
          </p:nvPr>
        </p:nvSpPr>
        <p:spPr>
          <a:xfrm>
            <a:off x="6441588" y="1536633"/>
            <a:ext cx="5331900" cy="45552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33"/>
          <p:cNvSpPr txBox="1"/>
          <p:nvPr>
            <p:ph idx="12" type="sldNum"/>
          </p:nvPr>
        </p:nvSpPr>
        <p:spPr>
          <a:xfrm>
            <a:off x="11042108" y="6537888"/>
            <a:ext cx="731400" cy="320100"/>
          </a:xfrm>
          <a:prstGeom prst="rect">
            <a:avLst/>
          </a:prstGeom>
        </p:spPr>
        <p:txBody>
          <a:bodyPr anchorCtr="0" anchor="b" bIns="64000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49" name="Google Shape;349;p33" title="isolated_track_examp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6050" y="959125"/>
            <a:ext cx="8412900" cy="560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33"/>
          <p:cNvSpPr txBox="1"/>
          <p:nvPr/>
        </p:nvSpPr>
        <p:spPr>
          <a:xfrm>
            <a:off x="9318000" y="103075"/>
            <a:ext cx="2709000" cy="9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Helium Ethane Gas (96.5/3.5)</a:t>
            </a:r>
            <a:endParaRPr sz="1500"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30 mm drift gap</a:t>
            </a:r>
            <a:br>
              <a:rPr lang="en" sz="15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sz="15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Aluminum Frame</a:t>
            </a:r>
            <a:endParaRPr sz="1500"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4"/>
          <p:cNvSpPr txBox="1"/>
          <p:nvPr>
            <p:ph type="title"/>
          </p:nvPr>
        </p:nvSpPr>
        <p:spPr>
          <a:xfrm>
            <a:off x="415496" y="182880"/>
            <a:ext cx="11358000" cy="7635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Micromegas in Gamma Flash – DAQ Saturation</a:t>
            </a:r>
            <a:endParaRPr/>
          </a:p>
        </p:txBody>
      </p:sp>
      <p:sp>
        <p:nvSpPr>
          <p:cNvPr id="356" name="Google Shape;356;p34"/>
          <p:cNvSpPr txBox="1"/>
          <p:nvPr>
            <p:ph idx="2" type="body"/>
          </p:nvPr>
        </p:nvSpPr>
        <p:spPr>
          <a:xfrm>
            <a:off x="7833248" y="1151407"/>
            <a:ext cx="4355700" cy="845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During flash, signals around -15 mV. </a:t>
            </a:r>
            <a:br>
              <a:rPr lang="en"/>
            </a:br>
            <a:r>
              <a:rPr lang="en"/>
              <a:t>Much too large for our DREAM DAQ!</a:t>
            </a:r>
            <a:endParaRPr/>
          </a:p>
        </p:txBody>
      </p:sp>
      <p:sp>
        <p:nvSpPr>
          <p:cNvPr id="357" name="Google Shape;357;p34"/>
          <p:cNvSpPr txBox="1"/>
          <p:nvPr>
            <p:ph idx="12" type="sldNum"/>
          </p:nvPr>
        </p:nvSpPr>
        <p:spPr>
          <a:xfrm>
            <a:off x="11042108" y="6537888"/>
            <a:ext cx="731400" cy="320100"/>
          </a:xfrm>
          <a:prstGeom prst="rect">
            <a:avLst/>
          </a:prstGeom>
        </p:spPr>
        <p:txBody>
          <a:bodyPr anchorCtr="0" anchor="b" bIns="64000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58" name="Google Shape;358;p34" title="waveforms_with_HV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449101"/>
            <a:ext cx="12188952" cy="408329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4"/>
          <p:cNvSpPr txBox="1"/>
          <p:nvPr/>
        </p:nvSpPr>
        <p:spPr>
          <a:xfrm>
            <a:off x="9318000" y="103075"/>
            <a:ext cx="2709000" cy="9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Helium Ethane Gas (96.5/3.5)</a:t>
            </a:r>
            <a:endParaRPr sz="1500"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30 mm drift gap</a:t>
            </a:r>
            <a:br>
              <a:rPr lang="en" sz="15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sz="15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Aluminum Frame</a:t>
            </a:r>
            <a:endParaRPr sz="1500"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0" name="Google Shape;360;p34"/>
          <p:cNvSpPr/>
          <p:nvPr/>
        </p:nvSpPr>
        <p:spPr>
          <a:xfrm>
            <a:off x="2275850" y="1936140"/>
            <a:ext cx="7467600" cy="5226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chemeClr val="dk1"/>
              </a:gs>
              <a:gs pos="100000">
                <a:srgbClr val="FFFF00"/>
              </a:gs>
            </a:gsLst>
            <a:lin ang="0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Average"/>
                <a:ea typeface="Average"/>
                <a:cs typeface="Average"/>
                <a:sym typeface="Average"/>
              </a:rPr>
              <a:t>Larger Amplification Field</a:t>
            </a:r>
            <a:endParaRPr b="1" sz="1500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361" name="Google Shape;361;p34"/>
          <p:cNvSpPr txBox="1"/>
          <p:nvPr/>
        </p:nvSpPr>
        <p:spPr>
          <a:xfrm>
            <a:off x="2042175" y="2941175"/>
            <a:ext cx="1248900" cy="259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Average"/>
                <a:ea typeface="Average"/>
                <a:cs typeface="Average"/>
                <a:sym typeface="Average"/>
              </a:rPr>
              <a:t>See some hits</a:t>
            </a:r>
            <a:endParaRPr sz="1600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362" name="Google Shape;362;p34"/>
          <p:cNvSpPr txBox="1"/>
          <p:nvPr/>
        </p:nvSpPr>
        <p:spPr>
          <a:xfrm>
            <a:off x="5252725" y="2732855"/>
            <a:ext cx="1035600" cy="2643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Average"/>
                <a:ea typeface="Average"/>
                <a:cs typeface="Average"/>
                <a:sym typeface="Average"/>
              </a:rPr>
              <a:t>M</a:t>
            </a:r>
            <a:r>
              <a:rPr lang="en" sz="1600">
                <a:latin typeface="Average"/>
                <a:ea typeface="Average"/>
                <a:cs typeface="Average"/>
                <a:sym typeface="Average"/>
              </a:rPr>
              <a:t>any hits</a:t>
            </a:r>
            <a:endParaRPr sz="1600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363" name="Google Shape;363;p34"/>
          <p:cNvSpPr txBox="1"/>
          <p:nvPr/>
        </p:nvSpPr>
        <p:spPr>
          <a:xfrm>
            <a:off x="8026400" y="2928425"/>
            <a:ext cx="1035600" cy="5226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Average"/>
                <a:ea typeface="Average"/>
                <a:cs typeface="Average"/>
                <a:sym typeface="Average"/>
              </a:rPr>
              <a:t>No</a:t>
            </a:r>
            <a:r>
              <a:rPr lang="en" sz="1600">
                <a:latin typeface="Average"/>
                <a:ea typeface="Average"/>
                <a:cs typeface="Average"/>
                <a:sym typeface="Average"/>
              </a:rPr>
              <a:t> hits at late times</a:t>
            </a:r>
            <a:endParaRPr sz="1600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364" name="Google Shape;364;p34"/>
          <p:cNvSpPr txBox="1"/>
          <p:nvPr/>
        </p:nvSpPr>
        <p:spPr>
          <a:xfrm>
            <a:off x="10474950" y="2966675"/>
            <a:ext cx="1035600" cy="5226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Average"/>
                <a:ea typeface="Average"/>
                <a:cs typeface="Average"/>
                <a:sym typeface="Average"/>
              </a:rPr>
              <a:t>DAQ saturation</a:t>
            </a:r>
            <a:endParaRPr sz="1600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365" name="Google Shape;365;p34"/>
          <p:cNvSpPr txBox="1"/>
          <p:nvPr>
            <p:ph idx="2" type="body"/>
          </p:nvPr>
        </p:nvSpPr>
        <p:spPr>
          <a:xfrm>
            <a:off x="131975" y="1198875"/>
            <a:ext cx="7254300" cy="6729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When amplification field is too high, </a:t>
            </a:r>
            <a:r>
              <a:rPr lang="en">
                <a:solidFill>
                  <a:srgbClr val="FFFF00"/>
                </a:solidFill>
              </a:rPr>
              <a:t>DAQ </a:t>
            </a:r>
            <a:r>
              <a:rPr b="1" lang="en">
                <a:solidFill>
                  <a:srgbClr val="FFFF00"/>
                </a:solidFill>
              </a:rPr>
              <a:t>saturates</a:t>
            </a:r>
            <a:r>
              <a:rPr lang="en"/>
              <a:t> and sees no hits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5"/>
          <p:cNvSpPr txBox="1"/>
          <p:nvPr>
            <p:ph type="title"/>
          </p:nvPr>
        </p:nvSpPr>
        <p:spPr>
          <a:xfrm>
            <a:off x="415496" y="182880"/>
            <a:ext cx="11358000" cy="7635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500"/>
              <a:t>Big Question: Can We Detect Signal Before DAQ Saturation?</a:t>
            </a:r>
            <a:endParaRPr sz="3500"/>
          </a:p>
        </p:txBody>
      </p:sp>
      <p:sp>
        <p:nvSpPr>
          <p:cNvPr id="371" name="Google Shape;371;p35"/>
          <p:cNvSpPr txBox="1"/>
          <p:nvPr>
            <p:ph idx="1" type="body"/>
          </p:nvPr>
        </p:nvSpPr>
        <p:spPr>
          <a:xfrm>
            <a:off x="415500" y="1323265"/>
            <a:ext cx="10809600" cy="18924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At what Resist Bias HV do we begin to see ~5-15 MeV electron/positrons? (MIPs)</a:t>
            </a:r>
            <a:br>
              <a:rPr lang="en" sz="2300"/>
            </a:b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At what Resist Bias HV does the DREAM DAQ saturate?</a:t>
            </a:r>
            <a:endParaRPr sz="2300"/>
          </a:p>
        </p:txBody>
      </p:sp>
      <p:sp>
        <p:nvSpPr>
          <p:cNvPr id="372" name="Google Shape;372;p35"/>
          <p:cNvSpPr txBox="1"/>
          <p:nvPr>
            <p:ph idx="12" type="sldNum"/>
          </p:nvPr>
        </p:nvSpPr>
        <p:spPr>
          <a:xfrm>
            <a:off x="11042108" y="6537888"/>
            <a:ext cx="731400" cy="320100"/>
          </a:xfrm>
          <a:prstGeom prst="rect">
            <a:avLst/>
          </a:prstGeom>
        </p:spPr>
        <p:txBody>
          <a:bodyPr anchorCtr="0" anchor="b" bIns="64000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73" name="Google Shape;373;p35"/>
          <p:cNvCxnSpPr/>
          <p:nvPr/>
        </p:nvCxnSpPr>
        <p:spPr>
          <a:xfrm>
            <a:off x="4567895" y="6072985"/>
            <a:ext cx="7313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4" name="Google Shape;374;p35"/>
          <p:cNvCxnSpPr/>
          <p:nvPr/>
        </p:nvCxnSpPr>
        <p:spPr>
          <a:xfrm rot="10800000">
            <a:off x="7691685" y="5171810"/>
            <a:ext cx="0" cy="911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5" name="Google Shape;375;p35"/>
          <p:cNvSpPr txBox="1"/>
          <p:nvPr/>
        </p:nvSpPr>
        <p:spPr>
          <a:xfrm>
            <a:off x="6192310" y="5171810"/>
            <a:ext cx="12843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0000"/>
                </a:solidFill>
                <a:latin typeface="Average"/>
                <a:ea typeface="Average"/>
                <a:cs typeface="Average"/>
                <a:sym typeface="Average"/>
              </a:rPr>
              <a:t>Dream Saturates</a:t>
            </a:r>
            <a:endParaRPr sz="2000">
              <a:solidFill>
                <a:srgbClr val="FF00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376" name="Google Shape;376;p35"/>
          <p:cNvCxnSpPr/>
          <p:nvPr/>
        </p:nvCxnSpPr>
        <p:spPr>
          <a:xfrm rot="10800000">
            <a:off x="8243535" y="5171810"/>
            <a:ext cx="0" cy="911400"/>
          </a:xfrm>
          <a:prstGeom prst="straightConnector1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7" name="Google Shape;377;p35"/>
          <p:cNvSpPr txBox="1"/>
          <p:nvPr/>
        </p:nvSpPr>
        <p:spPr>
          <a:xfrm>
            <a:off x="8499585" y="5171810"/>
            <a:ext cx="12843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FF00"/>
                </a:solidFill>
                <a:latin typeface="Average"/>
                <a:ea typeface="Average"/>
                <a:cs typeface="Average"/>
                <a:sym typeface="Average"/>
              </a:rPr>
              <a:t>Electron Efficient</a:t>
            </a:r>
            <a:endParaRPr sz="2000">
              <a:solidFill>
                <a:srgbClr val="00FF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378" name="Google Shape;378;p35"/>
          <p:cNvCxnSpPr/>
          <p:nvPr/>
        </p:nvCxnSpPr>
        <p:spPr>
          <a:xfrm>
            <a:off x="4569920" y="4683725"/>
            <a:ext cx="7313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9" name="Google Shape;379;p35"/>
          <p:cNvSpPr txBox="1"/>
          <p:nvPr/>
        </p:nvSpPr>
        <p:spPr>
          <a:xfrm>
            <a:off x="7610950" y="4632925"/>
            <a:ext cx="39345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6"/>
                </a:solidFill>
                <a:latin typeface="Average"/>
                <a:ea typeface="Average"/>
                <a:cs typeface="Average"/>
                <a:sym typeface="Average"/>
              </a:rPr>
              <a:t>Amplification (Resist) </a:t>
            </a:r>
            <a:r>
              <a:rPr lang="en" sz="2400">
                <a:solidFill>
                  <a:schemeClr val="accent6"/>
                </a:solidFill>
                <a:latin typeface="Average"/>
                <a:ea typeface="Average"/>
                <a:cs typeface="Average"/>
                <a:sym typeface="Average"/>
              </a:rPr>
              <a:t>HV</a:t>
            </a:r>
            <a:endParaRPr sz="2400">
              <a:solidFill>
                <a:schemeClr val="accent6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380" name="Google Shape;380;p35"/>
          <p:cNvCxnSpPr/>
          <p:nvPr/>
        </p:nvCxnSpPr>
        <p:spPr>
          <a:xfrm rot="10800000">
            <a:off x="8243535" y="3772324"/>
            <a:ext cx="0" cy="911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1" name="Google Shape;381;p35"/>
          <p:cNvSpPr txBox="1"/>
          <p:nvPr/>
        </p:nvSpPr>
        <p:spPr>
          <a:xfrm>
            <a:off x="8391760" y="3846274"/>
            <a:ext cx="12843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0000"/>
                </a:solidFill>
                <a:latin typeface="Average"/>
                <a:ea typeface="Average"/>
                <a:cs typeface="Average"/>
                <a:sym typeface="Average"/>
              </a:rPr>
              <a:t>Dream Saturates</a:t>
            </a:r>
            <a:endParaRPr sz="2000">
              <a:solidFill>
                <a:srgbClr val="FF00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382" name="Google Shape;382;p35"/>
          <p:cNvCxnSpPr/>
          <p:nvPr/>
        </p:nvCxnSpPr>
        <p:spPr>
          <a:xfrm rot="10800000">
            <a:off x="7691685" y="3772324"/>
            <a:ext cx="0" cy="911400"/>
          </a:xfrm>
          <a:prstGeom prst="straightConnector1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3" name="Google Shape;383;p35"/>
          <p:cNvSpPr txBox="1"/>
          <p:nvPr/>
        </p:nvSpPr>
        <p:spPr>
          <a:xfrm>
            <a:off x="6192310" y="3846274"/>
            <a:ext cx="12843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FF00"/>
                </a:solidFill>
                <a:latin typeface="Average"/>
                <a:ea typeface="Average"/>
                <a:cs typeface="Average"/>
                <a:sym typeface="Average"/>
              </a:rPr>
              <a:t>Electron Efficient</a:t>
            </a:r>
            <a:endParaRPr sz="2000">
              <a:solidFill>
                <a:srgbClr val="00FF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384" name="Google Shape;384;p35"/>
          <p:cNvSpPr txBox="1"/>
          <p:nvPr/>
        </p:nvSpPr>
        <p:spPr>
          <a:xfrm>
            <a:off x="215075" y="4019275"/>
            <a:ext cx="4219800" cy="6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6"/>
                </a:solidFill>
                <a:latin typeface="Average"/>
                <a:ea typeface="Average"/>
                <a:cs typeface="Average"/>
                <a:sym typeface="Average"/>
              </a:rPr>
              <a:t>We can make the measurement</a:t>
            </a:r>
            <a:endParaRPr sz="2400">
              <a:solidFill>
                <a:schemeClr val="accent6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385" name="Google Shape;385;p35"/>
          <p:cNvSpPr txBox="1"/>
          <p:nvPr/>
        </p:nvSpPr>
        <p:spPr>
          <a:xfrm>
            <a:off x="61450" y="5275885"/>
            <a:ext cx="4752300" cy="6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6"/>
                </a:solidFill>
                <a:latin typeface="Average"/>
                <a:ea typeface="Average"/>
                <a:cs typeface="Average"/>
                <a:sym typeface="Average"/>
              </a:rPr>
              <a:t>We can </a:t>
            </a:r>
            <a:r>
              <a:rPr b="1" lang="en" sz="2400">
                <a:solidFill>
                  <a:schemeClr val="accent6"/>
                </a:solidFill>
                <a:latin typeface="Average"/>
                <a:ea typeface="Average"/>
                <a:cs typeface="Average"/>
                <a:sym typeface="Average"/>
              </a:rPr>
              <a:t>not</a:t>
            </a:r>
            <a:r>
              <a:rPr lang="en" sz="2400">
                <a:solidFill>
                  <a:schemeClr val="accent6"/>
                </a:solidFill>
                <a:latin typeface="Average"/>
                <a:ea typeface="Average"/>
                <a:cs typeface="Average"/>
                <a:sym typeface="Average"/>
              </a:rPr>
              <a:t> make the measurement</a:t>
            </a:r>
            <a:endParaRPr sz="2400">
              <a:solidFill>
                <a:schemeClr val="accent6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descr="a green icon with a white check mark inside of it (Provided by Tenor)" id="386" name="Google Shape;38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1700" y="4072858"/>
            <a:ext cx="498225" cy="498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red cross on a white background that says x (Provided by Tenor)" id="387" name="Google Shape;387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4548" y="5275860"/>
            <a:ext cx="605383" cy="60540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35"/>
          <p:cNvSpPr txBox="1"/>
          <p:nvPr/>
        </p:nvSpPr>
        <p:spPr>
          <a:xfrm>
            <a:off x="2687075" y="3047250"/>
            <a:ext cx="2799300" cy="4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FF00"/>
                </a:solidFill>
                <a:latin typeface="Average"/>
                <a:ea typeface="Average"/>
                <a:cs typeface="Average"/>
                <a:sym typeface="Average"/>
              </a:rPr>
              <a:t>Need Calibration!</a:t>
            </a:r>
            <a:endParaRPr b="1" sz="2000">
              <a:solidFill>
                <a:srgbClr val="00FF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389" name="Google Shape;389;p35"/>
          <p:cNvCxnSpPr/>
          <p:nvPr/>
        </p:nvCxnSpPr>
        <p:spPr>
          <a:xfrm>
            <a:off x="5039350" y="3322325"/>
            <a:ext cx="1331100" cy="721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0" name="Google Shape;390;p35"/>
          <p:cNvCxnSpPr/>
          <p:nvPr/>
        </p:nvCxnSpPr>
        <p:spPr>
          <a:xfrm>
            <a:off x="0" y="5140970"/>
            <a:ext cx="1218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1" name="Google Shape;391;p35"/>
          <p:cNvSpPr txBox="1"/>
          <p:nvPr/>
        </p:nvSpPr>
        <p:spPr>
          <a:xfrm>
            <a:off x="7691678" y="6060325"/>
            <a:ext cx="38538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6"/>
                </a:solidFill>
                <a:latin typeface="Average"/>
                <a:ea typeface="Average"/>
                <a:cs typeface="Average"/>
                <a:sym typeface="Average"/>
              </a:rPr>
              <a:t>Amplification </a:t>
            </a:r>
            <a:r>
              <a:rPr lang="en" sz="2400">
                <a:solidFill>
                  <a:schemeClr val="accent6"/>
                </a:solidFill>
                <a:latin typeface="Average"/>
                <a:ea typeface="Average"/>
                <a:cs typeface="Average"/>
                <a:sym typeface="Average"/>
              </a:rPr>
              <a:t>(Resist)</a:t>
            </a:r>
            <a:r>
              <a:rPr lang="en" sz="2400">
                <a:solidFill>
                  <a:schemeClr val="accent6"/>
                </a:solidFill>
                <a:latin typeface="Average"/>
                <a:ea typeface="Average"/>
                <a:cs typeface="Average"/>
                <a:sym typeface="Average"/>
              </a:rPr>
              <a:t> HV</a:t>
            </a:r>
            <a:endParaRPr sz="2400">
              <a:solidFill>
                <a:schemeClr val="accent6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392" name="Google Shape;392;p35"/>
          <p:cNvCxnSpPr/>
          <p:nvPr/>
        </p:nvCxnSpPr>
        <p:spPr>
          <a:xfrm>
            <a:off x="3600" y="3031245"/>
            <a:ext cx="1218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6"/>
          <p:cNvSpPr txBox="1"/>
          <p:nvPr>
            <p:ph type="title"/>
          </p:nvPr>
        </p:nvSpPr>
        <p:spPr>
          <a:xfrm>
            <a:off x="415496" y="182880"/>
            <a:ext cx="11358000" cy="7635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Calibration Schemes (Helium/Ethane)</a:t>
            </a:r>
            <a:endParaRPr/>
          </a:p>
        </p:txBody>
      </p:sp>
      <p:sp>
        <p:nvSpPr>
          <p:cNvPr id="398" name="Google Shape;398;p36"/>
          <p:cNvSpPr txBox="1"/>
          <p:nvPr>
            <p:ph idx="1" type="body"/>
          </p:nvPr>
        </p:nvSpPr>
        <p:spPr>
          <a:xfrm>
            <a:off x="381275" y="1289585"/>
            <a:ext cx="5331900" cy="47541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Run with beam, ignore gamma flash triggers and focus on thermals </a:t>
            </a:r>
            <a:endParaRPr/>
          </a:p>
          <a:p>
            <a:pPr indent="-349250" lvl="0" marL="457200" rtl="0" algn="l">
              <a:spcBef>
                <a:spcPts val="1600"/>
              </a:spcBef>
              <a:spcAft>
                <a:spcPts val="0"/>
              </a:spcAft>
              <a:buSzPts val="1900"/>
              <a:buChar char="●"/>
            </a:pPr>
            <a:r>
              <a:rPr lang="en"/>
              <a:t>Trigger on one of the scintillator SiPM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/>
              <a:t>Reject any event with more than 8 strips hit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/>
              <a:t>If any strip is hit, count as a coincidence</a:t>
            </a:r>
            <a:endParaRPr/>
          </a:p>
        </p:txBody>
      </p:sp>
      <p:sp>
        <p:nvSpPr>
          <p:cNvPr id="399" name="Google Shape;399;p36"/>
          <p:cNvSpPr txBox="1"/>
          <p:nvPr>
            <p:ph idx="2" type="body"/>
          </p:nvPr>
        </p:nvSpPr>
        <p:spPr>
          <a:xfrm>
            <a:off x="6475750" y="1996286"/>
            <a:ext cx="5331900" cy="38220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Run without beam, self-triggering with Cs-137</a:t>
            </a:r>
            <a:endParaRPr/>
          </a:p>
          <a:p>
            <a:pPr indent="-349250" lvl="0" marL="457200" rtl="0" algn="l">
              <a:spcBef>
                <a:spcPts val="1600"/>
              </a:spcBef>
              <a:spcAft>
                <a:spcPts val="0"/>
              </a:spcAft>
              <a:buSzPts val="1900"/>
              <a:buChar char="●"/>
            </a:pPr>
            <a:r>
              <a:rPr lang="en"/>
              <a:t>Select events with less than 400 hits to filter out full detector discharging</a:t>
            </a:r>
            <a:endParaRPr/>
          </a:p>
        </p:txBody>
      </p:sp>
      <p:sp>
        <p:nvSpPr>
          <p:cNvPr id="400" name="Google Shape;400;p36"/>
          <p:cNvSpPr txBox="1"/>
          <p:nvPr>
            <p:ph idx="12" type="sldNum"/>
          </p:nvPr>
        </p:nvSpPr>
        <p:spPr>
          <a:xfrm>
            <a:off x="11042108" y="6537888"/>
            <a:ext cx="731400" cy="320100"/>
          </a:xfrm>
          <a:prstGeom prst="rect">
            <a:avLst/>
          </a:prstGeom>
        </p:spPr>
        <p:txBody>
          <a:bodyPr anchorCtr="0" anchor="b" bIns="64000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01" name="Google Shape;401;p36" title="Cs137_He_Ethane_6mm_run9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4475" y="3458185"/>
            <a:ext cx="6094450" cy="304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36" title="Beam_Scintillator_He_Ethane_6mm_run9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458173"/>
            <a:ext cx="6094475" cy="3047238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36"/>
          <p:cNvSpPr txBox="1"/>
          <p:nvPr/>
        </p:nvSpPr>
        <p:spPr>
          <a:xfrm>
            <a:off x="8101375" y="182875"/>
            <a:ext cx="3809700" cy="1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00"/>
                </a:solidFill>
                <a:latin typeface="Average"/>
                <a:ea typeface="Average"/>
                <a:cs typeface="Average"/>
                <a:sym typeface="Average"/>
              </a:rPr>
              <a:t>Don’t really trust either of these calibration methods, but they’re all we have</a:t>
            </a:r>
            <a:endParaRPr sz="2400">
              <a:solidFill>
                <a:srgbClr val="FFFF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7"/>
          <p:cNvSpPr txBox="1"/>
          <p:nvPr>
            <p:ph type="title"/>
          </p:nvPr>
        </p:nvSpPr>
        <p:spPr>
          <a:xfrm>
            <a:off x="415496" y="182880"/>
            <a:ext cx="11358000" cy="7635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DREAM Saturation in Helium/Ethane</a:t>
            </a:r>
            <a:endParaRPr/>
          </a:p>
        </p:txBody>
      </p:sp>
      <p:sp>
        <p:nvSpPr>
          <p:cNvPr id="409" name="Google Shape;409;p37"/>
          <p:cNvSpPr txBox="1"/>
          <p:nvPr>
            <p:ph idx="1" type="body"/>
          </p:nvPr>
        </p:nvSpPr>
        <p:spPr>
          <a:xfrm>
            <a:off x="169700" y="1065475"/>
            <a:ext cx="11859900" cy="6111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100"/>
              <a:t>Compare turn off curves in Helium/Ethane (96.5/3.5) to turn on calibration curves. </a:t>
            </a:r>
            <a:r>
              <a:rPr b="1" lang="en" sz="2100">
                <a:solidFill>
                  <a:srgbClr val="FFFF00"/>
                </a:solidFill>
              </a:rPr>
              <a:t>Not quite overlap!</a:t>
            </a:r>
            <a:endParaRPr b="1" sz="2100">
              <a:solidFill>
                <a:srgbClr val="FFFF00"/>
              </a:solidFill>
            </a:endParaRPr>
          </a:p>
        </p:txBody>
      </p:sp>
      <p:sp>
        <p:nvSpPr>
          <p:cNvPr id="410" name="Google Shape;410;p37"/>
          <p:cNvSpPr txBox="1"/>
          <p:nvPr>
            <p:ph idx="12" type="sldNum"/>
          </p:nvPr>
        </p:nvSpPr>
        <p:spPr>
          <a:xfrm>
            <a:off x="11042108" y="6537888"/>
            <a:ext cx="731400" cy="320100"/>
          </a:xfrm>
          <a:prstGeom prst="rect">
            <a:avLst/>
          </a:prstGeom>
        </p:spPr>
        <p:txBody>
          <a:bodyPr anchorCtr="0" anchor="b" bIns="64000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11" name="Google Shape;411;p37" title="Helium_Ethane_Turn_Off_Turn_On_Pl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" y="1782089"/>
            <a:ext cx="12188950" cy="4788516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37"/>
          <p:cNvSpPr/>
          <p:nvPr/>
        </p:nvSpPr>
        <p:spPr>
          <a:xfrm>
            <a:off x="10256475" y="1984150"/>
            <a:ext cx="1343100" cy="4039500"/>
          </a:xfrm>
          <a:prstGeom prst="rect">
            <a:avLst/>
          </a:prstGeom>
          <a:solidFill>
            <a:srgbClr val="3CFF1C">
              <a:alpha val="246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413" name="Google Shape;413;p37"/>
          <p:cNvSpPr/>
          <p:nvPr/>
        </p:nvSpPr>
        <p:spPr>
          <a:xfrm>
            <a:off x="2726925" y="1984150"/>
            <a:ext cx="6013200" cy="4039500"/>
          </a:xfrm>
          <a:prstGeom prst="rect">
            <a:avLst/>
          </a:prstGeom>
          <a:solidFill>
            <a:srgbClr val="FFE21C">
              <a:alpha val="246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8"/>
          <p:cNvSpPr txBox="1"/>
          <p:nvPr>
            <p:ph type="title"/>
          </p:nvPr>
        </p:nvSpPr>
        <p:spPr>
          <a:xfrm>
            <a:off x="415496" y="182880"/>
            <a:ext cx="11358000" cy="7635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Solution: Smaller Drift Gap?</a:t>
            </a:r>
            <a:endParaRPr/>
          </a:p>
        </p:txBody>
      </p:sp>
      <p:sp>
        <p:nvSpPr>
          <p:cNvPr id="419" name="Google Shape;419;p38"/>
          <p:cNvSpPr txBox="1"/>
          <p:nvPr>
            <p:ph idx="1" type="body"/>
          </p:nvPr>
        </p:nvSpPr>
        <p:spPr>
          <a:xfrm>
            <a:off x="731875" y="880275"/>
            <a:ext cx="10558200" cy="8952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00FFFF"/>
                </a:solidFill>
              </a:rPr>
              <a:t>Firm Conclusion:</a:t>
            </a:r>
            <a:r>
              <a:rPr lang="en"/>
              <a:t> At lower drift gap, DREAM DAQ survives to higher HV. </a:t>
            </a:r>
            <a:br>
              <a:rPr lang="en"/>
            </a:br>
            <a:r>
              <a:rPr lang="en">
                <a:solidFill>
                  <a:srgbClr val="00FF00"/>
                </a:solidFill>
              </a:rPr>
              <a:t>Question:</a:t>
            </a:r>
            <a:r>
              <a:rPr lang="en"/>
              <a:t> Can we extrapolate this dependence? Will we survive to e</a:t>
            </a:r>
            <a:r>
              <a:rPr baseline="30000" lang="en"/>
              <a:t>+</a:t>
            </a:r>
            <a:r>
              <a:rPr lang="en"/>
              <a:t>e</a:t>
            </a:r>
            <a:r>
              <a:rPr baseline="30000" lang="en"/>
              <a:t>-</a:t>
            </a:r>
            <a:r>
              <a:rPr lang="en"/>
              <a:t> efficiency with 3mm drift gap?</a:t>
            </a:r>
            <a:endParaRPr/>
          </a:p>
        </p:txBody>
      </p:sp>
      <p:sp>
        <p:nvSpPr>
          <p:cNvPr id="420" name="Google Shape;420;p38"/>
          <p:cNvSpPr txBox="1"/>
          <p:nvPr>
            <p:ph idx="12" type="sldNum"/>
          </p:nvPr>
        </p:nvSpPr>
        <p:spPr>
          <a:xfrm>
            <a:off x="11042108" y="6537888"/>
            <a:ext cx="731400" cy="320100"/>
          </a:xfrm>
          <a:prstGeom prst="rect">
            <a:avLst/>
          </a:prstGeom>
        </p:spPr>
        <p:txBody>
          <a:bodyPr anchorCtr="0" anchor="b" bIns="64000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21" name="Google Shape;421;p38" title="Helium_Turn_Off_vs_Drift_Ga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1975" y="1775400"/>
            <a:ext cx="9525000" cy="476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9"/>
          <p:cNvSpPr txBox="1"/>
          <p:nvPr>
            <p:ph type="title"/>
          </p:nvPr>
        </p:nvSpPr>
        <p:spPr>
          <a:xfrm>
            <a:off x="415496" y="182880"/>
            <a:ext cx="11358000" cy="7635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Cost of Lower Drift and Fewer Strips</a:t>
            </a:r>
            <a:endParaRPr/>
          </a:p>
        </p:txBody>
      </p:sp>
      <p:sp>
        <p:nvSpPr>
          <p:cNvPr id="427" name="Google Shape;427;p39"/>
          <p:cNvSpPr txBox="1"/>
          <p:nvPr>
            <p:ph idx="1" type="body"/>
          </p:nvPr>
        </p:nvSpPr>
        <p:spPr>
          <a:xfrm>
            <a:off x="0" y="1526400"/>
            <a:ext cx="3674400" cy="45552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May have to reduce drift gap to keep DREAM alive. </a:t>
            </a:r>
            <a:endParaRPr sz="22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200"/>
              <a:t>The consequence is degrading angular </a:t>
            </a:r>
            <a:r>
              <a:rPr lang="en" sz="2200"/>
              <a:t>resolution</a:t>
            </a:r>
            <a:r>
              <a:rPr lang="en" sz="2200"/>
              <a:t> on micro-TPC mode.</a:t>
            </a:r>
            <a:endParaRPr sz="22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700"/>
              <a:t>(</a:t>
            </a:r>
            <a:r>
              <a:rPr lang="en" sz="1700"/>
              <a:t>May also have to reduce number of strips read out due to DAQ availability.)</a:t>
            </a:r>
            <a:endParaRPr sz="1700"/>
          </a:p>
        </p:txBody>
      </p:sp>
      <p:sp>
        <p:nvSpPr>
          <p:cNvPr id="428" name="Google Shape;428;p39"/>
          <p:cNvSpPr txBox="1"/>
          <p:nvPr>
            <p:ph idx="12" type="sldNum"/>
          </p:nvPr>
        </p:nvSpPr>
        <p:spPr>
          <a:xfrm>
            <a:off x="11042108" y="6537888"/>
            <a:ext cx="731400" cy="320100"/>
          </a:xfrm>
          <a:prstGeom prst="rect">
            <a:avLst/>
          </a:prstGeom>
        </p:spPr>
        <p:txBody>
          <a:bodyPr anchorCtr="0" anchor="b" bIns="64000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29" name="Google Shape;429;p39" title="Angular_Resolution_vs_Drift_Gap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74254" y="1172488"/>
            <a:ext cx="8514695" cy="5108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39" title="angular_resolution_dead_are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20950" y="1985750"/>
            <a:ext cx="4610850" cy="249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0"/>
          <p:cNvSpPr txBox="1"/>
          <p:nvPr>
            <p:ph type="title"/>
          </p:nvPr>
        </p:nvSpPr>
        <p:spPr>
          <a:xfrm>
            <a:off x="415496" y="182880"/>
            <a:ext cx="11358000" cy="7635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Hit Mode?</a:t>
            </a:r>
            <a:endParaRPr/>
          </a:p>
        </p:txBody>
      </p:sp>
      <p:sp>
        <p:nvSpPr>
          <p:cNvPr id="436" name="Google Shape;436;p40"/>
          <p:cNvSpPr txBox="1"/>
          <p:nvPr>
            <p:ph idx="1" type="body"/>
          </p:nvPr>
        </p:nvSpPr>
        <p:spPr>
          <a:xfrm>
            <a:off x="0" y="1180300"/>
            <a:ext cx="3139500" cy="4995900"/>
          </a:xfrm>
          <a:prstGeom prst="rect">
            <a:avLst/>
          </a:prstGeom>
        </p:spPr>
        <p:txBody>
          <a:bodyPr anchorCtr="0" anchor="ctr" bIns="121875" lIns="121875" spcFirstLastPara="1" rIns="121875" wrap="square" tIns="1218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If we give up on tracks, can we operate in hit mode?</a:t>
            </a:r>
            <a:endParaRPr sz="21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100"/>
              <a:t>Highly dependent on input parameters, but should be able to simulate pair angular separation distribution. </a:t>
            </a:r>
            <a:endParaRPr sz="21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100"/>
              <a:t>See if hit mode is feasible – combinitorial background vs signal</a:t>
            </a:r>
            <a:endParaRPr sz="2100"/>
          </a:p>
        </p:txBody>
      </p:sp>
      <p:sp>
        <p:nvSpPr>
          <p:cNvPr id="437" name="Google Shape;437;p40"/>
          <p:cNvSpPr txBox="1"/>
          <p:nvPr>
            <p:ph idx="2" type="body"/>
          </p:nvPr>
        </p:nvSpPr>
        <p:spPr>
          <a:xfrm>
            <a:off x="6441588" y="1536633"/>
            <a:ext cx="5331900" cy="45552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40"/>
          <p:cNvSpPr txBox="1"/>
          <p:nvPr>
            <p:ph idx="12" type="sldNum"/>
          </p:nvPr>
        </p:nvSpPr>
        <p:spPr>
          <a:xfrm>
            <a:off x="11042108" y="6537888"/>
            <a:ext cx="731400" cy="320100"/>
          </a:xfrm>
          <a:prstGeom prst="rect">
            <a:avLst/>
          </a:prstGeom>
        </p:spPr>
        <p:txBody>
          <a:bodyPr anchorCtr="0" anchor="b" bIns="64000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39" name="Google Shape;439;p40" title="hit_mode_simula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9449" y="487750"/>
            <a:ext cx="8714227" cy="6050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1"/>
          <p:cNvSpPr txBox="1"/>
          <p:nvPr>
            <p:ph type="title"/>
          </p:nvPr>
        </p:nvSpPr>
        <p:spPr>
          <a:xfrm>
            <a:off x="415496" y="182880"/>
            <a:ext cx="11358000" cy="7635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Going Forward</a:t>
            </a:r>
            <a:endParaRPr/>
          </a:p>
        </p:txBody>
      </p:sp>
      <p:sp>
        <p:nvSpPr>
          <p:cNvPr id="445" name="Google Shape;445;p41"/>
          <p:cNvSpPr txBox="1"/>
          <p:nvPr>
            <p:ph idx="1" type="body"/>
          </p:nvPr>
        </p:nvSpPr>
        <p:spPr>
          <a:xfrm>
            <a:off x="222450" y="1007325"/>
            <a:ext cx="6249000" cy="31338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00"/>
                </a:solidFill>
              </a:rPr>
              <a:t>Key Problem:</a:t>
            </a:r>
            <a:r>
              <a:rPr lang="en" sz="2100"/>
              <a:t> DAQ Saturation Near Gamma Flash</a:t>
            </a:r>
            <a:endParaRPr sz="21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Possible Solutions:</a:t>
            </a:r>
            <a:endParaRPr/>
          </a:p>
          <a:p>
            <a:pPr indent="-349250" lvl="0" marL="457200" rtl="0" algn="l">
              <a:spcBef>
                <a:spcPts val="1600"/>
              </a:spcBef>
              <a:spcAft>
                <a:spcPts val="0"/>
              </a:spcAft>
              <a:buSzPts val="1900"/>
              <a:buChar char="●"/>
            </a:pPr>
            <a:r>
              <a:rPr lang="en"/>
              <a:t>Divert output signals to ground for start of flash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/>
              <a:t>Counteract the signal on the MM detector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/>
              <a:t>Find a “magic gas” which is less sensitive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/>
              <a:t>Use a small drift gap and go Hit Mode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/>
              <a:t>Consider a thermal measurement (~20% of statistics)</a:t>
            </a:r>
            <a:endParaRPr/>
          </a:p>
        </p:txBody>
      </p:sp>
      <p:sp>
        <p:nvSpPr>
          <p:cNvPr id="446" name="Google Shape;446;p41"/>
          <p:cNvSpPr txBox="1"/>
          <p:nvPr>
            <p:ph idx="2" type="body"/>
          </p:nvPr>
        </p:nvSpPr>
        <p:spPr>
          <a:xfrm>
            <a:off x="6725725" y="1007325"/>
            <a:ext cx="4976700" cy="29214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Challenges:</a:t>
            </a:r>
            <a:endParaRPr/>
          </a:p>
          <a:p>
            <a:pPr indent="-349250" lvl="0" marL="457200" rtl="0" algn="l">
              <a:spcBef>
                <a:spcPts val="1600"/>
              </a:spcBef>
              <a:spcAft>
                <a:spcPts val="0"/>
              </a:spcAft>
              <a:buSzPts val="1900"/>
              <a:buChar char="●"/>
            </a:pPr>
            <a:r>
              <a:rPr lang="en"/>
              <a:t>DREAM DAQ saturation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/>
              <a:t>Logistics – Need to build new DAQ and detectors at Saclay. Test and characterize.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/>
              <a:t>Need to think of a reliable way to calibrate detectors at n_TOF</a:t>
            </a:r>
            <a:endParaRPr/>
          </a:p>
        </p:txBody>
      </p:sp>
      <p:sp>
        <p:nvSpPr>
          <p:cNvPr id="447" name="Google Shape;447;p41"/>
          <p:cNvSpPr txBox="1"/>
          <p:nvPr>
            <p:ph idx="12" type="sldNum"/>
          </p:nvPr>
        </p:nvSpPr>
        <p:spPr>
          <a:xfrm>
            <a:off x="11042108" y="6537888"/>
            <a:ext cx="731400" cy="320100"/>
          </a:xfrm>
          <a:prstGeom prst="rect">
            <a:avLst/>
          </a:prstGeom>
        </p:spPr>
        <p:txBody>
          <a:bodyPr anchorCtr="0" anchor="b" bIns="64000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8" name="Google Shape;448;p41"/>
          <p:cNvSpPr txBox="1"/>
          <p:nvPr/>
        </p:nvSpPr>
        <p:spPr>
          <a:xfrm>
            <a:off x="5037450" y="2472550"/>
            <a:ext cx="12312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May Test</a:t>
            </a:r>
            <a:endParaRPr b="1" sz="2000">
              <a:solidFill>
                <a:srgbClr val="00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9" name="Google Shape;449;p41"/>
          <p:cNvSpPr txBox="1"/>
          <p:nvPr/>
        </p:nvSpPr>
        <p:spPr>
          <a:xfrm>
            <a:off x="5037450" y="2798049"/>
            <a:ext cx="12312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May Test</a:t>
            </a:r>
            <a:endParaRPr b="1" sz="2000">
              <a:solidFill>
                <a:srgbClr val="00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50" name="Google Shape;450;p41" title="x17_ntof_timelin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26" y="4203352"/>
            <a:ext cx="12147722" cy="260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2"/>
          <p:cNvSpPr txBox="1"/>
          <p:nvPr>
            <p:ph type="title"/>
          </p:nvPr>
        </p:nvSpPr>
        <p:spPr>
          <a:xfrm>
            <a:off x="373746" y="3047255"/>
            <a:ext cx="11358000" cy="7635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7000"/>
              <a:t>Backup</a:t>
            </a:r>
            <a:endParaRPr sz="7000"/>
          </a:p>
        </p:txBody>
      </p:sp>
      <p:sp>
        <p:nvSpPr>
          <p:cNvPr id="456" name="Google Shape;456;p42"/>
          <p:cNvSpPr txBox="1"/>
          <p:nvPr>
            <p:ph idx="12" type="sldNum"/>
          </p:nvPr>
        </p:nvSpPr>
        <p:spPr>
          <a:xfrm>
            <a:off x="11042108" y="6537888"/>
            <a:ext cx="731400" cy="320100"/>
          </a:xfrm>
          <a:prstGeom prst="rect">
            <a:avLst/>
          </a:prstGeom>
        </p:spPr>
        <p:txBody>
          <a:bodyPr anchorCtr="0" anchor="b" bIns="64000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43"/>
          <p:cNvSpPr txBox="1"/>
          <p:nvPr>
            <p:ph type="title"/>
          </p:nvPr>
        </p:nvSpPr>
        <p:spPr>
          <a:xfrm>
            <a:off x="415496" y="182880"/>
            <a:ext cx="11358000" cy="7635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Turn Off Later for Lower Intensity Bunches</a:t>
            </a:r>
            <a:endParaRPr/>
          </a:p>
        </p:txBody>
      </p:sp>
      <p:sp>
        <p:nvSpPr>
          <p:cNvPr id="462" name="Google Shape;462;p43"/>
          <p:cNvSpPr txBox="1"/>
          <p:nvPr>
            <p:ph idx="1" type="body"/>
          </p:nvPr>
        </p:nvSpPr>
        <p:spPr>
          <a:xfrm>
            <a:off x="415496" y="1536633"/>
            <a:ext cx="5331900" cy="45552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43"/>
          <p:cNvSpPr txBox="1"/>
          <p:nvPr>
            <p:ph idx="12" type="sldNum"/>
          </p:nvPr>
        </p:nvSpPr>
        <p:spPr>
          <a:xfrm>
            <a:off x="11042108" y="6537888"/>
            <a:ext cx="731400" cy="320100"/>
          </a:xfrm>
          <a:prstGeom prst="rect">
            <a:avLst/>
          </a:prstGeom>
        </p:spPr>
        <p:txBody>
          <a:bodyPr anchorCtr="0" anchor="b" bIns="64000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64" name="Google Shape;464;p43" title="He_30mm_carbon_target_intensity_dis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37750" y="0"/>
            <a:ext cx="3251200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43" title="He_30mm_carbon_target_intensity_turn_off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775400"/>
            <a:ext cx="9687549" cy="4843774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43"/>
          <p:cNvSpPr txBox="1"/>
          <p:nvPr/>
        </p:nvSpPr>
        <p:spPr>
          <a:xfrm>
            <a:off x="10522425" y="2333775"/>
            <a:ext cx="13308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6"/>
                </a:solidFill>
                <a:latin typeface="Average"/>
                <a:ea typeface="Average"/>
                <a:cs typeface="Average"/>
                <a:sym typeface="Average"/>
              </a:rPr>
              <a:t>10^10</a:t>
            </a:r>
            <a:endParaRPr sz="2400">
              <a:solidFill>
                <a:schemeClr val="accent6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4"/>
          <p:cNvSpPr txBox="1"/>
          <p:nvPr>
            <p:ph type="title"/>
          </p:nvPr>
        </p:nvSpPr>
        <p:spPr>
          <a:xfrm>
            <a:off x="415496" y="182880"/>
            <a:ext cx="11358000" cy="7635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Helium vs Argon Trade-off</a:t>
            </a:r>
            <a:endParaRPr/>
          </a:p>
        </p:txBody>
      </p:sp>
      <p:sp>
        <p:nvSpPr>
          <p:cNvPr id="472" name="Google Shape;472;p44"/>
          <p:cNvSpPr txBox="1"/>
          <p:nvPr>
            <p:ph idx="1" type="body"/>
          </p:nvPr>
        </p:nvSpPr>
        <p:spPr>
          <a:xfrm>
            <a:off x="415500" y="999326"/>
            <a:ext cx="5331900" cy="7635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Argon Gas - Timepix!</a:t>
            </a:r>
            <a:endParaRPr/>
          </a:p>
        </p:txBody>
      </p:sp>
      <p:sp>
        <p:nvSpPr>
          <p:cNvPr id="473" name="Google Shape;473;p44"/>
          <p:cNvSpPr txBox="1"/>
          <p:nvPr>
            <p:ph idx="12" type="sldNum"/>
          </p:nvPr>
        </p:nvSpPr>
        <p:spPr>
          <a:xfrm>
            <a:off x="11042108" y="6537888"/>
            <a:ext cx="731400" cy="320100"/>
          </a:xfrm>
          <a:prstGeom prst="rect">
            <a:avLst/>
          </a:prstGeom>
        </p:spPr>
        <p:txBody>
          <a:bodyPr anchorCtr="0" anchor="b" bIns="64000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74" name="Google Shape;47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48566"/>
            <a:ext cx="6044200" cy="362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85450" y="1648568"/>
            <a:ext cx="6044200" cy="3626524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44"/>
          <p:cNvSpPr txBox="1"/>
          <p:nvPr>
            <p:ph idx="1" type="body"/>
          </p:nvPr>
        </p:nvSpPr>
        <p:spPr>
          <a:xfrm>
            <a:off x="6441600" y="999326"/>
            <a:ext cx="5331900" cy="7635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Helium Gas - No Target</a:t>
            </a:r>
            <a:endParaRPr/>
          </a:p>
        </p:txBody>
      </p:sp>
      <p:sp>
        <p:nvSpPr>
          <p:cNvPr id="477" name="Google Shape;477;p44"/>
          <p:cNvSpPr txBox="1"/>
          <p:nvPr>
            <p:ph idx="1" type="body"/>
          </p:nvPr>
        </p:nvSpPr>
        <p:spPr>
          <a:xfrm>
            <a:off x="415500" y="5450175"/>
            <a:ext cx="5331900" cy="11439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Large prompt signal at flash</a:t>
            </a:r>
            <a:endParaRPr/>
          </a:p>
        </p:txBody>
      </p:sp>
      <p:sp>
        <p:nvSpPr>
          <p:cNvPr id="478" name="Google Shape;478;p44"/>
          <p:cNvSpPr txBox="1"/>
          <p:nvPr>
            <p:ph idx="1" type="body"/>
          </p:nvPr>
        </p:nvSpPr>
        <p:spPr>
          <a:xfrm>
            <a:off x="6441600" y="5450175"/>
            <a:ext cx="5331900" cy="11439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No large flash signal, many signals after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45"/>
          <p:cNvSpPr txBox="1"/>
          <p:nvPr>
            <p:ph type="title"/>
          </p:nvPr>
        </p:nvSpPr>
        <p:spPr>
          <a:xfrm>
            <a:off x="415496" y="182880"/>
            <a:ext cx="11358000" cy="7635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MX17 Detector 0 is Alive</a:t>
            </a:r>
            <a:endParaRPr/>
          </a:p>
        </p:txBody>
      </p:sp>
      <p:sp>
        <p:nvSpPr>
          <p:cNvPr id="484" name="Google Shape;484;p45"/>
          <p:cNvSpPr txBox="1"/>
          <p:nvPr>
            <p:ph idx="2" type="body"/>
          </p:nvPr>
        </p:nvSpPr>
        <p:spPr>
          <a:xfrm>
            <a:off x="6441588" y="1536633"/>
            <a:ext cx="5331900" cy="45552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45"/>
          <p:cNvSpPr txBox="1"/>
          <p:nvPr>
            <p:ph idx="12" type="sldNum"/>
          </p:nvPr>
        </p:nvSpPr>
        <p:spPr>
          <a:xfrm>
            <a:off x="11042108" y="6537888"/>
            <a:ext cx="731400" cy="320100"/>
          </a:xfrm>
          <a:prstGeom prst="rect">
            <a:avLst/>
          </a:prstGeom>
        </p:spPr>
        <p:txBody>
          <a:bodyPr anchorCtr="0" anchor="b" bIns="64000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86" name="Google Shape;486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991104"/>
            <a:ext cx="4294974" cy="3221225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45"/>
          <p:cNvSpPr txBox="1"/>
          <p:nvPr/>
        </p:nvSpPr>
        <p:spPr>
          <a:xfrm>
            <a:off x="1952375" y="2294454"/>
            <a:ext cx="2535000" cy="6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00"/>
                </a:solidFill>
                <a:latin typeface="Average"/>
                <a:ea typeface="Average"/>
                <a:cs typeface="Average"/>
                <a:sym typeface="Average"/>
              </a:rPr>
              <a:t>Resistive strips broken </a:t>
            </a:r>
            <a:br>
              <a:rPr lang="en" sz="1600">
                <a:solidFill>
                  <a:srgbClr val="FFFF00"/>
                </a:solidFill>
                <a:latin typeface="Average"/>
                <a:ea typeface="Average"/>
                <a:cs typeface="Average"/>
                <a:sym typeface="Average"/>
              </a:rPr>
            </a:br>
            <a:r>
              <a:rPr lang="en" sz="1600">
                <a:solidFill>
                  <a:srgbClr val="FFFF00"/>
                </a:solidFill>
                <a:latin typeface="Average"/>
                <a:ea typeface="Average"/>
                <a:cs typeface="Average"/>
                <a:sym typeface="Average"/>
              </a:rPr>
              <a:t>(no HV here)</a:t>
            </a:r>
            <a:endParaRPr sz="1600">
              <a:solidFill>
                <a:srgbClr val="FFFF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488" name="Google Shape;488;p45"/>
          <p:cNvSpPr txBox="1"/>
          <p:nvPr/>
        </p:nvSpPr>
        <p:spPr>
          <a:xfrm>
            <a:off x="222575" y="2255916"/>
            <a:ext cx="2065800" cy="6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00"/>
                </a:solidFill>
                <a:latin typeface="Average"/>
                <a:ea typeface="Average"/>
                <a:cs typeface="Average"/>
                <a:sym typeface="Average"/>
              </a:rPr>
              <a:t>M4 connector edge not making contact</a:t>
            </a:r>
            <a:endParaRPr sz="1600">
              <a:solidFill>
                <a:srgbClr val="FFFF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489" name="Google Shape;489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87825" y="613675"/>
            <a:ext cx="4775475" cy="286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92416" y="3659475"/>
            <a:ext cx="4496535" cy="2697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p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33188" y="3438225"/>
            <a:ext cx="3696324" cy="2772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4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46313" y="946375"/>
            <a:ext cx="3322475" cy="24918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3" name="Google Shape;493;p45"/>
          <p:cNvCxnSpPr/>
          <p:nvPr/>
        </p:nvCxnSpPr>
        <p:spPr>
          <a:xfrm>
            <a:off x="964350" y="2796379"/>
            <a:ext cx="28200" cy="1852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4" name="Google Shape;494;p45"/>
          <p:cNvCxnSpPr>
            <a:stCxn id="487" idx="2"/>
          </p:cNvCxnSpPr>
          <p:nvPr/>
        </p:nvCxnSpPr>
        <p:spPr>
          <a:xfrm flipH="1">
            <a:off x="2183675" y="2941254"/>
            <a:ext cx="1036200" cy="1030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5" name="Google Shape;495;p45"/>
          <p:cNvCxnSpPr>
            <a:stCxn id="487" idx="2"/>
          </p:cNvCxnSpPr>
          <p:nvPr/>
        </p:nvCxnSpPr>
        <p:spPr>
          <a:xfrm flipH="1">
            <a:off x="2475275" y="2941254"/>
            <a:ext cx="744600" cy="948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6" name="Google Shape;496;p45"/>
          <p:cNvCxnSpPr>
            <a:stCxn id="487" idx="2"/>
          </p:cNvCxnSpPr>
          <p:nvPr/>
        </p:nvCxnSpPr>
        <p:spPr>
          <a:xfrm>
            <a:off x="3219875" y="2941254"/>
            <a:ext cx="472200" cy="920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7" name="Google Shape;497;p45"/>
          <p:cNvSpPr txBox="1"/>
          <p:nvPr/>
        </p:nvSpPr>
        <p:spPr>
          <a:xfrm>
            <a:off x="30725" y="946375"/>
            <a:ext cx="4215600" cy="12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6"/>
                </a:solidFill>
                <a:latin typeface="Average"/>
                <a:ea typeface="Average"/>
                <a:cs typeface="Average"/>
                <a:sym typeface="Average"/>
              </a:rPr>
              <a:t>From </a:t>
            </a:r>
            <a:r>
              <a:rPr b="1" lang="en" sz="2400">
                <a:solidFill>
                  <a:srgbClr val="00FF00"/>
                </a:solidFill>
                <a:latin typeface="Average"/>
                <a:ea typeface="Average"/>
                <a:cs typeface="Average"/>
                <a:sym typeface="Average"/>
              </a:rPr>
              <a:t>Saclay cosmic bench.</a:t>
            </a:r>
            <a:r>
              <a:rPr lang="en" sz="2400">
                <a:solidFill>
                  <a:schemeClr val="accent6"/>
                </a:solidFill>
                <a:latin typeface="Average"/>
                <a:ea typeface="Average"/>
                <a:cs typeface="Average"/>
                <a:sym typeface="Average"/>
              </a:rPr>
              <a:t> </a:t>
            </a:r>
            <a:br>
              <a:rPr lang="en" sz="2400">
                <a:solidFill>
                  <a:schemeClr val="accent6"/>
                </a:solidFill>
                <a:latin typeface="Average"/>
                <a:ea typeface="Average"/>
                <a:cs typeface="Average"/>
                <a:sym typeface="Average"/>
              </a:rPr>
            </a:br>
            <a:r>
              <a:rPr lang="en" sz="2400">
                <a:solidFill>
                  <a:schemeClr val="accent6"/>
                </a:solidFill>
                <a:latin typeface="Average"/>
                <a:ea typeface="Average"/>
                <a:cs typeface="Average"/>
                <a:sym typeface="Average"/>
              </a:rPr>
              <a:t>See what we would expect for muon tracks in micro-TPC </a:t>
            </a:r>
            <a:endParaRPr sz="2400">
              <a:solidFill>
                <a:schemeClr val="accent6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498" name="Google Shape;498;p45"/>
          <p:cNvSpPr txBox="1"/>
          <p:nvPr/>
        </p:nvSpPr>
        <p:spPr>
          <a:xfrm>
            <a:off x="7172550" y="53375"/>
            <a:ext cx="2965500" cy="6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Single muon event</a:t>
            </a:r>
            <a:endParaRPr sz="20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6"/>
          <p:cNvSpPr txBox="1"/>
          <p:nvPr>
            <p:ph type="title"/>
          </p:nvPr>
        </p:nvSpPr>
        <p:spPr>
          <a:xfrm>
            <a:off x="415496" y="182880"/>
            <a:ext cx="11358000" cy="7635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Focus Has Been on High Energy</a:t>
            </a:r>
            <a:endParaRPr/>
          </a:p>
        </p:txBody>
      </p:sp>
      <p:sp>
        <p:nvSpPr>
          <p:cNvPr id="504" name="Google Shape;504;p46"/>
          <p:cNvSpPr txBox="1"/>
          <p:nvPr>
            <p:ph idx="1" type="body"/>
          </p:nvPr>
        </p:nvSpPr>
        <p:spPr>
          <a:xfrm>
            <a:off x="-1" y="1475200"/>
            <a:ext cx="3583800" cy="45552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looks like ~20% of statistics should be in thermals.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We haven’t spent time exploring a backup thermal measurement!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Unclear what is possible. Will DREAM even un-saturate in time?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Could test in May but would need to commit time.</a:t>
            </a:r>
            <a:endParaRPr/>
          </a:p>
        </p:txBody>
      </p:sp>
      <p:sp>
        <p:nvSpPr>
          <p:cNvPr id="505" name="Google Shape;505;p46"/>
          <p:cNvSpPr txBox="1"/>
          <p:nvPr>
            <p:ph idx="12" type="sldNum"/>
          </p:nvPr>
        </p:nvSpPr>
        <p:spPr>
          <a:xfrm>
            <a:off x="11042108" y="6537888"/>
            <a:ext cx="731400" cy="320100"/>
          </a:xfrm>
          <a:prstGeom prst="rect">
            <a:avLst/>
          </a:prstGeom>
        </p:spPr>
        <p:txBody>
          <a:bodyPr anchorCtr="0" anchor="b" bIns="64000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06" name="Google Shape;506;p46" title="x17_spectrum_readou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3850" y="1232700"/>
            <a:ext cx="8605100" cy="516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47"/>
          <p:cNvSpPr txBox="1"/>
          <p:nvPr>
            <p:ph type="title"/>
          </p:nvPr>
        </p:nvSpPr>
        <p:spPr>
          <a:xfrm>
            <a:off x="415496" y="182880"/>
            <a:ext cx="11358000" cy="7635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Bunch Intensity in 6mm Drift</a:t>
            </a:r>
            <a:endParaRPr/>
          </a:p>
        </p:txBody>
      </p:sp>
      <p:sp>
        <p:nvSpPr>
          <p:cNvPr id="512" name="Google Shape;512;p47"/>
          <p:cNvSpPr txBox="1"/>
          <p:nvPr>
            <p:ph idx="1" type="body"/>
          </p:nvPr>
        </p:nvSpPr>
        <p:spPr>
          <a:xfrm>
            <a:off x="415496" y="1536633"/>
            <a:ext cx="5331900" cy="45552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47"/>
          <p:cNvSpPr txBox="1"/>
          <p:nvPr>
            <p:ph idx="2" type="body"/>
          </p:nvPr>
        </p:nvSpPr>
        <p:spPr>
          <a:xfrm>
            <a:off x="6441588" y="1536633"/>
            <a:ext cx="5331900" cy="45552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47"/>
          <p:cNvSpPr txBox="1"/>
          <p:nvPr>
            <p:ph idx="12" type="sldNum"/>
          </p:nvPr>
        </p:nvSpPr>
        <p:spPr>
          <a:xfrm>
            <a:off x="11042108" y="6537888"/>
            <a:ext cx="731400" cy="320100"/>
          </a:xfrm>
          <a:prstGeom prst="rect">
            <a:avLst/>
          </a:prstGeom>
        </p:spPr>
        <p:txBody>
          <a:bodyPr anchorCtr="0" anchor="b" bIns="64000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15" name="Google Shape;515;p47" title="He_6mm_carbon_target_intensity_turn_off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450" y="1175200"/>
            <a:ext cx="10556100" cy="527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48"/>
          <p:cNvSpPr txBox="1"/>
          <p:nvPr>
            <p:ph type="title"/>
          </p:nvPr>
        </p:nvSpPr>
        <p:spPr>
          <a:xfrm>
            <a:off x="415496" y="182880"/>
            <a:ext cx="11358000" cy="7635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Experimental Challenges</a:t>
            </a:r>
            <a:endParaRPr/>
          </a:p>
        </p:txBody>
      </p:sp>
      <p:sp>
        <p:nvSpPr>
          <p:cNvPr id="521" name="Google Shape;521;p48"/>
          <p:cNvSpPr txBox="1"/>
          <p:nvPr>
            <p:ph idx="1" type="body"/>
          </p:nvPr>
        </p:nvSpPr>
        <p:spPr>
          <a:xfrm>
            <a:off x="-50132" y="1536625"/>
            <a:ext cx="5747400" cy="49383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/>
              <a:t>Unique background environment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Pulsed proton beam on target. All relativistic neutrons arrive together along with a “gamma flash”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Huge multiplicity of particles hit detector in very short time window, incredibly difficult to decouple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Need to find way to reduce background and retain signal (gas choice, amplification field, drift field, etc)</a:t>
            </a:r>
            <a:br>
              <a:rPr lang="en"/>
            </a:b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/>
              <a:t>Race to make measurement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Experiment was designed for μRwell detectors, but these faced logistical issues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Micromegas design, production and implementation has been </a:t>
            </a:r>
            <a:br>
              <a:rPr lang="en"/>
            </a:b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/>
              <a:t>Hope to make a definitive measurement!</a:t>
            </a:r>
            <a:endParaRPr/>
          </a:p>
        </p:txBody>
      </p:sp>
      <p:sp>
        <p:nvSpPr>
          <p:cNvPr id="522" name="Google Shape;522;p48"/>
          <p:cNvSpPr txBox="1"/>
          <p:nvPr>
            <p:ph idx="2" type="body"/>
          </p:nvPr>
        </p:nvSpPr>
        <p:spPr>
          <a:xfrm>
            <a:off x="6441588" y="1536633"/>
            <a:ext cx="5331900" cy="45552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48"/>
          <p:cNvSpPr txBox="1"/>
          <p:nvPr>
            <p:ph idx="12" type="sldNum"/>
          </p:nvPr>
        </p:nvSpPr>
        <p:spPr>
          <a:xfrm>
            <a:off x="11042108" y="6537888"/>
            <a:ext cx="731400" cy="320100"/>
          </a:xfrm>
          <a:prstGeom prst="rect">
            <a:avLst/>
          </a:prstGeom>
        </p:spPr>
        <p:txBody>
          <a:bodyPr anchorCtr="0" anchor="b" bIns="64000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24" name="Google Shape;524;p48" title="Screenshot from 2026-02-06 20-36-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0023" y="946375"/>
            <a:ext cx="6598926" cy="5528549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48"/>
          <p:cNvSpPr txBox="1"/>
          <p:nvPr/>
        </p:nvSpPr>
        <p:spPr>
          <a:xfrm>
            <a:off x="7737800" y="1710400"/>
            <a:ext cx="12795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Average"/>
                <a:ea typeface="Average"/>
                <a:cs typeface="Average"/>
                <a:sym typeface="Average"/>
              </a:rPr>
              <a:t>potential tracks</a:t>
            </a:r>
            <a:endParaRPr sz="1600"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526" name="Google Shape;526;p48"/>
          <p:cNvCxnSpPr/>
          <p:nvPr/>
        </p:nvCxnSpPr>
        <p:spPr>
          <a:xfrm rot="10800000">
            <a:off x="7082375" y="1526125"/>
            <a:ext cx="896100" cy="455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7" name="Google Shape;527;p48"/>
          <p:cNvCxnSpPr/>
          <p:nvPr/>
        </p:nvCxnSpPr>
        <p:spPr>
          <a:xfrm flipH="1" rot="10800000">
            <a:off x="8726125" y="1864175"/>
            <a:ext cx="1746300" cy="184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28" name="Google Shape;528;p48"/>
          <p:cNvSpPr/>
          <p:nvPr/>
        </p:nvSpPr>
        <p:spPr>
          <a:xfrm rot="1386777">
            <a:off x="6222529" y="1306934"/>
            <a:ext cx="922442" cy="162926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529" name="Google Shape;529;p48"/>
          <p:cNvSpPr/>
          <p:nvPr/>
        </p:nvSpPr>
        <p:spPr>
          <a:xfrm rot="289571">
            <a:off x="10462305" y="1770766"/>
            <a:ext cx="456418" cy="167669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49"/>
          <p:cNvSpPr txBox="1"/>
          <p:nvPr>
            <p:ph type="title"/>
          </p:nvPr>
        </p:nvSpPr>
        <p:spPr>
          <a:xfrm>
            <a:off x="415496" y="182880"/>
            <a:ext cx="11358000" cy="7635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Rough Spectrum</a:t>
            </a:r>
            <a:endParaRPr/>
          </a:p>
        </p:txBody>
      </p:sp>
      <p:sp>
        <p:nvSpPr>
          <p:cNvPr id="535" name="Google Shape;535;p49"/>
          <p:cNvSpPr txBox="1"/>
          <p:nvPr>
            <p:ph idx="1" type="body"/>
          </p:nvPr>
        </p:nvSpPr>
        <p:spPr>
          <a:xfrm>
            <a:off x="415496" y="1536633"/>
            <a:ext cx="5331900" cy="45552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49"/>
          <p:cNvSpPr txBox="1"/>
          <p:nvPr>
            <p:ph idx="2" type="body"/>
          </p:nvPr>
        </p:nvSpPr>
        <p:spPr>
          <a:xfrm>
            <a:off x="6441588" y="1536633"/>
            <a:ext cx="5331900" cy="45552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49"/>
          <p:cNvSpPr txBox="1"/>
          <p:nvPr>
            <p:ph idx="12" type="sldNum"/>
          </p:nvPr>
        </p:nvSpPr>
        <p:spPr>
          <a:xfrm>
            <a:off x="11042108" y="6537888"/>
            <a:ext cx="731400" cy="320100"/>
          </a:xfrm>
          <a:prstGeom prst="rect">
            <a:avLst/>
          </a:prstGeom>
        </p:spPr>
        <p:txBody>
          <a:bodyPr anchorCtr="0" anchor="b" bIns="64000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38" name="Google Shape;538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9525" y="1945627"/>
            <a:ext cx="9797950" cy="434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50"/>
          <p:cNvSpPr txBox="1"/>
          <p:nvPr>
            <p:ph type="title"/>
          </p:nvPr>
        </p:nvSpPr>
        <p:spPr>
          <a:xfrm>
            <a:off x="415496" y="182880"/>
            <a:ext cx="11358000" cy="7635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He/Ethane 30mm Targets</a:t>
            </a:r>
            <a:endParaRPr/>
          </a:p>
        </p:txBody>
      </p:sp>
      <p:sp>
        <p:nvSpPr>
          <p:cNvPr id="544" name="Google Shape;544;p50"/>
          <p:cNvSpPr txBox="1"/>
          <p:nvPr>
            <p:ph idx="1" type="body"/>
          </p:nvPr>
        </p:nvSpPr>
        <p:spPr>
          <a:xfrm>
            <a:off x="415496" y="1536633"/>
            <a:ext cx="5331900" cy="45552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50"/>
          <p:cNvSpPr txBox="1"/>
          <p:nvPr>
            <p:ph idx="2" type="body"/>
          </p:nvPr>
        </p:nvSpPr>
        <p:spPr>
          <a:xfrm>
            <a:off x="6441588" y="1536633"/>
            <a:ext cx="5331900" cy="45552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50"/>
          <p:cNvSpPr txBox="1"/>
          <p:nvPr>
            <p:ph idx="12" type="sldNum"/>
          </p:nvPr>
        </p:nvSpPr>
        <p:spPr>
          <a:xfrm>
            <a:off x="11042108" y="6537888"/>
            <a:ext cx="731400" cy="320100"/>
          </a:xfrm>
          <a:prstGeom prst="rect">
            <a:avLst/>
          </a:prstGeom>
        </p:spPr>
        <p:txBody>
          <a:bodyPr anchorCtr="0" anchor="b" bIns="64000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47" name="Google Shape;547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1725" y="1247625"/>
            <a:ext cx="9878725" cy="524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51"/>
          <p:cNvSpPr txBox="1"/>
          <p:nvPr>
            <p:ph type="title"/>
          </p:nvPr>
        </p:nvSpPr>
        <p:spPr>
          <a:xfrm>
            <a:off x="415496" y="182880"/>
            <a:ext cx="11358000" cy="7635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51"/>
          <p:cNvSpPr txBox="1"/>
          <p:nvPr>
            <p:ph idx="1" type="body"/>
          </p:nvPr>
        </p:nvSpPr>
        <p:spPr>
          <a:xfrm>
            <a:off x="415496" y="1536633"/>
            <a:ext cx="5331900" cy="45552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51"/>
          <p:cNvSpPr txBox="1"/>
          <p:nvPr>
            <p:ph idx="2" type="body"/>
          </p:nvPr>
        </p:nvSpPr>
        <p:spPr>
          <a:xfrm>
            <a:off x="6441588" y="1536633"/>
            <a:ext cx="5331900" cy="45552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51"/>
          <p:cNvSpPr txBox="1"/>
          <p:nvPr>
            <p:ph idx="12" type="sldNum"/>
          </p:nvPr>
        </p:nvSpPr>
        <p:spPr>
          <a:xfrm>
            <a:off x="11042108" y="6537888"/>
            <a:ext cx="731400" cy="320100"/>
          </a:xfrm>
          <a:prstGeom prst="rect">
            <a:avLst/>
          </a:prstGeom>
        </p:spPr>
        <p:txBody>
          <a:bodyPr anchorCtr="0" anchor="b" bIns="64000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56" name="Google Shape;556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0750" y="1152350"/>
            <a:ext cx="10647501" cy="532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52"/>
          <p:cNvSpPr txBox="1"/>
          <p:nvPr>
            <p:ph type="title"/>
          </p:nvPr>
        </p:nvSpPr>
        <p:spPr>
          <a:xfrm>
            <a:off x="415496" y="182880"/>
            <a:ext cx="11358000" cy="7635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52"/>
          <p:cNvSpPr txBox="1"/>
          <p:nvPr>
            <p:ph idx="1" type="body"/>
          </p:nvPr>
        </p:nvSpPr>
        <p:spPr>
          <a:xfrm>
            <a:off x="415496" y="1536633"/>
            <a:ext cx="5331900" cy="45552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52"/>
          <p:cNvSpPr txBox="1"/>
          <p:nvPr>
            <p:ph idx="2" type="body"/>
          </p:nvPr>
        </p:nvSpPr>
        <p:spPr>
          <a:xfrm>
            <a:off x="6441588" y="1536633"/>
            <a:ext cx="5331900" cy="45552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52"/>
          <p:cNvSpPr txBox="1"/>
          <p:nvPr>
            <p:ph idx="12" type="sldNum"/>
          </p:nvPr>
        </p:nvSpPr>
        <p:spPr>
          <a:xfrm>
            <a:off x="11042108" y="6537888"/>
            <a:ext cx="731400" cy="320100"/>
          </a:xfrm>
          <a:prstGeom prst="rect">
            <a:avLst/>
          </a:prstGeom>
        </p:spPr>
        <p:txBody>
          <a:bodyPr anchorCtr="0" anchor="b" bIns="64000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65" name="Google Shape;565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000" y="1326718"/>
            <a:ext cx="10360951" cy="518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53"/>
          <p:cNvSpPr txBox="1"/>
          <p:nvPr>
            <p:ph type="title"/>
          </p:nvPr>
        </p:nvSpPr>
        <p:spPr>
          <a:xfrm>
            <a:off x="415496" y="182880"/>
            <a:ext cx="11358000" cy="7635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53"/>
          <p:cNvSpPr txBox="1"/>
          <p:nvPr>
            <p:ph idx="1" type="body"/>
          </p:nvPr>
        </p:nvSpPr>
        <p:spPr>
          <a:xfrm>
            <a:off x="415496" y="1536633"/>
            <a:ext cx="5331900" cy="45552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53"/>
          <p:cNvSpPr txBox="1"/>
          <p:nvPr>
            <p:ph idx="2" type="body"/>
          </p:nvPr>
        </p:nvSpPr>
        <p:spPr>
          <a:xfrm>
            <a:off x="6441588" y="1536633"/>
            <a:ext cx="5331900" cy="45552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53"/>
          <p:cNvSpPr txBox="1"/>
          <p:nvPr>
            <p:ph idx="12" type="sldNum"/>
          </p:nvPr>
        </p:nvSpPr>
        <p:spPr>
          <a:xfrm>
            <a:off x="11042108" y="6537888"/>
            <a:ext cx="731400" cy="320100"/>
          </a:xfrm>
          <a:prstGeom prst="rect">
            <a:avLst/>
          </a:prstGeom>
        </p:spPr>
        <p:txBody>
          <a:bodyPr anchorCtr="0" anchor="b" bIns="64000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74" name="Google Shape;574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900" y="1007838"/>
            <a:ext cx="10937201" cy="546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54"/>
          <p:cNvSpPr txBox="1"/>
          <p:nvPr>
            <p:ph type="title"/>
          </p:nvPr>
        </p:nvSpPr>
        <p:spPr>
          <a:xfrm>
            <a:off x="415496" y="182880"/>
            <a:ext cx="11358000" cy="7635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54"/>
          <p:cNvSpPr txBox="1"/>
          <p:nvPr>
            <p:ph idx="1" type="body"/>
          </p:nvPr>
        </p:nvSpPr>
        <p:spPr>
          <a:xfrm>
            <a:off x="415496" y="1536633"/>
            <a:ext cx="5331900" cy="45552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54"/>
          <p:cNvSpPr txBox="1"/>
          <p:nvPr>
            <p:ph idx="2" type="body"/>
          </p:nvPr>
        </p:nvSpPr>
        <p:spPr>
          <a:xfrm>
            <a:off x="6441588" y="1536633"/>
            <a:ext cx="5331900" cy="45552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54"/>
          <p:cNvSpPr txBox="1"/>
          <p:nvPr>
            <p:ph idx="12" type="sldNum"/>
          </p:nvPr>
        </p:nvSpPr>
        <p:spPr>
          <a:xfrm>
            <a:off x="11042108" y="6537888"/>
            <a:ext cx="731400" cy="320100"/>
          </a:xfrm>
          <a:prstGeom prst="rect">
            <a:avLst/>
          </a:prstGeom>
        </p:spPr>
        <p:txBody>
          <a:bodyPr anchorCtr="0" anchor="b" bIns="64000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83" name="Google Shape;583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875" y="920072"/>
            <a:ext cx="11191200" cy="559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55"/>
          <p:cNvSpPr txBox="1"/>
          <p:nvPr>
            <p:ph type="title"/>
          </p:nvPr>
        </p:nvSpPr>
        <p:spPr>
          <a:xfrm>
            <a:off x="415496" y="182880"/>
            <a:ext cx="11358000" cy="7635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MM Flash in n_TOF DAQ</a:t>
            </a:r>
            <a:endParaRPr/>
          </a:p>
        </p:txBody>
      </p:sp>
      <p:sp>
        <p:nvSpPr>
          <p:cNvPr id="589" name="Google Shape;589;p55"/>
          <p:cNvSpPr txBox="1"/>
          <p:nvPr>
            <p:ph idx="1" type="body"/>
          </p:nvPr>
        </p:nvSpPr>
        <p:spPr>
          <a:xfrm>
            <a:off x="415496" y="1536633"/>
            <a:ext cx="5331900" cy="45552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55"/>
          <p:cNvSpPr txBox="1"/>
          <p:nvPr>
            <p:ph idx="2" type="body"/>
          </p:nvPr>
        </p:nvSpPr>
        <p:spPr>
          <a:xfrm>
            <a:off x="6441588" y="1536633"/>
            <a:ext cx="5331900" cy="45552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55"/>
          <p:cNvSpPr txBox="1"/>
          <p:nvPr>
            <p:ph idx="12" type="sldNum"/>
          </p:nvPr>
        </p:nvSpPr>
        <p:spPr>
          <a:xfrm>
            <a:off x="11042108" y="6537888"/>
            <a:ext cx="731400" cy="320100"/>
          </a:xfrm>
          <a:prstGeom prst="rect">
            <a:avLst/>
          </a:prstGeom>
        </p:spPr>
        <p:txBody>
          <a:bodyPr anchorCtr="0" anchor="b" bIns="64000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92" name="Google Shape;592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4488" y="946375"/>
            <a:ext cx="7400025" cy="555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56"/>
          <p:cNvSpPr txBox="1"/>
          <p:nvPr>
            <p:ph type="title"/>
          </p:nvPr>
        </p:nvSpPr>
        <p:spPr>
          <a:xfrm>
            <a:off x="415496" y="182880"/>
            <a:ext cx="11358000" cy="7635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56"/>
          <p:cNvSpPr txBox="1"/>
          <p:nvPr>
            <p:ph idx="1" type="body"/>
          </p:nvPr>
        </p:nvSpPr>
        <p:spPr>
          <a:xfrm>
            <a:off x="415496" y="1536633"/>
            <a:ext cx="5331900" cy="45552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56"/>
          <p:cNvSpPr txBox="1"/>
          <p:nvPr>
            <p:ph idx="2" type="body"/>
          </p:nvPr>
        </p:nvSpPr>
        <p:spPr>
          <a:xfrm>
            <a:off x="6441588" y="1536633"/>
            <a:ext cx="5331900" cy="45552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56"/>
          <p:cNvSpPr txBox="1"/>
          <p:nvPr>
            <p:ph idx="12" type="sldNum"/>
          </p:nvPr>
        </p:nvSpPr>
        <p:spPr>
          <a:xfrm>
            <a:off x="11042108" y="6537888"/>
            <a:ext cx="731400" cy="320100"/>
          </a:xfrm>
          <a:prstGeom prst="rect">
            <a:avLst/>
          </a:prstGeom>
        </p:spPr>
        <p:txBody>
          <a:bodyPr anchorCtr="0" anchor="b" bIns="64000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1" name="Google Shape;601;p56" title="Screenshot from 2026-03-24 10-05-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" y="652644"/>
            <a:ext cx="12188952" cy="5885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te_Physics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