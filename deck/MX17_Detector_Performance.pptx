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64592"/>
          </a:xfrm>
          <a:prstGeom prst="rect">
            <a:avLst/>
          </a:prstGeom>
          <a:solidFill>
            <a:srgbClr val="E07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MX17 Resistive Micromegas — Detector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FDBEC"/>
                </a:solidFill>
                <a:latin typeface="Calibri"/>
              </a:rPr>
              <a:t>Cosmic-bench characterisation at CEA Saclay and first reconstructed tracks at n_TOF EAR2</a:t>
            </a:r>
          </a:p>
          <a:p>
            <a:r>
              <a:rPr sz="1500" b="0" i="1">
                <a:solidFill>
                  <a:srgbClr val="AEC3DC"/>
                </a:solidFill>
                <a:latin typeface="Calibri"/>
              </a:rPr>
              <a:t>Prototype Detector 0 — how the detector you built performs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9AAEC8"/>
                </a:solidFill>
                <a:latin typeface="Calibri"/>
              </a:rPr>
              <a:t>n_TOF X17  ·  prepared for the detector lab  ·  June 2026   [add recipient / affiliation]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CONTEXT ·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What these detectors are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The ATOMKI experiments report an excess of e⁺e⁻ pairs peaking near a 120° opening</a:t>
            </a:r>
          </a:p>
          <a:p>
            <a:pPr lvl="1"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–  angle — possibly a new ~17 MeV boson, the “X17”.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n_TOF EAR2 can make an independent, complementary measurement using a ³He target:</a:t>
            </a:r>
          </a:p>
          <a:p>
            <a:pPr lvl="1"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–  n + ³He → ⁴He* → ⁴He + X17 → e⁺e⁻.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142C52"/>
                </a:solidFill>
                <a:latin typeface="Calibri"/>
              </a:rPr>
              <a:t>•  The observable is the e⁺e⁻ opening angle → we must reconstruct the two tracks and the</a:t>
            </a:r>
          </a:p>
          <a:p>
            <a:pPr lvl="1">
              <a:spcAft>
                <a:spcPts val="600"/>
              </a:spcAft>
            </a:pPr>
            <a:r>
              <a:rPr sz="1450" b="1" i="0">
                <a:solidFill>
                  <a:srgbClr val="142C52"/>
                </a:solidFill>
                <a:latin typeface="Calibri"/>
              </a:rPr>
              <a:t>–  angle between them, event by event.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Our tool: four 40×40 cm resistive-strip Micromegas in µ-TPC mode (30 mm drift),</a:t>
            </a:r>
          </a:p>
          <a:p>
            <a:pPr lvl="1"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–  giving full 3-D track angles around the target.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2E8B57"/>
                </a:solidFill>
                <a:latin typeface="Calibri"/>
              </a:rPr>
              <a:t>•  → The detector requirement is good efficiency to MIPs and good ANGULAR resolution.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88554" y="2074702"/>
            <a:ext cx="4499610" cy="225139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atomki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084227"/>
            <a:ext cx="4480560" cy="22323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45720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ATOMKI: e⁺e⁻ excess near ~120° — the signature we aim to reconstruct.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937760"/>
            <a:ext cx="4480560" cy="1097280"/>
          </a:xfrm>
          <a:prstGeom prst="roundRect">
            <a:avLst/>
          </a:prstGeom>
          <a:solidFill>
            <a:srgbClr val="FBF3D8"/>
          </a:solidFill>
          <a:ln w="19050">
            <a:solidFill>
              <a:srgbClr val="E0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50" b="1" i="0">
                <a:solidFill>
                  <a:srgbClr val="142C52"/>
                </a:solidFill>
                <a:latin typeface="Calibri"/>
              </a:rPr>
              <a:t>The rest of this deck is about how the detector performs —</a:t>
            </a:r>
          </a:p>
          <a:p>
            <a:r>
              <a:rPr sz="1350" b="1" i="0">
                <a:solidFill>
                  <a:srgbClr val="142C52"/>
                </a:solidFill>
                <a:latin typeface="Calibri"/>
              </a:rPr>
              <a:t>not the physics. Efficiency, spatial &amp; angular resolution,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Characterised on the cosmic test bench at CEA Saclay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4095" y="1407795"/>
            <a:ext cx="3789569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_setup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20" y="1417320"/>
            <a:ext cx="3770519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Cosmic bench (side view).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5448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Prototype “Detector 0”: 40×40 cm resistive-strip Micromegas, 30 mm drift gap,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aluminium frame, Argon/Isobutane 95/5, DREAM readout.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Mounted in a cosmic-muon telescope: 4 reference tracking detectors + 2 trigger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scintillators provide an external reference track (the M3 tracker).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Cosmic muons (MIPs) cross all layers; we compare the MX17 reconstruction to the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reference track to extract efficiency, spatial resolution and angular resolution.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42C52"/>
                </a:solidFill>
                <a:latin typeface="Calibri"/>
              </a:rPr>
              <a:t>•  µ-TPC mode: strip position + drift time → the 3rd coordinate, so a single detector</a:t>
            </a:r>
          </a:p>
          <a:p>
            <a:pPr lvl="1">
              <a:spcAft>
                <a:spcPts val="600"/>
              </a:spcAft>
            </a:pPr>
            <a:r>
              <a:rPr sz="1350" b="1" i="0">
                <a:solidFill>
                  <a:srgbClr val="142C52"/>
                </a:solidFill>
                <a:latin typeface="Calibri"/>
              </a:rPr>
              <a:t>–  reconstructs a 3-D track segment and its angle.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555555"/>
                </a:solidFill>
                <a:latin typeface="Calibri"/>
              </a:rPr>
              <a:t>•  Reference tracker resolution ≈ 500 µm — it sets the floor on what we can measure.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PERFORMANCE ·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The detector is efficient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235" y="1736979"/>
            <a:ext cx="7974329" cy="3201161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46504"/>
            <a:ext cx="7955279" cy="3182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12064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Per-bin efficiency = MX17 hits / reference tracks (left); reference-track density / exposure (right). 42,923 reference tracks.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Across most of the active area the detector is at or near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–  full efficiency to cosmic MIPs.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The two understood dead features: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C0392B"/>
                </a:solidFill>
                <a:latin typeface="Calibri"/>
              </a:rPr>
              <a:t>–  a band of broken resistive strips (no HV there);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C0392B"/>
                </a:solidFill>
                <a:latin typeface="Calibri"/>
              </a:rPr>
              <a:t>–  the M4 connector edge not making contact.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•  Both causes are identified and fixable in the next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E8B57"/>
                </a:solidFill>
                <a:latin typeface="Calibri"/>
              </a:rPr>
              <a:t>–  detector iteration — not intrinsic to the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Argon/Isobutane 95/5  ·  30 mm drift  ·  aluminium frame  ·  cosmic bench @ CEA Saclay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PERFORMANCE · SPATIAL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Spatial resolution ~500 µm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155" y="1544955"/>
            <a:ext cx="10443210" cy="349377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_spatial_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1042416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029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Sliding-window residual resolution maps in X and Y, and event statistics per bin.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1208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i="0">
                <a:solidFill>
                  <a:srgbClr val="142C52"/>
                </a:solidFill>
                <a:latin typeface="Calibri"/>
              </a:rPr>
              <a:t>•  Residual width (MX17 − reference) is ~500 µm over most of the detector.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The reference tracker itself only has ~500 µm resolution — so the measurement is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resolution-limited by the bench: the true detector resolution is at least this good,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probably better.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1">
                <a:solidFill>
                  <a:srgbClr val="555555"/>
                </a:solidFill>
                <a:latin typeface="Calibri"/>
              </a:rPr>
              <a:t>Argon/Isobutane 95/5  ·  30 mm drift  ·  aluminium frame  ·  cosmic bench @ CEA Saclay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PERFORMANCE · ANGULAR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Angular resolution ~2° in µ-TPC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1955" y="1682115"/>
            <a:ext cx="733425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_ang_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73152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4406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µ-TPC angular resolution σ vs reference track angle (X and Y projections).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002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•  Angular resolution ≈ 2° across most of the angular range.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Worse only near 0° (tracks normal to the detector), where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–  the µ-TPC has no longitudinal lever arm — expected.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42C52"/>
                </a:solidFill>
                <a:latin typeface="Calibri"/>
              </a:rPr>
              <a:t>•  This is the key number for the physics: the X17 signature</a:t>
            </a:r>
          </a:p>
          <a:p>
            <a:pPr lvl="1">
              <a:spcAft>
                <a:spcPts val="600"/>
              </a:spcAft>
            </a:pPr>
            <a:r>
              <a:rPr sz="1300" b="1" i="0">
                <a:solidFill>
                  <a:srgbClr val="142C52"/>
                </a:solidFill>
                <a:latin typeface="Calibri"/>
              </a:rPr>
              <a:t>–  is a ~120° e⁺e⁻ pair, so few-degree per-track resolution</a:t>
            </a:r>
          </a:p>
          <a:p>
            <a:pPr lvl="1">
              <a:spcAft>
                <a:spcPts val="600"/>
              </a:spcAft>
            </a:pPr>
            <a:r>
              <a:rPr sz="1300" b="1" i="0">
                <a:solidFill>
                  <a:srgbClr val="142C52"/>
                </a:solidFill>
                <a:latin typeface="Calibri"/>
              </a:rPr>
              <a:t>–  is what we need.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Reconstruction algorithm not yet fully optimised — likely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–  room to improve further.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1">
                <a:solidFill>
                  <a:srgbClr val="555555"/>
                </a:solidFill>
                <a:latin typeface="Calibri"/>
              </a:rPr>
              <a:t>Argon/Isobutane 95/5  ·  30 mm drift  ·  aluminium frame  ·  cosmic bench @ CEA Saclay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PERFORMANCE · IN BEAM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…and it reconstructs tracks in the n_TOF beam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6355" y="1362075"/>
            <a:ext cx="5139690" cy="51396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ent_3d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371600"/>
            <a:ext cx="512064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A reconstructed beam event in the n_TOF EAR2 setup (He/Ethane, 16 mm drift).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5544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42C52"/>
                </a:solidFill>
                <a:latin typeface="Calibri"/>
              </a:rPr>
              <a:t>•  The same µ-TPC reconstruction works on real beam data at</a:t>
            </a:r>
          </a:p>
          <a:p>
            <a:pPr lvl="1">
              <a:spcAft>
                <a:spcPts val="600"/>
              </a:spcAft>
            </a:pPr>
            <a:r>
              <a:rPr sz="1300" b="1" i="0">
                <a:solidFill>
                  <a:srgbClr val="142C52"/>
                </a:solidFill>
                <a:latin typeface="Calibri"/>
              </a:rPr>
              <a:t>–  n_TOF EAR2, not just on the bench.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Single, well-separated tracks are cleanly reconstructed in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–  the low-occupancy (thermal-neutron) window.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Strip hits + drift time give the 3-D track (green); it crosses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–  the Micromegas and continues toward the trigger scintillators.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•  Confirms the detector behaves in the real experiment as it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E8B57"/>
                </a:solidFill>
                <a:latin typeface="Calibri"/>
              </a:rPr>
              <a:t>–  did on the Saclay bench.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In beam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Summary — the detector performs to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2E8B57"/>
                </a:solidFill>
                <a:latin typeface="Calibri"/>
              </a:rPr>
              <a:t>•  Efficient to MIPs across the active area; the only dead regions have understood,</a:t>
            </a:r>
          </a:p>
          <a:p>
            <a:pPr lvl="1">
              <a:spcAft>
                <a:spcPts val="600"/>
              </a:spcAft>
            </a:pPr>
            <a:r>
              <a:rPr sz="1550" b="0" i="0">
                <a:solidFill>
                  <a:srgbClr val="2E8B57"/>
                </a:solidFill>
                <a:latin typeface="Calibri"/>
              </a:rPr>
              <a:t>–  fixable causes (broken resistive strips, M4 connector contact).</a:t>
            </a:r>
          </a:p>
          <a:p>
            <a:pPr>
              <a:spcAft>
                <a:spcPts val="600"/>
              </a:spcAft>
            </a:pPr>
            <a:r>
              <a:rPr sz="1650" b="1" i="0">
                <a:solidFill>
                  <a:srgbClr val="142C52"/>
                </a:solidFill>
                <a:latin typeface="Calibri"/>
              </a:rPr>
              <a:t>•  Spatial resolution ~500 µm — at the limit of what the reference bench can measure.</a:t>
            </a:r>
          </a:p>
          <a:p>
            <a:pPr>
              <a:spcAft>
                <a:spcPts val="600"/>
              </a:spcAft>
            </a:pPr>
            <a:r>
              <a:rPr sz="1650" b="1" i="0">
                <a:solidFill>
                  <a:srgbClr val="142C52"/>
                </a:solidFill>
                <a:latin typeface="Calibri"/>
              </a:rPr>
              <a:t>•  Angular resolution ~2° in µ-TPC mode — the number that matters for the X17 e⁺e⁻ angle.</a:t>
            </a:r>
          </a:p>
          <a:p>
            <a:pPr>
              <a:spcAft>
                <a:spcPts val="600"/>
              </a:spcAft>
            </a:pPr>
            <a:r>
              <a:rPr sz="1650" b="1" i="0">
                <a:solidFill>
                  <a:srgbClr val="142C52"/>
                </a:solidFill>
                <a:latin typeface="Calibri"/>
              </a:rPr>
              <a:t>•  Full 3-D track reconstruction demonstrated both on the cosmic bench and in the n_TOF beam.</a:t>
            </a:r>
          </a:p>
          <a:p>
            <a:pPr>
              <a:spcAft>
                <a:spcPts val="600"/>
              </a:spcAft>
            </a:pPr>
            <a:r>
              <a:rPr sz="1650" b="0" i="0">
                <a:solidFill>
                  <a:srgbClr val="222222"/>
                </a:solidFill>
                <a:latin typeface="Calibri"/>
              </a:rPr>
              <a:t>•  Reconstruction software not yet fully optimised → headroom on resolution.</a:t>
            </a:r>
          </a:p>
          <a:p>
            <a:pPr>
              <a:spcAft>
                <a:spcPts val="600"/>
              </a:spcAft>
            </a:pPr>
            <a:r>
              <a:rPr sz="1650" b="1" i="0">
                <a:solidFill>
                  <a:srgbClr val="2E8B57"/>
                </a:solidFill>
                <a:latin typeface="Calibri"/>
              </a:rPr>
              <a:t>•  Clear, concrete improvements identified for the production batch (strip break, connector).</a:t>
            </a:r>
          </a:p>
          <a:p>
            <a:pPr>
              <a:spcAft>
                <a:spcPts val="600"/>
              </a:spcAft>
            </a:pPr>
            <a:r>
              <a:rPr sz="1650" b="1" i="0">
                <a:solidFill>
                  <a:srgbClr val="2E8B57"/>
                </a:solidFill>
                <a:latin typeface="Calibri"/>
              </a:rPr>
              <a:t>•  Net: the detector you built does what the measurement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46304"/>
          </a:xfrm>
          <a:prstGeom prst="rect">
            <a:avLst/>
          </a:prstGeom>
          <a:solidFill>
            <a:srgbClr val="E07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0">
                <a:solidFill>
                  <a:srgbClr val="CFDBEC"/>
                </a:solidFill>
                <a:latin typeface="Calibri"/>
              </a:rPr>
              <a:t>Reconstruction detail, more event displays, specs &amp; next iteration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COSMIC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µ-TPC reconstruction — single cosmic event (3-D)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3735" y="1453515"/>
            <a:ext cx="57340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_mutpc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1463040"/>
            <a:ext cx="5715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Event 33843. X-strip and Y-strip hits placed in the 30 mm drift window; the MX17 µ-TPC track sits on top of the reference track (M3) — good agreement.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1">
                <a:solidFill>
                  <a:srgbClr val="555555"/>
                </a:solidFill>
                <a:latin typeface="Calibri"/>
              </a:rPr>
              <a:t>Argon/Isobutane 95/5  ·  30 mm drift  ·  aluminium frame  ·  cosmic bench @ CEA Saclay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COSMIC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µ-TPC reconstruction — drift-time vs position 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5795" y="1453515"/>
            <a:ext cx="6089929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_mutpc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320" y="1463040"/>
            <a:ext cx="6070879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Same event: drift time vs X and Y strip position. The slope of each line is the projected track angle; the intercept locates the mesh crossing. This is the µ-TPC measurement.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1">
                <a:solidFill>
                  <a:srgbClr val="555555"/>
                </a:solidFill>
                <a:latin typeface="Calibri"/>
              </a:rPr>
              <a:t>Argon/Isobutane 95/5  ·  30 mm drift  ·  aluminium frame  ·  cosmic bench @ CEA Saclay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COSMIC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Reconstructed vs reference track angle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555" y="1646946"/>
            <a:ext cx="10900410" cy="42041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_angle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6471"/>
            <a:ext cx="10881360" cy="4185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MX17 µ-TPC angle vs reference-tracker angle (X and Y), v_drift = 35 µm/ns. Clear correlation along y = x; the offset is under study (possible reconstruction/algorithmic effect).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1">
                <a:solidFill>
                  <a:srgbClr val="555555"/>
                </a:solidFill>
                <a:latin typeface="Calibri"/>
              </a:rPr>
              <a:t>Argon/Isobutane 95/5  ·  30 mm drift  ·  aluminium frame  ·  cosmic bench @ CEA Saclay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COSMIC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Detector is alive — a single cosmic muon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7675" y="1544955"/>
            <a:ext cx="5505450" cy="413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_muon_2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15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2-D hit map, single cosmic muon (Det-0 daytime run).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395" y="1544955"/>
            <a:ext cx="5505450" cy="413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b_muon_y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4864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715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Y position vs drift time for the same muon — the straight µ-TPC line; marker size = pulse amplitude.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N_TOF EVENT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Beam event display — Micromegas strip hits (3-D)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8164" y="1453515"/>
            <a:ext cx="4465191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ent_3d_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89" y="1463040"/>
            <a:ext cx="4446141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Run 51, Event 100. FEU 1 X-strips (7 hits), FEU 2 Y-strips (9 hits) placed in 3-D from strip position and drift time (v_drift = 0.0320 mm/ns, 16 mm gap); green = fitted µ-TPC track.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N_TOF EVENT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Beam event display — hit-vs-drift fits &amp; raw waveforms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8653" y="1453515"/>
            <a:ext cx="6904213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ent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178" y="1463040"/>
            <a:ext cx="688516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Same event. Top: X/Y hit position vs drift time (slope = µ-TPC angle). Bottom: reconstructed track position and the raw X/Y strip waveforms.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N_TOF EVENT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Beam event display — X–Y detector-plane projection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21824" y="1453515"/>
            <a:ext cx="4517872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ent_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49" y="1463040"/>
            <a:ext cx="4498822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Same event projected on the detector plane: X/Y strip hits, MM active area, scintillators and capsule, with the track crossing points at each plane.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N_TOF EVENT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Beam event display — cinematic render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7235" y="1453515"/>
            <a:ext cx="81470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ent_cin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60" y="1463040"/>
            <a:ext cx="8128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3-D render of the reconstructed track through the resistive Micromegas. A rotating animation is available (event_100_3d_geo_rotating.gif).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N_TOF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Isolated track in the n_TOF beam (thermal region)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42235" y="1453515"/>
            <a:ext cx="68770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herma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463040"/>
            <a:ext cx="6858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He/Ethane, 30 mm drift, µ-TPC mode: a clean, well-separated track in the thermal-neutron window — naively exactly a single-track event (high dE/dx; particle ID uncertain).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SPECS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Prototype Detector 0 —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93776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Resistive-strip bulk Micromegas (MX17)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Active area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40 × 40 cm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Drift gap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30 mm (µ-TPC mode)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Frame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Aluminium (carbon frame also tested)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Readout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X &amp; Y strips, DREAM front-end (FEU)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Bench gas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Argon/Isobutane 95/5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Reference tracker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M3 cosmic telescope, ~500 µm resolution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Cosmic statistics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~43k reference tracks for efficiency/resolution maps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52560" y="17373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42C52"/>
                </a:solidFill>
                <a:latin typeface="Calibri"/>
              </a:rPr>
              <a:t>•  Performance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Efficiency: near-full over active area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Spatial: ~500 µm (bench-limited)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Angular: ~2° (µ-TPC)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Known issues &amp; fixes for the next iteration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201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840480"/>
                <a:gridCol w="425196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Fix for production batch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Dead band in efficiency map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Broken resistive strips (no HV in region)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Improve resistive-strip QC / handling in fabrication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Dead edge in efficiency map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M4 connector edge not making contact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Connector seating / mechanical revision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σ(angle) larger near 0°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No µ-TPC lever arm at normal incidence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Intrinsic to µ-TPC; mitigated by geometry around target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Angle-correlation offset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Possible reconstruction/algorithm effect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Reconstruction software optimisation (in progress)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846320"/>
            <a:ext cx="11201400" cy="1280160"/>
          </a:xfrm>
          <a:prstGeom prst="roundRect">
            <a:avLst/>
          </a:prstGeom>
          <a:solidFill>
            <a:srgbClr val="FBF3D8"/>
          </a:solidFill>
          <a:ln w="19050">
            <a:solidFill>
              <a:srgbClr val="E0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50" b="1" i="0">
                <a:solidFill>
                  <a:srgbClr val="142C52"/>
                </a:solidFill>
                <a:latin typeface="Calibri"/>
              </a:rPr>
              <a:t>Bottom line: every observed limitation is either understood and fixable in fabrication, or a known µ-TPC property — none point to a problem with the detector concept. Four production detectors are planned for the July n_TOF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5566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MX17 detector  ·  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