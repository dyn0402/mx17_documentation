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64592"/>
          </a:xfrm>
          <a:prstGeom prst="rect">
            <a:avLst/>
          </a:prstGeom>
          <a:solidFill>
            <a:srgbClr val="E07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Searching for the X17 at n_TOF EAR2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CFDBEC"/>
                </a:solidFill>
                <a:latin typeface="Calibri"/>
              </a:rPr>
              <a:t>February &amp; May 2026 Beam Tests — Status, Results &amp; What We Learned</a:t>
            </a:r>
          </a:p>
          <a:p>
            <a:r>
              <a:rPr sz="1500" b="0" i="1">
                <a:solidFill>
                  <a:srgbClr val="AEC3DC"/>
                </a:solidFill>
                <a:latin typeface="Calibri"/>
              </a:rPr>
              <a:t>Technical tests of the high-energy measurement against the gamma flash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9AAEC8"/>
                </a:solidFill>
                <a:latin typeface="Calibri"/>
              </a:rPr>
              <a:t>n_TOF Collaboration  ·  EAR2, CERN  ·  Internal status —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The measurement and its central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Goal: search for the hypothetical X17 boson via the e⁺e⁻ pairs it would emit,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–  looking for a peak in the pair opening angle near 120°.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EAR2 sits 20 m directly above the lead spallation target. Each PS proton bunch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–  on the target produces a broad neutron spectrum — ~80% of the expected X17 yield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–  is in the first ~10 µs (the ~1 MeV neutron region).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•  The catch — the “gamma flash”: every relativistic particle from the bunch hitting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C0392B"/>
                </a:solidFill>
                <a:latin typeface="Calibri"/>
              </a:rPr>
              <a:t>–  the lead target arrives in EAR2 essentially all at once.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It dumps enormous charge in the Micromegas and saturates (“blinds”) the DREAM DAQ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–  exactly when the high-energy X17 signal would appear.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31355" y="1645539"/>
            <a:ext cx="4865370" cy="292684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yield_t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655064"/>
            <a:ext cx="4846320" cy="2907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40880" y="46634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Expected X17 yield vs neutron flight time. Flash at t≈0; DREAM dead-time follows.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4983480"/>
            <a:ext cx="4846320" cy="1005840"/>
          </a:xfrm>
          <a:prstGeom prst="roundRect">
            <a:avLst/>
          </a:prstGeom>
          <a:solidFill>
            <a:srgbClr val="FBF3D8"/>
          </a:solidFill>
          <a:ln w="19050">
            <a:solidFill>
              <a:srgbClr val="E0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400" b="1" i="0">
                <a:solidFill>
                  <a:srgbClr val="142C52"/>
                </a:solidFill>
                <a:latin typeface="Calibri"/>
              </a:rPr>
              <a:t>Feb &amp; May were technical tests: can we survive the flash and still</a:t>
            </a:r>
          </a:p>
          <a:p>
            <a:r>
              <a:rPr sz="1400" b="1" i="0">
                <a:solidFill>
                  <a:srgbClr val="142C52"/>
                </a:solidFill>
                <a:latin typeface="Calibri"/>
              </a:rPr>
              <a:t>be efficient to e⁺e⁻ tracks in the high-energy window?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THE CORE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The gamma flash blinds the DREAM DAQ</a:t>
            </a:r>
          </a:p>
        </p:txBody>
      </p:sp>
      <p:sp>
        <p:nvSpPr>
          <p:cNvPr id="6" name="Rectangle 5"/>
          <p:cNvSpPr/>
          <p:nvPr/>
        </p:nvSpPr>
        <p:spPr>
          <a:xfrm>
            <a:off x="1703951" y="1407795"/>
            <a:ext cx="8753617" cy="294513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dream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476" y="1417320"/>
            <a:ext cx="8734567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3434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Helium/Ethane, 30 mm drift. Raising resist HV (360→510 V): flash fills the readout, then ALL channels go flat — DREAM saturates for the full 10 µs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006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 At low HV the detector is not yet efficient to ~MeV electrons/positrons.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•  As HV is raised toward efficiency, the flash charge grows until the DREAM front-end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–  locks at baseline and recovers only after the entire 10 µs readout window.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B57"/>
                </a:solidFill>
                <a:latin typeface="Calibri"/>
              </a:rPr>
              <a:t>•  Confirmed to be a DAQ limit (not the detector) — see backup: single MM strip read on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E8B57"/>
                </a:solidFill>
                <a:latin typeface="Calibri"/>
              </a:rPr>
              <a:t>–  the n_TOF 1 GHz scope shows clear signals where DREAM reports nothing.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46304"/>
          </a:xfrm>
          <a:prstGeom prst="rect">
            <a:avLst/>
          </a:prstGeom>
          <a:solidFill>
            <a:srgbClr val="E07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0">
                <a:solidFill>
                  <a:srgbClr val="CFDBEC"/>
                </a:solidFill>
                <a:latin typeface="Calibri"/>
              </a:rPr>
              <a:t>Single Micromegas + SiPM wall — first characterisation in the n_TOF beam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FEBRUARY ·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February setup — overhead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1651786" y="1362075"/>
            <a:ext cx="3462988" cy="513969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tup_febru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311" y="1371600"/>
            <a:ext cx="3443938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One prototype MX17 resistive-strip Micromegas (40×40 cm) ~20 cm from the beam axis.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One SiPM wall (50×50 cm, 20 × 2.5 cm bars) directly behind it.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No ³He target — samples (empty, lead, B4C, carbon, Timepix) swapped on the beam line.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Read out with the DREAM DAQ; PS-pickup trigger aligned just before the flash.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Variables scanned: gas (Ar- and He-based), resist HV, drift gap (30 → 11 → 6 mm),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–  aluminium vs carbon frame.</a:t>
            </a:r>
          </a:p>
          <a:p>
            <a:pPr>
              <a:spcAft>
                <a:spcPts val="600"/>
              </a:spcAft>
            </a:pPr>
            <a:r>
              <a:rPr sz="1450" b="1" i="0">
                <a:solidFill>
                  <a:srgbClr val="142C52"/>
                </a:solidFill>
                <a:latin typeface="Calibri"/>
              </a:rPr>
              <a:t>•  On beam ~1 month — the workhorse dataset for understanding the flash.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February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FEBRUARY · KEY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DREAM saturates BEFORE the detector is efficient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01955" y="2394041"/>
            <a:ext cx="7334250" cy="289287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sat_vs_e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03566"/>
            <a:ext cx="7315200" cy="28738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2636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He/Ethane, empty carbon capsule. Solid: hits/event in the 1.5–5.4 µs signal window vs HV (rises, peaks, then →0 as DREAM saturates). Dashed: e⁻ efficiency calibrations.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•  Primary metric: mean strip hits/event vs resist HV,</a:t>
            </a:r>
          </a:p>
          <a:p>
            <a:pPr lvl="1">
              <a:spcAft>
                <a:spcPts val="6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–  in the ~1 MeV signal window (1.5–5.4 µs).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•  Curve rises as the detector turns on, then collapses</a:t>
            </a:r>
          </a:p>
          <a:p>
            <a:pPr lvl="1">
              <a:spcAft>
                <a:spcPts val="6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–  to zero as the flash saturates DREAM.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C0392B"/>
                </a:solidFill>
                <a:latin typeface="Calibri"/>
              </a:rPr>
              <a:t>•  The collapse (“turn-off”) happens at LOWER HV than</a:t>
            </a:r>
          </a:p>
          <a:p>
            <a:pPr lvl="1">
              <a:spcAft>
                <a:spcPts val="600"/>
              </a:spcAft>
            </a:pPr>
            <a:r>
              <a:rPr sz="1250" b="0" i="0">
                <a:solidFill>
                  <a:srgbClr val="C0392B"/>
                </a:solidFill>
                <a:latin typeface="Calibri"/>
              </a:rPr>
              <a:t>–  the electron-efficiency plateau (Cs-137 &amp; scint.).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142C52"/>
                </a:solidFill>
                <a:latin typeface="Calibri"/>
              </a:rPr>
              <a:t>•  ⇒ No usable operating window for the high-energy</a:t>
            </a:r>
          </a:p>
          <a:p>
            <a:pPr lvl="1">
              <a:spcAft>
                <a:spcPts val="600"/>
              </a:spcAft>
            </a:pPr>
            <a:r>
              <a:rPr sz="1250" b="1" i="0">
                <a:solidFill>
                  <a:srgbClr val="142C52"/>
                </a:solidFill>
                <a:latin typeface="Calibri"/>
              </a:rPr>
              <a:t>–  measurement in this configuration.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February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FEBRUARY · WHAT HELPED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Smaller drift gap → DREAM survives to higher HV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235" y="1567815"/>
            <a:ext cx="7059930" cy="353949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driftga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77340"/>
            <a:ext cx="7040880" cy="35204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88554" y="1659255"/>
            <a:ext cx="4499610" cy="225933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turnoff_vs_dr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668780"/>
            <a:ext cx="4480560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440680"/>
            <a:ext cx="11521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•  Reducing the active volume (30 → 11 → 6 mm drift) lowers the flash charge integrated by DREAM,</a:t>
            </a:r>
          </a:p>
          <a:p>
            <a:pPr lvl="1">
              <a:spcAft>
                <a:spcPts val="6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–  so the turn-off shifts up: ~430 V (30 mm) → ~470 V (11 mm) → ~500 V (6 mm) in He/Ethane.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142C52"/>
                </a:solidFill>
                <a:latin typeface="Calibri"/>
              </a:rPr>
              <a:t>•  Firm, repeatable conclusion. But extrapolation suggests we'd need ≲3 mm drift to reach efficiency —</a:t>
            </a:r>
          </a:p>
          <a:p>
            <a:pPr lvl="1">
              <a:spcAft>
                <a:spcPts val="6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–  not demonstrated, and not robust without a Saclay cosmic calibration in the same gas.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February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FEBRUARY · THE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…but smaller drift gap costs us the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01955" y="1709547"/>
            <a:ext cx="6785610" cy="407898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angres_vs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19072"/>
            <a:ext cx="6766560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035040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Max resolvable opening angle vs drift gap (µ-TPC mode).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•  The 30 mm gap enables µ-TPC mode: full 3-D track angle</a:t>
            </a:r>
          </a:p>
          <a:p>
            <a:pPr lvl="1">
              <a:spcAft>
                <a:spcPts val="6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–  reconstruction (≈2° resolution on the Saclay bench).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C0392B"/>
                </a:solidFill>
                <a:latin typeface="Calibri"/>
              </a:rPr>
              <a:t>•  Shrinking the gap to survive the flash sacrifices the</a:t>
            </a:r>
          </a:p>
          <a:p>
            <a:pPr lvl="1">
              <a:spcAft>
                <a:spcPts val="600"/>
              </a:spcAft>
            </a:pPr>
            <a:r>
              <a:rPr sz="1250" b="0" i="0">
                <a:solidFill>
                  <a:srgbClr val="C0392B"/>
                </a:solidFill>
                <a:latin typeface="Calibri"/>
              </a:rPr>
              <a:t>–  longitudinal lever arm → no 3-D angle, only projected hits</a:t>
            </a:r>
          </a:p>
          <a:p>
            <a:pPr lvl="1">
              <a:spcAft>
                <a:spcPts val="600"/>
              </a:spcAft>
            </a:pPr>
            <a:r>
              <a:rPr sz="1250" b="0" i="0">
                <a:solidFill>
                  <a:srgbClr val="C0392B"/>
                </a:solidFill>
                <a:latin typeface="Calibri"/>
              </a:rPr>
              <a:t>–  (“hit mode”).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•  Fewer readout strips for July (channel budget) further</a:t>
            </a:r>
          </a:p>
          <a:p>
            <a:pPr lvl="1">
              <a:spcAft>
                <a:spcPts val="6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–  degrades the minimum resolvable angle.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142C52"/>
                </a:solidFill>
                <a:latin typeface="Calibri"/>
              </a:rPr>
              <a:t>•  So: a flash-surviving config and a track-reconstructing</a:t>
            </a:r>
          </a:p>
          <a:p>
            <a:pPr lvl="1">
              <a:spcAft>
                <a:spcPts val="600"/>
              </a:spcAft>
            </a:pPr>
            <a:r>
              <a:rPr sz="1250" b="1" i="0">
                <a:solidFill>
                  <a:srgbClr val="142C52"/>
                </a:solidFill>
                <a:latin typeface="Calibri"/>
              </a:rPr>
              <a:t>–  config pull in opposite directions.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February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FEBRUARY · BEST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Best case seen: a marginal window in He/Ethane at 6 mm</a:t>
            </a:r>
          </a:p>
        </p:txBody>
      </p:sp>
      <p:sp>
        <p:nvSpPr>
          <p:cNvPr id="6" name="Rectangle 5"/>
          <p:cNvSpPr/>
          <p:nvPr/>
        </p:nvSpPr>
        <p:spPr>
          <a:xfrm>
            <a:off x="478155" y="1453515"/>
            <a:ext cx="5627370" cy="422529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he_overlap_run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463040"/>
            <a:ext cx="560832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66928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Run 94 — SiPM-coincidence beam scan, filtered vs all events.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•  With He/Ethane + 6 mm drift, the efficiency turn-on (~525 V)</a:t>
            </a:r>
          </a:p>
          <a:p>
            <a:pPr lvl="1">
              <a:spcAft>
                <a:spcPts val="6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–  and the DREAM turn-off (~520 V) very nearly overlap.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•  Hints at a narrow ~515–530 V window where the detector may</a:t>
            </a:r>
          </a:p>
          <a:p>
            <a:pPr lvl="1">
              <a:spcAft>
                <a:spcPts val="6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–  be approaching efficiency while DREAM is not yet fully dead.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C0392B"/>
                </a:solidFill>
                <a:latin typeface="Calibri"/>
              </a:rPr>
              <a:t>•  Helium also brings high neutron sensitivity → large point-like</a:t>
            </a:r>
          </a:p>
          <a:p>
            <a:pPr lvl="1">
              <a:spcAft>
                <a:spcPts val="600"/>
              </a:spcAft>
            </a:pPr>
            <a:r>
              <a:rPr sz="1250" b="0" i="0">
                <a:solidFill>
                  <a:srgbClr val="C0392B"/>
                </a:solidFill>
                <a:latin typeface="Calibri"/>
              </a:rPr>
              <a:t>–  background in the same window.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142C52"/>
                </a:solidFill>
                <a:latin typeface="Calibri"/>
              </a:rPr>
              <a:t>•  Encouraging but unproven; not a robust working 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February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FEBRUARY ·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February — what we understood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338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 i="0">
                <a:solidFill>
                  <a:srgbClr val="142C52"/>
                </a:solidFill>
                <a:latin typeface="Calibri"/>
              </a:rPr>
              <a:t>•  Confirmed: the DREAM DAQ (not the detector) is the limiting element — it saturates from</a:t>
            </a:r>
          </a:p>
          <a:p>
            <a:pPr lvl="1"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–  the flash at operating HV and stays blind for the full readout window.</a:t>
            </a:r>
          </a:p>
          <a:p>
            <a:pPr>
              <a:spcAft>
                <a:spcPts val="600"/>
              </a:spcAft>
            </a:pPr>
            <a:r>
              <a:rPr sz="1550" b="0" i="0">
                <a:solidFill>
                  <a:srgbClr val="222222"/>
                </a:solidFill>
                <a:latin typeface="Calibri"/>
              </a:rPr>
              <a:t>•  All Argon-based gases saturate at or below the efficiency threshold → no window.</a:t>
            </a:r>
          </a:p>
          <a:p>
            <a:pPr>
              <a:spcAft>
                <a:spcPts val="600"/>
              </a:spcAft>
            </a:pPr>
            <a:r>
              <a:rPr sz="1550" b="0" i="0">
                <a:solidFill>
                  <a:srgbClr val="222222"/>
                </a:solidFill>
                <a:latin typeface="Calibri"/>
              </a:rPr>
              <a:t>•  Helium/Ethane survives the flash more cleanly, but is highly neutron-sensitive.</a:t>
            </a:r>
          </a:p>
          <a:p>
            <a:pPr>
              <a:spcAft>
                <a:spcPts val="600"/>
              </a:spcAft>
            </a:pPr>
            <a:r>
              <a:rPr sz="1550" b="0" i="0">
                <a:solidFill>
                  <a:srgbClr val="222222"/>
                </a:solidFill>
                <a:latin typeface="Calibri"/>
              </a:rPr>
              <a:t>•  Reducing the drift gap reliably buys HV headroom — but sacrifices µ-TPC tracking.</a:t>
            </a:r>
          </a:p>
          <a:p>
            <a:pPr>
              <a:spcAft>
                <a:spcPts val="600"/>
              </a:spcAft>
            </a:pPr>
            <a:r>
              <a:rPr sz="1550" b="0" i="0">
                <a:solidFill>
                  <a:srgbClr val="222222"/>
                </a:solidFill>
                <a:latin typeface="Calibri"/>
              </a:rPr>
              <a:t>•  Single-strip scope test proves signal exists in the DREAM-blind region.</a:t>
            </a:r>
          </a:p>
          <a:p>
            <a:pPr>
              <a:spcAft>
                <a:spcPts val="600"/>
              </a:spcAft>
            </a:pPr>
            <a:r>
              <a:rPr sz="1550" b="0" i="0">
                <a:solidFill>
                  <a:srgbClr val="222222"/>
                </a:solidFill>
                <a:latin typeface="Calibri"/>
              </a:rPr>
              <a:t>•  Carbon frame: only ~10–20% hit-rate reduction; not worth the complexity.</a:t>
            </a:r>
          </a:p>
          <a:p>
            <a:pPr>
              <a:spcAft>
                <a:spcPts val="600"/>
              </a:spcAft>
            </a:pPr>
            <a:r>
              <a:rPr sz="1550" b="0" i="0">
                <a:solidFill>
                  <a:srgbClr val="222222"/>
                </a:solidFill>
                <a:latin typeface="Calibri"/>
              </a:rPr>
              <a:t>•  Grounding the MX connector cards almost entirely removed flash-induced sinusoidal noise.</a:t>
            </a:r>
          </a:p>
          <a:p>
            <a:pPr>
              <a:spcAft>
                <a:spcPts val="600"/>
              </a:spcAft>
            </a:pPr>
            <a:r>
              <a:rPr sz="1550" b="1" i="0">
                <a:solidFill>
                  <a:srgbClr val="2E8B57"/>
                </a:solidFill>
                <a:latin typeface="Calibri"/>
              </a:rPr>
              <a:t>•  Net: no demonstrated high-energy working point; clear levers and limits identified for May.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February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46304"/>
          </a:xfrm>
          <a:prstGeom prst="rect">
            <a:avLst/>
          </a:prstGeom>
          <a:solidFill>
            <a:srgbClr val="E07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0">
                <a:solidFill>
                  <a:srgbClr val="CFDBEC"/>
                </a:solidFill>
                <a:latin typeface="Calibri"/>
              </a:rPr>
              <a:t>Two Micromegas at 90° — DAQ fixes, flash-mitigation attempts, thermal trigger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MAY ·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May setup — overhead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2560" y="1362075"/>
            <a:ext cx="5087200" cy="523113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tup_m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085" y="1371600"/>
            <a:ext cx="5068150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15544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Two MX17 Micromegas at 90° to each other, ~20 cm from the beam axis: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–  MX17-3 (Det-3): 16 mm drift, full M1 readout — the reliable detector.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–  MX17-4 (Det-4): 30 mm drift, multiplexed M2 — found largely inefficient.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SiPM wall (50×50 cm) behind Det-3.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One GDD trigger scintillator (30×30 cm) behind each detector.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6–18 May; four gas mixtures; scintillator-coincidence trigger commissioned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–  for the first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May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MAY · DAQ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Found &amp; fixed: the DREAM “4096” lock-up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•  First beam runs hit a show-stopper: random DREAM channels stuck at exactly 4096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–  (max ADC) for entire subruns.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•  Diagnosed with Simone's noise generator + Irakli's hint to cut the sample count.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•  A clean sweep (Runs 21–30) bracketed it: lock-up appears at ≳500 samples;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–  ≤450 samples → all channels behave.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B57"/>
                </a:solidFill>
                <a:latin typeface="Calibri"/>
              </a:rPr>
              <a:t>•  Adopted 450 samples = 9 µs window (20 ns/sample) as the standard.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•  Likely a buffer/timing overflow in the DREAM ASIC at long readout length —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–  to be confirmed with Irakli (firmware fix vs hard limit).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•  Consumed ~1.5 days of beam, but unblocked all subsequent running.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4114800" cy="1463040"/>
          </a:xfrm>
          <a:prstGeom prst="roundRect">
            <a:avLst/>
          </a:prstGeom>
          <a:solidFill>
            <a:srgbClr val="FBF3D8"/>
          </a:solidFill>
          <a:ln w="19050">
            <a:solidFill>
              <a:srgbClr val="E0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400" b="0" i="0">
                <a:solidFill>
                  <a:srgbClr val="142C52"/>
                </a:solidFill>
                <a:latin typeface="Calibri"/>
              </a:rPr>
              <a:t>Cost the high-energy window 80 → 9 µs?</a:t>
            </a:r>
          </a:p>
          <a:p>
            <a:r>
              <a:rPr sz="1400" b="0" i="0">
                <a:solidFill>
                  <a:srgbClr val="142C52"/>
                </a:solidFill>
                <a:latin typeface="Calibri"/>
              </a:rPr>
              <a:t>No — 450 samples still spans the</a:t>
            </a:r>
          </a:p>
          <a:p>
            <a:r>
              <a:rPr sz="1400" b="0" i="0">
                <a:solidFill>
                  <a:srgbClr val="142C52"/>
                </a:solidFill>
                <a:latin typeface="Calibri"/>
              </a:rPr>
              <a:t>full ~1 MeV signal region.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06658" y="3556635"/>
            <a:ext cx="4263404" cy="267081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neon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183" y="3566160"/>
            <a:ext cx="4244354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621792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Clean event readout after the fix (Ne/Iso).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May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MAY · MITIGATION ATTEMPTS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Three flash-mitigation ideas — none worked out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54480"/>
          <a:ext cx="11201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931920"/>
                <a:gridCol w="507492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Idea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What we tried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22222"/>
                          </a:solidFill>
                          <a:latin typeface="Calibri"/>
                        </a:rPr>
                        <a:t>2 mm Al plate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22222"/>
                          </a:solidFill>
                          <a:latin typeface="Calibri"/>
                        </a:rPr>
                        <a:t>Shield Det-4 against low-energy X-rays in the flash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22222"/>
                          </a:solidFill>
                          <a:latin typeface="Calibri"/>
                        </a:rPr>
                        <a:t>No effect — flash is dominated by MeV photons/electrons, not keV X-rays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22222"/>
                          </a:solidFill>
                          <a:latin typeface="Calibri"/>
                        </a:rPr>
                        <a:t>Mesh charge injection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22222"/>
                          </a:solidFill>
                          <a:latin typeface="Calibri"/>
                        </a:rPr>
                        <a:t>Inject positive charge on the floating mesh to cancel flash charge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22222"/>
                          </a:solidFill>
                          <a:latin typeface="Calibri"/>
                        </a:rPr>
                        <a:t>Tentative early promise, but circuit killed by 400–800 V discharges from the resistive layer; could not iterate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22222"/>
                          </a:solidFill>
                          <a:latin typeface="Calibri"/>
                        </a:rPr>
                        <a:t>Neon / Isobutane 95/5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22222"/>
                          </a:solidFill>
                          <a:latin typeface="Calibri"/>
                        </a:rPr>
                        <a:t>Lower-Z gas: predicted ‘goldilocks’ between Ar and He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22222"/>
                          </a:solidFill>
                          <a:latin typeface="Calibri"/>
                        </a:rPr>
                        <a:t>Efficiency onset ~490 V, flash-survival peak ~420 V — ~70 V gap, not usable; neon also costly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892040"/>
            <a:ext cx="11201400" cy="1371600"/>
          </a:xfrm>
          <a:prstGeom prst="roundRect">
            <a:avLst/>
          </a:prstGeom>
          <a:solidFill>
            <a:srgbClr val="FBF3D8"/>
          </a:solidFill>
          <a:ln w="19050">
            <a:solidFill>
              <a:srgbClr val="E0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 b="1" i="0">
                <a:solidFill>
                  <a:srgbClr val="142C52"/>
                </a:solidFill>
                <a:latin typeface="Calibri"/>
              </a:rPr>
              <a:t>Conclusion: no viable path to a high-energy measurement was demonstrated. The mesh-injection circuit is the only surviving concept, but needs a discharge-protected redesign. The high-energy measurement is not planned for July.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May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MAY · THERMAL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Pivot: commissioning the thermal-neutron trigger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•  From 13 May, focus shifted to the thermal window (t &gt; ~1 ms): low occupancy, clean topology,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–  no flash in the signal region — the ~20% of yield we can realistically reach.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•  Trigger = SiPM wall (behind Det-3) in coincidence with the GDD scintillator behind it.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–  The coincidence rejects single Compton gammas and selects charged particles through both layers.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42C52"/>
                </a:solidFill>
                <a:latin typeface="Calibri"/>
              </a:rPr>
              <a:t>•  Measured coincidence rates per PS pulse (after monostable correction):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657600"/>
          <a:ext cx="6949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194560"/>
              </a:tblGrid>
              <a:tr h="38862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Coincidence configuration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Non-flash triggers / PS pulse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22222"/>
                          </a:solidFill>
                          <a:latin typeface="Calibri"/>
                        </a:rPr>
                        <a:t>Det-4 scint + Det-3 wall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22222"/>
                          </a:solidFill>
                          <a:latin typeface="Calibri"/>
                        </a:rPr>
                        <a:t>≈ 2.68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22222"/>
                          </a:solidFill>
                          <a:latin typeface="Calibri"/>
                        </a:rPr>
                        <a:t>Det-3 scint + Det-3 wall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22222"/>
                          </a:solidFill>
                          <a:latin typeface="Calibri"/>
                        </a:rPr>
                        <a:t>≈ 6.87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22222"/>
                          </a:solidFill>
                          <a:latin typeface="Calibri"/>
                        </a:rPr>
                        <a:t>Det-4 scint + Det-3 scint + Det-3 wall (3-way)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222222"/>
                          </a:solidFill>
                          <a:latin typeface="Calibri"/>
                        </a:rPr>
                        <a:t>≈ 0.11  (very rare)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0" y="3611880"/>
            <a:ext cx="4206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•  Sr-90 source test: the ~1 mm Al backing on the SiPM wall blocks 1–2 MeV electrons —</a:t>
            </a:r>
          </a:p>
          <a:p>
            <a:pPr lvl="1">
              <a:spcAft>
                <a:spcPts val="600"/>
              </a:spcAft>
            </a:pPr>
            <a:r>
              <a:rPr sz="1200" b="0" i="0">
                <a:solidFill>
                  <a:srgbClr val="C0392B"/>
                </a:solidFill>
                <a:latin typeface="Calibri"/>
              </a:rPr>
              <a:t>–  must be removed/replaced with thin foil for July.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•  Lesson: NIM trigger logic must live inside EAR2 — the long cable run drops signals</a:t>
            </a:r>
          </a:p>
          <a:p>
            <a:pPr lvl="1"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–  below the N1081B 10 mV threshold.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May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MAY · GAS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Four gases on beam —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54480"/>
          <a:ext cx="11201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75438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Gas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Op. V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Flash behaviour / notes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Ar/CF4 90/10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~635 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February standard; flash saturation at op. V; early beam work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Ne/Iso 95/5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~490 V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No discharges on ramp (advantage); flash peak ~420 V → gap not useful; not viable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He/Eth 96.5/3.5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~515 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Lower discharge rate; survives flash best; good thermal data; Feb calibration exists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Ar/CF4/Iso 88/10/2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~800 V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Very high V; heavy sparking on ramp; flash saturation confirmed (Feb benchmark)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572000"/>
            <a:ext cx="11201400" cy="1554480"/>
          </a:xfrm>
          <a:prstGeom prst="roundRect">
            <a:avLst/>
          </a:prstGeom>
          <a:solidFill>
            <a:srgbClr val="FBF3D8"/>
          </a:solidFill>
          <a:ln w="19050">
            <a:solidFill>
              <a:srgbClr val="E0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400" b="0" i="0">
                <a:solidFill>
                  <a:srgbClr val="142C52"/>
                </a:solidFill>
                <a:latin typeface="Calibri"/>
              </a:rPr>
              <a:t>July decision: an Argon/Isobutane mix — operating voltage similar to Ne/Iso, with the higher primary ionisation of an Argon-based gas for track quality. (Note: ZS mode was left on from Run 36 — all Ne/Iso, He/Eth, Ar/CF4/Iso data are zero-suppressed; analysis must account for it.)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May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Summary — what these technical tests established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555555"/>
                </a:solidFill>
                <a:latin typeface="Calibri"/>
              </a:rPr>
              <a:t>•  These were technical tests, not physics runs — the question was feasibility of the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–  high-energy X17 measurement against the gamma flash.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•  The DREAM DAQ saturates from the flash before the detector is efficient to e⁺e⁻ — confirmed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C0392B"/>
                </a:solidFill>
                <a:latin typeface="Calibri"/>
              </a:rPr>
              <a:t>–  in both Feb and May, across all gases tested.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•  Levers we quantified: smaller drift gap buys HV headroom (but kills tracking); He/Ethane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–  survives the flash best; reducing flash charge is the whole game.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•  Mitigation ideas tried — Al shielding, mesh charge injection, neon gas — none gave a usable window.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B57"/>
                </a:solidFill>
                <a:latin typeface="Calibri"/>
              </a:rPr>
              <a:t>•  DAQ understood and hardened: 4096 lock-up fixed (450 samples); grounding, ZS, RunCtrl issues mapped.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B57"/>
                </a:solidFill>
                <a:latin typeface="Calibri"/>
              </a:rPr>
              <a:t>•  The thermal-neutron measurement is the viable path: coincidence trigger commissioned, ~3 triggers/pulse,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E8B57"/>
                </a:solidFill>
                <a:latin typeface="Calibri"/>
              </a:rPr>
              <a:t>–  architecture for July substantially defined.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42C52"/>
                </a:solidFill>
                <a:latin typeface="Calibri"/>
              </a:rPr>
              <a:t>•  July: full 4-detector + ³He-target run, targeting the thermal region.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Summary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46304"/>
          </a:xfrm>
          <a:prstGeom prst="rect">
            <a:avLst/>
          </a:prstGeom>
          <a:solidFill>
            <a:srgbClr val="E07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i="0">
                <a:solidFill>
                  <a:srgbClr val="CFDBEC"/>
                </a:solidFill>
                <a:latin typeface="Calibri"/>
              </a:rPr>
              <a:t>Supporting figures, tables and detail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Motivation — the ATOMKI X17 anomaly</a:t>
            </a:r>
          </a:p>
        </p:txBody>
      </p:sp>
      <p:sp>
        <p:nvSpPr>
          <p:cNvPr id="6" name="Rectangle 5"/>
          <p:cNvSpPr/>
          <p:nvPr/>
        </p:nvSpPr>
        <p:spPr>
          <a:xfrm>
            <a:off x="1391219" y="1453515"/>
            <a:ext cx="9379082" cy="468249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atomki_p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744" y="1463040"/>
            <a:ext cx="9360032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ATOMKI: excess e⁺e⁻ pairs peaking near ~120° opening angle — consistent with a 17 MeV boson.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Backup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FLASH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Gamma flash on the n_TOF 1 GHz DAQ</a:t>
            </a:r>
          </a:p>
        </p:txBody>
      </p:sp>
      <p:sp>
        <p:nvSpPr>
          <p:cNvPr id="6" name="Rectangle 5"/>
          <p:cNvSpPr/>
          <p:nvPr/>
        </p:nvSpPr>
        <p:spPr>
          <a:xfrm>
            <a:off x="2962275" y="1453515"/>
            <a:ext cx="6236970" cy="468249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flash_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463040"/>
            <a:ext cx="6217920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Single MM strip on the n_TOF scope: ~ -15 mV, ~300 ns → ~90 pC/strip, already enough to saturate DREAM. Signals are visible here where DREAM reports nothing.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Backup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FLASH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Flash saturates all DREAM channels (waveforms)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185035" y="1453515"/>
            <a:ext cx="7791450" cy="468249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flash_wave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463040"/>
            <a:ext cx="7772400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Run 18, Ar/CF4/Iso. All X/Y channels driven to the 4096 rail by the flash, then flat baseline — no recovery within the readout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Backup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FLASH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High occupancy in the ~1 MeV neutron peak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88073" y="1453515"/>
            <a:ext cx="5585374" cy="468249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high_occupa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598" y="1463040"/>
            <a:ext cx="5566324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Even when not fully saturated, the post-flash hit density makes individual e⁺e⁻ track reconstruction extremely hard (Helium gas).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Backup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THERMAL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What we CAN see — isolated thermal-region track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3655" y="1453515"/>
            <a:ext cx="7014210" cy="468249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thermal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180" y="1463040"/>
            <a:ext cx="6995160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He/Ethane, 30 mm drift, µ-TPC mode: a clean, well-separated track in the thermal window — exactly the regime targeted for July.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Backup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FEBRUARY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He/Ethane 30 mm — target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78670" y="1453515"/>
            <a:ext cx="8804180" cy="468249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he_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95" y="1463040"/>
            <a:ext cx="8785130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Hits/event vs HV in three time windows for different samples. Carbon turns on/off earliest (more material → more scattering); B4C loudest at late times.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Backup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FEBRUARY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Cost of fewer strips / smaller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66521" y="1453515"/>
            <a:ext cx="8628477" cy="468249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deadzone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46" y="1463040"/>
            <a:ext cx="8609427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Geometry of minimum resolvable angle and dead-zone fractions for the readout/channel-budget trade-offs.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Backup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MAY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Neon/Isobutane event display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9130" y="1453515"/>
            <a:ext cx="7483260" cy="468249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neon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655" y="1463040"/>
            <a:ext cx="7464210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Run 47, Ne/Iso, resist 530 V: waveforms + reconstructed hits. Neon shows cleaner low-energy tracks than Ar/CF4, but no usable flash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Backup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MAY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Sr-90 beta spectrum (source test)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6162" y="1453515"/>
            <a:ext cx="7009195" cy="468249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sr90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687" y="1463040"/>
            <a:ext cx="6990145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Sr-90 endpoint ~2 MeV with substantial spectrum near 1 MeV — used to probe SiPM-wall material budget; the ~1 mm Al backing blocks these electrons.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Backup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EAR2 setup photograph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2963084" y="1453515"/>
            <a:ext cx="6235352" cy="468249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setup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609" y="1463040"/>
            <a:ext cx="6216302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The MX17 detector and DREAM rack installed in EAR2.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Backup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FEBRUARY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February — gases &amp; samples tested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201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03120"/>
                <a:gridCol w="635508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Gas mixture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Key characteristics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Ar/CF4/Iso 88/10/2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Feb 2–7, 9–11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Strong flash saturation; op. V ~490 V; high spark rate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He/Ethane 96.5/3.5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Feb 3–7, 20–Mar 2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Survives flash at low HV; very neutron-sensitive; op. V ~500–540 V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Ar/CF4/CO2 45/40/15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Feb 9–11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Brief; op. V ~680–800 V; outside usable flash window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Ar/CF4 90/10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Feb 10–16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± B4C target; op. V region incompatible with flash survival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Ar/CO2 70/30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Feb 16–Mar 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Op. V ~680–720 V; saturation well below op. 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023360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•  Samples: empty / lead (gammas) / B4C (strong n absorber) / carbon (≈ July capsule) / Timepix.</a:t>
            </a:r>
          </a:p>
          <a:p>
            <a:pPr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•  Drift gaps: 30 mm (µ-TPC) → 6 mm (Feb 18) → 11 mm (final days). Frame: aluminium → carbon (Feb 26).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2E8B57"/>
                </a:solidFill>
                <a:latin typeface="Calibri"/>
              </a:rPr>
              <a:t>•  Feb 19: single-strip scope test conclusively pins the blindness on DREAM, not the detector.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Backup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FEBRUARY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February — selected run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08760"/>
          <a:ext cx="10881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280160"/>
                <a:gridCol w="1828800"/>
                <a:gridCol w="1463040"/>
                <a:gridCol w="914400"/>
                <a:gridCol w="1280160"/>
                <a:gridCol w="3200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Gas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Drift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Frame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Feb 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Ar/CF4/Iso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Timepix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First detailed flash study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Feb 4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He/Eth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Al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Overnight HV scan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Feb 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He/Eth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B4C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B4C vs no-target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Feb 6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He/Eth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Carbon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Al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Carbon target scan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52–54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Feb 11–12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Ar/CF4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SiPM-triggered cosmics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Feb 19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Ar/CO2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B4C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Al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0 V vs 1000 V drift — 6 mm alive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Feb 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He/Eth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Cs-137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Key efficiency calibration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Feb 28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He/Eth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Lead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Carbon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Al vs carbon frame (~10–20%)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143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Mar 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He/Eth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Carbon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Carbon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Calibri"/>
                        </a:rPr>
                        <a:t>Final 11 mm dataset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Backup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MAY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May — issues identified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201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629400"/>
              </a:tblGrid>
              <a:tr h="4673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Issue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Status / action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DREAM 4096 lock-up at ≳470 samples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RESOLVED — limit to 450 samples (9 µs window)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Zero-suppression left on from Run 36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All Ne/Iso, He/Eth, Ar/CF4/Iso data are ZS; reprocess with flag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Det-4 largely inefficient (M2 mux)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Physics analysis relies on Det-3 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SiPM wall ~1 mm Al backing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Blocks 1–2 MeV e⁻; remove / thin-foil for July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NIM trigger outside EAR2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Cable attenuation &lt; N1081B threshold; move logic in-area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B4C target misaligned (Runs 35–44)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B4C data from those runs suspect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RunCtrl manual ‘G’ keypress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Needs software watchdog for overnight runs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Disk I/O bottleneck on DAQ PC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Clone OS to SSD before July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Backup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July concept — thermal trigger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430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 i="0">
                <a:solidFill>
                  <a:srgbClr val="142C52"/>
                </a:solidFill>
                <a:latin typeface="Calibri"/>
              </a:rPr>
              <a:t>•  Full four-detector geometry around a pressurised ³He carbon capsule.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Per side: SiPM wall (16/20 bars → 8 channels) summed &amp; discriminated → one logic pulse.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Coincide with the first layer of a new liquid-scintillator calorimeter (PMT readout) →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–  a “sector hit” that rejects single Compton gammas but accepts e⁺/e⁻.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Singles = any one sector; Doubles = majority ≥2 (for a ~120° pair).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Optional hardware PS-flash veto; scaledown to Doubles if singles rate too high.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Liquid scintillator must contain up to 10 MeV e± within ~5 cm (GEANT4 to verify acceptance).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Rate scaling vs empty-capsule ~3/pulse: area ×1.8, no Al ×~2, ³He fill ×2–3, four walls ×4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–  → O(50–200) singles/pulse; DREAM dead-time vs rate must be modelled to choose Singles vs Doubles.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Backup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E07820"/>
                </a:solidFill>
                <a:latin typeface="Calibri"/>
              </a:rPr>
              <a:t>BACKUP ·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2C52"/>
                </a:solidFill>
                <a:latin typeface="Calibri"/>
              </a:rPr>
              <a:t>Roadmap to July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54480"/>
          <a:ext cx="1120139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7726679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Key items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June 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Production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Build 4 final MMs (30 mm, Al frame); upgrade/obtain DREAM FEUs &amp; 64 cables; build liquid-scint modules &amp; 3 more SiPM walls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June 2026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DAQ &amp; trigger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In-area NIM trigger (N1081B, veto); SSD clone; auto-ZS detection; RunCtrl watchdog; GEANT4 acceptance + dead-time model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July 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Physics run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Four-detector thermal-region X17 search with ³He target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9377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•  Open detector-quality question: Det-4 inefficiency and Det-3 discharges — root cause before building the four.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n_TOF X17  ·  Backup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