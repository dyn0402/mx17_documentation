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64592"/>
          </a:xfrm>
          <a:prstGeom prst="rect">
            <a:avLst/>
          </a:prstGeom>
          <a:solidFill>
            <a:srgbClr val="E07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libri"/>
              </a:rPr>
              <a:t>Searching for the X17 at n_TOF EAR2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146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0" i="0">
                <a:solidFill>
                  <a:srgbClr val="CFDBEC"/>
                </a:solidFill>
                <a:latin typeface="Calibri"/>
              </a:rPr>
              <a:t>February &amp; May 2026 Beam Tests — Status, Results &amp; What We Learned</a:t>
            </a:r>
          </a:p>
          <a:p>
            <a:r>
              <a:rPr sz="1500" b="0" i="1">
                <a:solidFill>
                  <a:srgbClr val="AEC3DC"/>
                </a:solidFill>
                <a:latin typeface="Calibri"/>
              </a:rPr>
              <a:t>Technical tests of the high-energy measurement against the gamma flash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76072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0">
                <a:solidFill>
                  <a:srgbClr val="9AAEC8"/>
                </a:solidFill>
                <a:latin typeface="Calibri"/>
              </a:rPr>
              <a:t>n_TOF Collaboration  ·  EAR2, CERN  ·  Internal status —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4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 i="0">
                <a:solidFill>
                  <a:srgbClr val="E07820"/>
                </a:solidFill>
                <a:latin typeface="Calibri"/>
              </a:rPr>
              <a:t>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42C52"/>
                </a:solidFill>
                <a:latin typeface="Calibri"/>
              </a:rPr>
              <a:t>The measurement and its central 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63040"/>
            <a:ext cx="6400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Goal: search for the hypothetical X17 boson via the e⁺e⁻ pairs it would emit,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–  looking for a peak in the pair opening angle near 120°.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EAR2 sits 20 m directly above the lead spallation target. Each PS proton bunch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–  on the target produces a broad neutron spectrum — ~80% of the expected X17 yield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–  is in the first ~10 µs (the ~1 MeV neutron region).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C0392B"/>
                </a:solidFill>
                <a:latin typeface="Calibri"/>
              </a:rPr>
              <a:t>•  The catch — the “gamma flash”: every relativistic particle from the bunch hitting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C0392B"/>
                </a:solidFill>
                <a:latin typeface="Calibri"/>
              </a:rPr>
              <a:t>–  the lead target arrives in EAR2 essentially all at once.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It dumps enormous charge in the Micromegas and saturates (“blinds”) the DREAM DAQ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–  exactly when the high-energy X17 signal would appear.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31355" y="1645539"/>
            <a:ext cx="4865370" cy="292684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_yield_t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655064"/>
            <a:ext cx="4846320" cy="290779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040880" y="4663440"/>
            <a:ext cx="4846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1">
                <a:solidFill>
                  <a:srgbClr val="555555"/>
                </a:solidFill>
                <a:latin typeface="Calibri"/>
              </a:rPr>
              <a:t>Expected X17 yield vs neutron flight time. Flash at t≈0; DREAM dead-time follows.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40880" y="4983480"/>
            <a:ext cx="4846320" cy="1005840"/>
          </a:xfrm>
          <a:prstGeom prst="roundRect">
            <a:avLst/>
          </a:prstGeom>
          <a:solidFill>
            <a:srgbClr val="FBF3D8"/>
          </a:solidFill>
          <a:ln w="19050">
            <a:solidFill>
              <a:srgbClr val="E07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400" b="1" i="0">
                <a:solidFill>
                  <a:srgbClr val="142C52"/>
                </a:solidFill>
                <a:latin typeface="Calibri"/>
              </a:rPr>
              <a:t>Feb &amp; May were technical tests: can we survive the flash and still</a:t>
            </a:r>
          </a:p>
          <a:p>
            <a:r>
              <a:rPr sz="1400" b="1" i="0">
                <a:solidFill>
                  <a:srgbClr val="142C52"/>
                </a:solidFill>
                <a:latin typeface="Calibri"/>
              </a:rPr>
              <a:t>be efficient to e⁺e⁻ tracks in the high-energy window?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455664"/>
            <a:ext cx="1463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Calibri"/>
              </a:rPr>
              <a:t>n_TOF X17  ·  Context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4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 i="0">
                <a:solidFill>
                  <a:srgbClr val="E07820"/>
                </a:solidFill>
                <a:latin typeface="Calibri"/>
              </a:rPr>
              <a:t>THE CORE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42C52"/>
                </a:solidFill>
                <a:latin typeface="Calibri"/>
              </a:rPr>
              <a:t>The gamma flash blinds the DREAM DAQ</a:t>
            </a:r>
          </a:p>
        </p:txBody>
      </p:sp>
      <p:sp>
        <p:nvSpPr>
          <p:cNvPr id="6" name="Rectangle 5"/>
          <p:cNvSpPr/>
          <p:nvPr/>
        </p:nvSpPr>
        <p:spPr>
          <a:xfrm>
            <a:off x="1703951" y="1407795"/>
            <a:ext cx="8753617" cy="294513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dream_progr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3476" y="1417320"/>
            <a:ext cx="8734567" cy="2926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434340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1">
                <a:solidFill>
                  <a:srgbClr val="555555"/>
                </a:solidFill>
                <a:latin typeface="Calibri"/>
              </a:rPr>
              <a:t>Helium/Ethane, 30 mm drift. Raising resist HV (360→510 V): flash fills the readout, then ALL channels go flat — DREAM saturates for the full 10 µs window.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800600"/>
            <a:ext cx="11155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</a:rPr>
              <a:t>•  At low HV the detector is not yet efficient to ~MeV electrons/positrons.</a:t>
            </a:r>
          </a:p>
          <a:p>
            <a:pPr>
              <a:spcAft>
                <a:spcPts val="6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</a:rPr>
              <a:t>•  As HV is raised toward efficiency, the flash charge grows until the DREAM front-end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</a:rPr>
              <a:t>–  locks at baseline and recovers only after the entire 10 µs readout window.</a:t>
            </a:r>
          </a:p>
          <a:p>
            <a:pPr>
              <a:spcAft>
                <a:spcPts val="600"/>
              </a:spcAft>
            </a:pPr>
            <a:r>
              <a:rPr sz="1400" b="1" i="0">
                <a:solidFill>
                  <a:srgbClr val="2E8B57"/>
                </a:solidFill>
                <a:latin typeface="Calibri"/>
              </a:rPr>
              <a:t>•  Confirmed to be a DAQ limit (not the detector) — see backup: single MM strip read on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2E8B57"/>
                </a:solidFill>
                <a:latin typeface="Calibri"/>
              </a:rPr>
              <a:t>–  the n_TOF 1 GHz scope shows clear signals where DREAM reports nothing.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55664"/>
            <a:ext cx="1463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Calibri"/>
              </a:rPr>
              <a:t>n_TOF X17  ·  Problem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146304"/>
          </a:xfrm>
          <a:prstGeom prst="rect">
            <a:avLst/>
          </a:prstGeom>
          <a:solidFill>
            <a:srgbClr val="E07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 i="0">
                <a:solidFill>
                  <a:srgbClr val="FFFFFF"/>
                </a:solidFill>
                <a:latin typeface="Calibri"/>
              </a:rPr>
              <a:t>February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7180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0" i="0">
                <a:solidFill>
                  <a:srgbClr val="CFDBEC"/>
                </a:solidFill>
                <a:latin typeface="Calibri"/>
              </a:rPr>
              <a:t>Single Micromegas + SiPM wall — first characterisation in the n_TOF beam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4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 i="0">
                <a:solidFill>
                  <a:srgbClr val="E07820"/>
                </a:solidFill>
                <a:latin typeface="Calibri"/>
              </a:rPr>
              <a:t>FEBRUARY · 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42C52"/>
                </a:solidFill>
                <a:latin typeface="Calibri"/>
              </a:rPr>
              <a:t>February setup — overhead 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1651786" y="1362075"/>
            <a:ext cx="3462988" cy="513969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etup_febru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1311" y="1371600"/>
            <a:ext cx="3443938" cy="5120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583680" y="1554480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 i="0">
                <a:solidFill>
                  <a:srgbClr val="222222"/>
                </a:solidFill>
                <a:latin typeface="Calibri"/>
              </a:rPr>
              <a:t>•  One prototype MX17 resistive-strip Micromegas (40×40 cm) ~20 cm from the beam axis.</a:t>
            </a:r>
          </a:p>
          <a:p>
            <a:pPr>
              <a:spcAft>
                <a:spcPts val="600"/>
              </a:spcAft>
            </a:pPr>
            <a:r>
              <a:rPr sz="1450" b="0" i="0">
                <a:solidFill>
                  <a:srgbClr val="222222"/>
                </a:solidFill>
                <a:latin typeface="Calibri"/>
              </a:rPr>
              <a:t>•  One SiPM wall (50×50 cm, 20 × 2.5 cm bars) directly behind it.</a:t>
            </a:r>
          </a:p>
          <a:p>
            <a:pPr>
              <a:spcAft>
                <a:spcPts val="600"/>
              </a:spcAft>
            </a:pPr>
            <a:r>
              <a:rPr sz="1450" b="0" i="0">
                <a:solidFill>
                  <a:srgbClr val="222222"/>
                </a:solidFill>
                <a:latin typeface="Calibri"/>
              </a:rPr>
              <a:t>•  No ³He target — samples (empty, lead, B4C, carbon, Timepix) swapped on the beam line.</a:t>
            </a:r>
          </a:p>
          <a:p>
            <a:pPr>
              <a:spcAft>
                <a:spcPts val="600"/>
              </a:spcAft>
            </a:pPr>
            <a:r>
              <a:rPr sz="1450" b="0" i="0">
                <a:solidFill>
                  <a:srgbClr val="222222"/>
                </a:solidFill>
                <a:latin typeface="Calibri"/>
              </a:rPr>
              <a:t>•  Read out with the DREAM DAQ; PS-pickup trigger aligned just before the flash.</a:t>
            </a:r>
          </a:p>
          <a:p>
            <a:pPr>
              <a:spcAft>
                <a:spcPts val="600"/>
              </a:spcAft>
            </a:pPr>
            <a:r>
              <a:rPr sz="1450" b="0" i="0">
                <a:solidFill>
                  <a:srgbClr val="222222"/>
                </a:solidFill>
                <a:latin typeface="Calibri"/>
              </a:rPr>
              <a:t>•  Variables scanned: gas (Ar- and He-based), resist HV, drift gap (30 → 11 → 6 mm),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222222"/>
                </a:solidFill>
                <a:latin typeface="Calibri"/>
              </a:rPr>
              <a:t>–  aluminium vs carbon frame.</a:t>
            </a:r>
          </a:p>
          <a:p>
            <a:pPr>
              <a:spcAft>
                <a:spcPts val="600"/>
              </a:spcAft>
            </a:pPr>
            <a:r>
              <a:rPr sz="1450" b="1" i="0">
                <a:solidFill>
                  <a:srgbClr val="142C52"/>
                </a:solidFill>
                <a:latin typeface="Calibri"/>
              </a:rPr>
              <a:t>•  On beam ~1 month — the workhorse dataset for understanding the flash.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463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Calibri"/>
              </a:rPr>
              <a:t>n_TOF X17  ·  February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4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 i="0">
                <a:solidFill>
                  <a:srgbClr val="E07820"/>
                </a:solidFill>
                <a:latin typeface="Calibri"/>
              </a:rPr>
              <a:t>FEBRUARY · KEY RESULT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42C52"/>
                </a:solidFill>
                <a:latin typeface="Calibri"/>
              </a:rPr>
              <a:t>DREAM saturates BEFORE the detector is efficient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401955" y="2394041"/>
            <a:ext cx="7334250" cy="289287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sat_vs_e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403566"/>
            <a:ext cx="7315200" cy="28738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626364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1">
                <a:solidFill>
                  <a:srgbClr val="555555"/>
                </a:solidFill>
                <a:latin typeface="Calibri"/>
              </a:rPr>
              <a:t>He/Ethane, empty carbon capsule. Solid: hits/event in the 1.5–5.4 µs signal window vs HV (rises, peaks, then →0 as DREAM saturates). Dashed: e⁻ efficiency calibrations.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1554480"/>
            <a:ext cx="4206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50" b="0" i="0">
                <a:solidFill>
                  <a:srgbClr val="222222"/>
                </a:solidFill>
                <a:latin typeface="Calibri"/>
              </a:rPr>
              <a:t>•  Primary metric: mean strip hits/event vs resist HV,</a:t>
            </a:r>
          </a:p>
          <a:p>
            <a:pPr lvl="1">
              <a:spcAft>
                <a:spcPts val="600"/>
              </a:spcAft>
            </a:pPr>
            <a:r>
              <a:rPr sz="1250" b="0" i="0">
                <a:solidFill>
                  <a:srgbClr val="222222"/>
                </a:solidFill>
                <a:latin typeface="Calibri"/>
              </a:rPr>
              <a:t>–  in the ~1 MeV signal window (1.5–5.4 µs).</a:t>
            </a:r>
          </a:p>
          <a:p>
            <a:pPr>
              <a:spcAft>
                <a:spcPts val="600"/>
              </a:spcAft>
            </a:pPr>
            <a:r>
              <a:rPr sz="1350" b="0" i="0">
                <a:solidFill>
                  <a:srgbClr val="222222"/>
                </a:solidFill>
                <a:latin typeface="Calibri"/>
              </a:rPr>
              <a:t>•  Curve rises as the detector turns on, then collapses</a:t>
            </a:r>
          </a:p>
          <a:p>
            <a:pPr lvl="1">
              <a:spcAft>
                <a:spcPts val="600"/>
              </a:spcAft>
            </a:pPr>
            <a:r>
              <a:rPr sz="1250" b="0" i="0">
                <a:solidFill>
                  <a:srgbClr val="222222"/>
                </a:solidFill>
                <a:latin typeface="Calibri"/>
              </a:rPr>
              <a:t>–  to zero as the flash saturates DREAM.</a:t>
            </a:r>
          </a:p>
          <a:p>
            <a:pPr>
              <a:spcAft>
                <a:spcPts val="600"/>
              </a:spcAft>
            </a:pPr>
            <a:r>
              <a:rPr sz="1350" b="1" i="0">
                <a:solidFill>
                  <a:srgbClr val="C0392B"/>
                </a:solidFill>
                <a:latin typeface="Calibri"/>
              </a:rPr>
              <a:t>•  The collapse (“turn-off”) happens at LOWER HV than</a:t>
            </a:r>
          </a:p>
          <a:p>
            <a:pPr lvl="1">
              <a:spcAft>
                <a:spcPts val="600"/>
              </a:spcAft>
            </a:pPr>
            <a:r>
              <a:rPr sz="1250" b="0" i="0">
                <a:solidFill>
                  <a:srgbClr val="C0392B"/>
                </a:solidFill>
                <a:latin typeface="Calibri"/>
              </a:rPr>
              <a:t>–  the electron-efficiency plateau (Cs-137 &amp; scint.).</a:t>
            </a:r>
          </a:p>
          <a:p>
            <a:pPr>
              <a:spcAft>
                <a:spcPts val="600"/>
              </a:spcAft>
            </a:pPr>
            <a:r>
              <a:rPr sz="1350" b="1" i="0">
                <a:solidFill>
                  <a:srgbClr val="142C52"/>
                </a:solidFill>
                <a:latin typeface="Calibri"/>
              </a:rPr>
              <a:t>•  ⇒ No usable operating window for the high-energy</a:t>
            </a:r>
          </a:p>
          <a:p>
            <a:pPr lvl="1">
              <a:spcAft>
                <a:spcPts val="600"/>
              </a:spcAft>
            </a:pPr>
            <a:r>
              <a:rPr sz="1250" b="1" i="0">
                <a:solidFill>
                  <a:srgbClr val="142C52"/>
                </a:solidFill>
                <a:latin typeface="Calibri"/>
              </a:rPr>
              <a:t>–  measurement in this configuration.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55664"/>
            <a:ext cx="1463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Calibri"/>
              </a:rPr>
              <a:t>n_TOF X17  ·  February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4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 i="0">
                <a:solidFill>
                  <a:srgbClr val="E07820"/>
                </a:solidFill>
                <a:latin typeface="Calibri"/>
              </a:rPr>
              <a:t>FEBRUARY · WHAT HELPED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42C52"/>
                </a:solidFill>
                <a:latin typeface="Calibri"/>
              </a:rPr>
              <a:t>Smaller drift gap → DREAM survives to higher HV</a:t>
            </a:r>
          </a:p>
        </p:txBody>
      </p:sp>
      <p:sp>
        <p:nvSpPr>
          <p:cNvPr id="6" name="Rectangle 5"/>
          <p:cNvSpPr/>
          <p:nvPr/>
        </p:nvSpPr>
        <p:spPr>
          <a:xfrm>
            <a:off x="356235" y="1567815"/>
            <a:ext cx="7059930" cy="353949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driftgap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77340"/>
            <a:ext cx="7040880" cy="35204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488554" y="1659255"/>
            <a:ext cx="4499610" cy="225933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_turnoff_vs_dri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79" y="1668780"/>
            <a:ext cx="4480560" cy="2240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5440680"/>
            <a:ext cx="11521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50" b="0" i="0">
                <a:solidFill>
                  <a:srgbClr val="222222"/>
                </a:solidFill>
                <a:latin typeface="Calibri"/>
              </a:rPr>
              <a:t>•  Reducing the active volume (30 → 11 → 6 mm drift) lowers the flash charge integrated by DREAM,</a:t>
            </a:r>
          </a:p>
          <a:p>
            <a:pPr lvl="1">
              <a:spcAft>
                <a:spcPts val="600"/>
              </a:spcAft>
            </a:pPr>
            <a:r>
              <a:rPr sz="1250" b="0" i="0">
                <a:solidFill>
                  <a:srgbClr val="222222"/>
                </a:solidFill>
                <a:latin typeface="Calibri"/>
              </a:rPr>
              <a:t>–  so the turn-off shifts up: ~430 V (30 mm) → ~470 V (11 mm) → ~500 V (6 mm) in He/Ethane.</a:t>
            </a:r>
          </a:p>
          <a:p>
            <a:pPr>
              <a:spcAft>
                <a:spcPts val="600"/>
              </a:spcAft>
            </a:pPr>
            <a:r>
              <a:rPr sz="1350" b="1" i="0">
                <a:solidFill>
                  <a:srgbClr val="142C52"/>
                </a:solidFill>
                <a:latin typeface="Calibri"/>
              </a:rPr>
              <a:t>•  Firm, repeatable conclusion. But extrapolation suggests we'd need ≲3 mm drift to reach efficiency —</a:t>
            </a:r>
          </a:p>
          <a:p>
            <a:pPr lvl="1">
              <a:spcAft>
                <a:spcPts val="600"/>
              </a:spcAft>
            </a:pPr>
            <a:r>
              <a:rPr sz="1250" b="0" i="0">
                <a:solidFill>
                  <a:srgbClr val="222222"/>
                </a:solidFill>
                <a:latin typeface="Calibri"/>
              </a:rPr>
              <a:t>–  not demonstrated, and not robust without a Saclay cosmic calibration in the same gas.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455664"/>
            <a:ext cx="1463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Calibri"/>
              </a:rPr>
              <a:t>n_TOF X17  ·  February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4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 i="0">
                <a:solidFill>
                  <a:srgbClr val="E07820"/>
                </a:solidFill>
                <a:latin typeface="Calibri"/>
              </a:rPr>
              <a:t>FEBRUARY · THE TRADE-OFF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42C52"/>
                </a:solidFill>
                <a:latin typeface="Calibri"/>
              </a:rPr>
              <a:t>…but smaller drift gap costs us the tracking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01955" y="1709547"/>
            <a:ext cx="6785610" cy="4078986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angres_vs_dri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19072"/>
            <a:ext cx="6766560" cy="405993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6035040"/>
            <a:ext cx="6766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1">
                <a:solidFill>
                  <a:srgbClr val="555555"/>
                </a:solidFill>
                <a:latin typeface="Calibri"/>
              </a:rPr>
              <a:t>Max resolvable opening angle vs drift gap (µ-TPC mode).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155448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50" b="0" i="0">
                <a:solidFill>
                  <a:srgbClr val="222222"/>
                </a:solidFill>
                <a:latin typeface="Calibri"/>
              </a:rPr>
              <a:t>•  The 30 mm gap enables µ-TPC mode: full 3-D track angle</a:t>
            </a:r>
          </a:p>
          <a:p>
            <a:pPr lvl="1">
              <a:spcAft>
                <a:spcPts val="600"/>
              </a:spcAft>
            </a:pPr>
            <a:r>
              <a:rPr sz="1250" b="0" i="0">
                <a:solidFill>
                  <a:srgbClr val="222222"/>
                </a:solidFill>
                <a:latin typeface="Calibri"/>
              </a:rPr>
              <a:t>–  reconstruction (≈2° resolution on the Saclay bench).</a:t>
            </a:r>
          </a:p>
          <a:p>
            <a:pPr>
              <a:spcAft>
                <a:spcPts val="600"/>
              </a:spcAft>
            </a:pPr>
            <a:r>
              <a:rPr sz="1350" b="1" i="0">
                <a:solidFill>
                  <a:srgbClr val="C0392B"/>
                </a:solidFill>
                <a:latin typeface="Calibri"/>
              </a:rPr>
              <a:t>•  Shrinking the gap to survive the flash sacrifices the</a:t>
            </a:r>
          </a:p>
          <a:p>
            <a:pPr lvl="1">
              <a:spcAft>
                <a:spcPts val="600"/>
              </a:spcAft>
            </a:pPr>
            <a:r>
              <a:rPr sz="1250" b="0" i="0">
                <a:solidFill>
                  <a:srgbClr val="C0392B"/>
                </a:solidFill>
                <a:latin typeface="Calibri"/>
              </a:rPr>
              <a:t>–  longitudinal lever arm → no 3-D angle, only projected hits</a:t>
            </a:r>
          </a:p>
          <a:p>
            <a:pPr lvl="1">
              <a:spcAft>
                <a:spcPts val="600"/>
              </a:spcAft>
            </a:pPr>
            <a:r>
              <a:rPr sz="1250" b="0" i="0">
                <a:solidFill>
                  <a:srgbClr val="C0392B"/>
                </a:solidFill>
                <a:latin typeface="Calibri"/>
              </a:rPr>
              <a:t>–  (“hit mode”).</a:t>
            </a:r>
          </a:p>
          <a:p>
            <a:pPr>
              <a:spcAft>
                <a:spcPts val="600"/>
              </a:spcAft>
            </a:pPr>
            <a:r>
              <a:rPr sz="1350" b="0" i="0">
                <a:solidFill>
                  <a:srgbClr val="222222"/>
                </a:solidFill>
                <a:latin typeface="Calibri"/>
              </a:rPr>
              <a:t>•  Fewer readout strips for July (channel budget) further</a:t>
            </a:r>
          </a:p>
          <a:p>
            <a:pPr lvl="1">
              <a:spcAft>
                <a:spcPts val="600"/>
              </a:spcAft>
            </a:pPr>
            <a:r>
              <a:rPr sz="1250" b="0" i="0">
                <a:solidFill>
                  <a:srgbClr val="222222"/>
                </a:solidFill>
                <a:latin typeface="Calibri"/>
              </a:rPr>
              <a:t>–  degrades the minimum resolvable angle.</a:t>
            </a:r>
          </a:p>
          <a:p>
            <a:pPr>
              <a:spcAft>
                <a:spcPts val="600"/>
              </a:spcAft>
            </a:pPr>
            <a:r>
              <a:rPr sz="1350" b="1" i="0">
                <a:solidFill>
                  <a:srgbClr val="142C52"/>
                </a:solidFill>
                <a:latin typeface="Calibri"/>
              </a:rPr>
              <a:t>•  So: a flash-surviving config and a track-reconstructing</a:t>
            </a:r>
          </a:p>
          <a:p>
            <a:pPr lvl="1">
              <a:spcAft>
                <a:spcPts val="600"/>
              </a:spcAft>
            </a:pPr>
            <a:r>
              <a:rPr sz="1250" b="1" i="0">
                <a:solidFill>
                  <a:srgbClr val="142C52"/>
                </a:solidFill>
                <a:latin typeface="Calibri"/>
              </a:rPr>
              <a:t>–  config pull in opposite directions.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55664"/>
            <a:ext cx="1463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Calibri"/>
              </a:rPr>
              <a:t>n_TOF X17  ·  February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4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 i="0">
                <a:solidFill>
                  <a:srgbClr val="E07820"/>
                </a:solidFill>
                <a:latin typeface="Calibri"/>
              </a:rPr>
              <a:t>FEBRUARY · BEST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42C52"/>
                </a:solidFill>
                <a:latin typeface="Calibri"/>
              </a:rPr>
              <a:t>Best case seen: a marginal window in He/Ethane at 6 mm</a:t>
            </a:r>
          </a:p>
        </p:txBody>
      </p:sp>
      <p:sp>
        <p:nvSpPr>
          <p:cNvPr id="6" name="Rectangle 5"/>
          <p:cNvSpPr/>
          <p:nvPr/>
        </p:nvSpPr>
        <p:spPr>
          <a:xfrm>
            <a:off x="478155" y="1453515"/>
            <a:ext cx="5627370" cy="422529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he_overlap_run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80" y="1463040"/>
            <a:ext cx="5608320" cy="4206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5669280"/>
            <a:ext cx="5669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1">
                <a:solidFill>
                  <a:srgbClr val="555555"/>
                </a:solidFill>
                <a:latin typeface="Calibri"/>
              </a:rPr>
              <a:t>Run 94 — SiPM-coincidence beam scan, filtered vs all events.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55448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50" b="0" i="0">
                <a:solidFill>
                  <a:srgbClr val="222222"/>
                </a:solidFill>
                <a:latin typeface="Calibri"/>
              </a:rPr>
              <a:t>•  With He/Ethane + 6 mm drift, the efficiency turn-on (~525 V)</a:t>
            </a:r>
          </a:p>
          <a:p>
            <a:pPr lvl="1">
              <a:spcAft>
                <a:spcPts val="600"/>
              </a:spcAft>
            </a:pPr>
            <a:r>
              <a:rPr sz="1250" b="0" i="0">
                <a:solidFill>
                  <a:srgbClr val="222222"/>
                </a:solidFill>
                <a:latin typeface="Calibri"/>
              </a:rPr>
              <a:t>–  and the DREAM turn-off (~520 V) very nearly overlap.</a:t>
            </a:r>
          </a:p>
          <a:p>
            <a:pPr>
              <a:spcAft>
                <a:spcPts val="600"/>
              </a:spcAft>
            </a:pPr>
            <a:r>
              <a:rPr sz="1350" b="0" i="0">
                <a:solidFill>
                  <a:srgbClr val="222222"/>
                </a:solidFill>
                <a:latin typeface="Calibri"/>
              </a:rPr>
              <a:t>•  Hints at a narrow ~515–530 V window where the detector may</a:t>
            </a:r>
          </a:p>
          <a:p>
            <a:pPr lvl="1">
              <a:spcAft>
                <a:spcPts val="600"/>
              </a:spcAft>
            </a:pPr>
            <a:r>
              <a:rPr sz="1250" b="0" i="0">
                <a:solidFill>
                  <a:srgbClr val="222222"/>
                </a:solidFill>
                <a:latin typeface="Calibri"/>
              </a:rPr>
              <a:t>–  be approaching efficiency while DREAM is not yet fully dead.</a:t>
            </a:r>
          </a:p>
          <a:p>
            <a:pPr>
              <a:spcAft>
                <a:spcPts val="600"/>
              </a:spcAft>
            </a:pPr>
            <a:r>
              <a:rPr sz="1350" b="1" i="0">
                <a:solidFill>
                  <a:srgbClr val="C0392B"/>
                </a:solidFill>
                <a:latin typeface="Calibri"/>
              </a:rPr>
              <a:t>•  Helium also brings high neutron sensitivity → large point-like</a:t>
            </a:r>
          </a:p>
          <a:p>
            <a:pPr lvl="1">
              <a:spcAft>
                <a:spcPts val="600"/>
              </a:spcAft>
            </a:pPr>
            <a:r>
              <a:rPr sz="1250" b="0" i="0">
                <a:solidFill>
                  <a:srgbClr val="C0392B"/>
                </a:solidFill>
                <a:latin typeface="Calibri"/>
              </a:rPr>
              <a:t>–  background in the same window.</a:t>
            </a:r>
          </a:p>
          <a:p>
            <a:pPr>
              <a:spcAft>
                <a:spcPts val="600"/>
              </a:spcAft>
            </a:pPr>
            <a:r>
              <a:rPr sz="1350" b="1" i="0">
                <a:solidFill>
                  <a:srgbClr val="142C52"/>
                </a:solidFill>
                <a:latin typeface="Calibri"/>
              </a:rPr>
              <a:t>•  Encouraging but unproven; not a robust working point.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55664"/>
            <a:ext cx="1463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Calibri"/>
              </a:rPr>
              <a:t>n_TOF X17  ·  February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4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 i="0">
                <a:solidFill>
                  <a:srgbClr val="E07820"/>
                </a:solidFill>
                <a:latin typeface="Calibri"/>
              </a:rPr>
              <a:t>FEBRUARY ·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42C52"/>
                </a:solidFill>
                <a:latin typeface="Calibri"/>
              </a:rPr>
              <a:t>February — what we understood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113385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50" b="1" i="0">
                <a:solidFill>
                  <a:srgbClr val="142C52"/>
                </a:solidFill>
                <a:latin typeface="Calibri"/>
              </a:rPr>
              <a:t>•  Confirmed: the DREAM DAQ (not the detector) is the limiting element — it saturates from</a:t>
            </a:r>
          </a:p>
          <a:p>
            <a:pPr lvl="1">
              <a:spcAft>
                <a:spcPts val="600"/>
              </a:spcAft>
            </a:pPr>
            <a:r>
              <a:rPr sz="1450" b="0" i="0">
                <a:solidFill>
                  <a:srgbClr val="222222"/>
                </a:solidFill>
                <a:latin typeface="Calibri"/>
              </a:rPr>
              <a:t>–  the flash at operating HV and stays blind for the full readout window.</a:t>
            </a:r>
          </a:p>
          <a:p>
            <a:pPr>
              <a:spcAft>
                <a:spcPts val="600"/>
              </a:spcAft>
            </a:pPr>
            <a:r>
              <a:rPr sz="1550" b="0" i="0">
                <a:solidFill>
                  <a:srgbClr val="222222"/>
                </a:solidFill>
                <a:latin typeface="Calibri"/>
              </a:rPr>
              <a:t>•  All Argon-based gases saturate at or below the efficiency threshold → no window.</a:t>
            </a:r>
          </a:p>
          <a:p>
            <a:pPr>
              <a:spcAft>
                <a:spcPts val="600"/>
              </a:spcAft>
            </a:pPr>
            <a:r>
              <a:rPr sz="1550" b="0" i="0">
                <a:solidFill>
                  <a:srgbClr val="222222"/>
                </a:solidFill>
                <a:latin typeface="Calibri"/>
              </a:rPr>
              <a:t>•  Helium/Ethane survives the flash more cleanly, but is highly neutron-sensitive.</a:t>
            </a:r>
          </a:p>
          <a:p>
            <a:pPr>
              <a:spcAft>
                <a:spcPts val="600"/>
              </a:spcAft>
            </a:pPr>
            <a:r>
              <a:rPr sz="1550" b="0" i="0">
                <a:solidFill>
                  <a:srgbClr val="222222"/>
                </a:solidFill>
                <a:latin typeface="Calibri"/>
              </a:rPr>
              <a:t>•  Reducing the drift gap reliably buys HV headroom — but sacrifices µ-TPC tracking.</a:t>
            </a:r>
          </a:p>
          <a:p>
            <a:pPr>
              <a:spcAft>
                <a:spcPts val="600"/>
              </a:spcAft>
            </a:pPr>
            <a:r>
              <a:rPr sz="1550" b="0" i="0">
                <a:solidFill>
                  <a:srgbClr val="222222"/>
                </a:solidFill>
                <a:latin typeface="Calibri"/>
              </a:rPr>
              <a:t>•  Single-strip scope test proves signal exists in the DREAM-blind region.</a:t>
            </a:r>
          </a:p>
          <a:p>
            <a:pPr>
              <a:spcAft>
                <a:spcPts val="600"/>
              </a:spcAft>
            </a:pPr>
            <a:r>
              <a:rPr sz="1550" b="0" i="0">
                <a:solidFill>
                  <a:srgbClr val="222222"/>
                </a:solidFill>
                <a:latin typeface="Calibri"/>
              </a:rPr>
              <a:t>•  Carbon frame: only ~10–20% hit-rate reduction; not worth the complexity.</a:t>
            </a:r>
          </a:p>
          <a:p>
            <a:pPr>
              <a:spcAft>
                <a:spcPts val="600"/>
              </a:spcAft>
            </a:pPr>
            <a:r>
              <a:rPr sz="1550" b="0" i="0">
                <a:solidFill>
                  <a:srgbClr val="222222"/>
                </a:solidFill>
                <a:latin typeface="Calibri"/>
              </a:rPr>
              <a:t>•  Grounding the MX connector cards almost entirely removed flash-induced sinusoidal noise.</a:t>
            </a:r>
          </a:p>
          <a:p>
            <a:pPr>
              <a:spcAft>
                <a:spcPts val="600"/>
              </a:spcAft>
            </a:pPr>
            <a:r>
              <a:rPr sz="1550" b="1" i="0">
                <a:solidFill>
                  <a:srgbClr val="2E8B57"/>
                </a:solidFill>
                <a:latin typeface="Calibri"/>
              </a:rPr>
              <a:t>•  Net: no demonstrated high-energy working point; clear levers and limits identified for May.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55664"/>
            <a:ext cx="1463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Calibri"/>
              </a:rPr>
              <a:t>n_TOF X17  ·  February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146304"/>
          </a:xfrm>
          <a:prstGeom prst="rect">
            <a:avLst/>
          </a:prstGeom>
          <a:solidFill>
            <a:srgbClr val="E07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 i="0">
                <a:solidFill>
                  <a:srgbClr val="FFFFFF"/>
                </a:solidFill>
                <a:latin typeface="Calibri"/>
              </a:rPr>
              <a:t>May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7180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0" i="0">
                <a:solidFill>
                  <a:srgbClr val="CFDBEC"/>
                </a:solidFill>
                <a:latin typeface="Calibri"/>
              </a:rPr>
              <a:t>Two Micromegas at 90° — DAQ fixes, flash-mitigation attempts, thermal trigger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4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 i="0">
                <a:solidFill>
                  <a:srgbClr val="E07820"/>
                </a:solidFill>
                <a:latin typeface="Calibri"/>
              </a:rPr>
              <a:t>MAY · 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42C52"/>
                </a:solidFill>
                <a:latin typeface="Calibri"/>
              </a:rPr>
              <a:t>May setup — overhead 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1022560" y="1362075"/>
            <a:ext cx="5087200" cy="523113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etup_m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085" y="1371600"/>
            <a:ext cx="5068150" cy="5212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949440" y="1554480"/>
            <a:ext cx="5029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 i="0">
                <a:solidFill>
                  <a:srgbClr val="222222"/>
                </a:solidFill>
                <a:latin typeface="Calibri"/>
              </a:rPr>
              <a:t>•  Two MX17 Micromegas at 90° to each other, ~20 cm from the beam axis: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222222"/>
                </a:solidFill>
                <a:latin typeface="Calibri"/>
              </a:rPr>
              <a:t>–  MX17-3 (Det-3): 16 mm drift, full M1 readout — the reliable detector.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222222"/>
                </a:solidFill>
                <a:latin typeface="Calibri"/>
              </a:rPr>
              <a:t>–  MX17-4 (Det-4): 30 mm drift, multiplexed M2 — found largely inefficient.</a:t>
            </a:r>
          </a:p>
          <a:p>
            <a:pPr>
              <a:spcAft>
                <a:spcPts val="600"/>
              </a:spcAft>
            </a:pPr>
            <a:r>
              <a:rPr sz="1450" b="0" i="0">
                <a:solidFill>
                  <a:srgbClr val="222222"/>
                </a:solidFill>
                <a:latin typeface="Calibri"/>
              </a:rPr>
              <a:t>•  SiPM wall (50×50 cm) behind Det-3.</a:t>
            </a:r>
          </a:p>
          <a:p>
            <a:pPr>
              <a:spcAft>
                <a:spcPts val="600"/>
              </a:spcAft>
            </a:pPr>
            <a:r>
              <a:rPr sz="1450" b="0" i="0">
                <a:solidFill>
                  <a:srgbClr val="222222"/>
                </a:solidFill>
                <a:latin typeface="Calibri"/>
              </a:rPr>
              <a:t>•  One GDD trigger scintillator (30×30 cm) behind each detector.</a:t>
            </a:r>
          </a:p>
          <a:p>
            <a:pPr>
              <a:spcAft>
                <a:spcPts val="600"/>
              </a:spcAft>
            </a:pPr>
            <a:r>
              <a:rPr sz="1450" b="0" i="0">
                <a:solidFill>
                  <a:srgbClr val="222222"/>
                </a:solidFill>
                <a:latin typeface="Calibri"/>
              </a:rPr>
              <a:t>•  6–18 May; four gas mixtures; scintillator-coincidence trigger commissioned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222222"/>
                </a:solidFill>
                <a:latin typeface="Calibri"/>
              </a:rPr>
              <a:t>–  for the first time.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463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Calibri"/>
              </a:rPr>
              <a:t>n_TOF X17  ·  May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4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 i="0">
                <a:solidFill>
                  <a:srgbClr val="E07820"/>
                </a:solidFill>
                <a:latin typeface="Calibri"/>
              </a:rPr>
              <a:t>MAY · Μ-TPC RECONSTRUCTION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42C52"/>
                </a:solidFill>
                <a:latin typeface="Calibri"/>
              </a:rPr>
              <a:t>What a reconstructed beam event looks like</a:t>
            </a:r>
          </a:p>
        </p:txBody>
      </p:sp>
      <p:sp>
        <p:nvSpPr>
          <p:cNvPr id="6" name="Rectangle 5"/>
          <p:cNvSpPr/>
          <p:nvPr/>
        </p:nvSpPr>
        <p:spPr>
          <a:xfrm>
            <a:off x="1270635" y="1316355"/>
            <a:ext cx="5231130" cy="523113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event_3d_ge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325880"/>
            <a:ext cx="5212080" cy="5212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4320" y="6537960"/>
            <a:ext cx="7223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1">
                <a:solidFill>
                  <a:srgbClr val="555555"/>
                </a:solidFill>
                <a:latin typeface="Calibri"/>
              </a:rPr>
              <a:t>Run 51, He/Ethane, MX17-3 (16 mm drift). Event 100 — reconstructed 3-D track through the May geometry.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1554480"/>
            <a:ext cx="4297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 i="0">
                <a:solidFill>
                  <a:srgbClr val="142C52"/>
                </a:solidFill>
                <a:latin typeface="Calibri"/>
              </a:rPr>
              <a:t>•  A real beam event in MX17-3, fully reconstructed in µ-TPC mode: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</a:rPr>
              <a:t>–  strip hits + drift time give the 3rd coordinate → a 3-D track.</a:t>
            </a:r>
          </a:p>
          <a:p>
            <a:pPr>
              <a:spcAft>
                <a:spcPts val="6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</a:rPr>
              <a:t>•  7 X-strip and 9 Y-strip hits define the green track; it crosses the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</a:rPr>
              <a:t>–  Micromegas, passes the carbon target region and continues into the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</a:rPr>
              <a:t>–  SiPM wall and scintillator behind.</a:t>
            </a:r>
          </a:p>
          <a:p>
            <a:pPr>
              <a:spcAft>
                <a:spcPts val="600"/>
              </a:spcAft>
            </a:pPr>
            <a:r>
              <a:rPr sz="1400" b="1" i="0">
                <a:solidFill>
                  <a:srgbClr val="2E8B57"/>
                </a:solidFill>
                <a:latin typeface="Calibri"/>
              </a:rPr>
              <a:t>•  This is exactly the per-event reconstruction the X17 search needs —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2E8B57"/>
                </a:solidFill>
                <a:latin typeface="Calibri"/>
              </a:rPr>
              <a:t>–  the angle between an e⁺e⁻ pair would be measured this way.</a:t>
            </a:r>
          </a:p>
          <a:p>
            <a:pPr>
              <a:spcAft>
                <a:spcPts val="600"/>
              </a:spcAft>
            </a:pPr>
            <a:r>
              <a:rPr sz="1400" b="1" i="0">
                <a:solidFill>
                  <a:srgbClr val="142C52"/>
                </a:solidFill>
                <a:latin typeface="Calibri"/>
              </a:rPr>
              <a:t>•  The clean topology is what the thermal-region measurement relies 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55664"/>
            <a:ext cx="1463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Calibri"/>
              </a:rPr>
              <a:t>n_TOF X17  ·  May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4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 i="0">
                <a:solidFill>
                  <a:srgbClr val="E07820"/>
                </a:solidFill>
                <a:latin typeface="Calibri"/>
              </a:rPr>
              <a:t>MAY · DAQ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42C52"/>
                </a:solidFill>
                <a:latin typeface="Calibri"/>
              </a:rPr>
              <a:t>Found &amp; fixed: the DREAM “4096” lock-up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67665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C0392B"/>
                </a:solidFill>
                <a:latin typeface="Calibri"/>
              </a:rPr>
              <a:t>•  First beam runs hit a show-stopper: random DREAM channels stuck at exactly 4096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</a:rPr>
              <a:t>–  (max ADC) for entire subruns.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•  Diagnosed with Simone's noise generator + Irakli's hint to cut the sample count.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•  A clean sweep (Runs 21–30) bracketed it: lock-up appears at ≳500 samples;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</a:rPr>
              <a:t>–  ≤450 samples → all channels behave.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2E8B57"/>
                </a:solidFill>
                <a:latin typeface="Calibri"/>
              </a:rPr>
              <a:t>•  Adopted 450 samples = 9 µs window (20 ns/sample) as the standard.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•  Likely a buffer/timing overflow in the DREAM ASIC at long readout length —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</a:rPr>
              <a:t>–  to be confirmed with Irakli (firmware fix vs hard limit).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555555"/>
                </a:solidFill>
                <a:latin typeface="Calibri"/>
              </a:rPr>
              <a:t>•  Consumed ~1.5 days of beam, but unblocked all subsequent running.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80960" y="1828800"/>
            <a:ext cx="4114800" cy="1463040"/>
          </a:xfrm>
          <a:prstGeom prst="roundRect">
            <a:avLst/>
          </a:prstGeom>
          <a:solidFill>
            <a:srgbClr val="FBF3D8"/>
          </a:solidFill>
          <a:ln w="19050">
            <a:solidFill>
              <a:srgbClr val="E07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400" b="0" i="0">
                <a:solidFill>
                  <a:srgbClr val="142C52"/>
                </a:solidFill>
                <a:latin typeface="Calibri"/>
              </a:rPr>
              <a:t>Cost the high-energy window 80 → 9 µs?</a:t>
            </a:r>
          </a:p>
          <a:p>
            <a:r>
              <a:rPr sz="1400" b="0" i="0">
                <a:solidFill>
                  <a:srgbClr val="142C52"/>
                </a:solidFill>
                <a:latin typeface="Calibri"/>
              </a:rPr>
              <a:t>No — 450 samples still spans the</a:t>
            </a:r>
          </a:p>
          <a:p>
            <a:r>
              <a:rPr sz="1400" b="0" i="0">
                <a:solidFill>
                  <a:srgbClr val="142C52"/>
                </a:solidFill>
                <a:latin typeface="Calibri"/>
              </a:rPr>
              <a:t>full ~1 MeV signal region.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606658" y="3556635"/>
            <a:ext cx="4263404" cy="267081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_neon_ev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6183" y="3566160"/>
            <a:ext cx="4244354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89520" y="6217920"/>
            <a:ext cx="4297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1">
                <a:solidFill>
                  <a:srgbClr val="555555"/>
                </a:solidFill>
                <a:latin typeface="Calibri"/>
              </a:rPr>
              <a:t>Clean event readout after the fix (Ne/Iso).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455664"/>
            <a:ext cx="1463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Calibri"/>
              </a:rPr>
              <a:t>n_TOF X17  ·  May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4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 i="0">
                <a:solidFill>
                  <a:srgbClr val="E07820"/>
                </a:solidFill>
                <a:latin typeface="Calibri"/>
              </a:rPr>
              <a:t>MAY · MITIGATION ATTEMPTS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42C52"/>
                </a:solidFill>
                <a:latin typeface="Calibri"/>
              </a:rPr>
              <a:t>Three flash-mitigation ideas — none worked out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554480"/>
          <a:ext cx="1120140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931920"/>
                <a:gridCol w="5074920"/>
              </a:tblGrid>
              <a:tr h="777240">
                <a:tc>
                  <a:txBody>
                    <a:bodyPr wrap="square"/>
                    <a:lstStyle/>
                    <a:p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Idea</a:t>
                      </a:r>
                    </a:p>
                  </a:txBody>
                  <a:tcPr marL="54864" marR="54864" marT="18288" marB="18288" anchor="ctr">
                    <a:solidFill>
                      <a:srgbClr val="142C5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What we tried</a:t>
                      </a:r>
                    </a:p>
                  </a:txBody>
                  <a:tcPr marL="54864" marR="54864" marT="18288" marB="18288" anchor="ctr">
                    <a:solidFill>
                      <a:srgbClr val="142C5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Outcome</a:t>
                      </a:r>
                    </a:p>
                  </a:txBody>
                  <a:tcPr marL="54864" marR="54864" marT="18288" marB="18288" anchor="ctr">
                    <a:solidFill>
                      <a:srgbClr val="142C52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350" b="0" i="0">
                          <a:solidFill>
                            <a:srgbClr val="222222"/>
                          </a:solidFill>
                          <a:latin typeface="Calibri"/>
                        </a:rPr>
                        <a:t>2 mm Al plate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 i="0">
                          <a:solidFill>
                            <a:srgbClr val="222222"/>
                          </a:solidFill>
                          <a:latin typeface="Calibri"/>
                        </a:rPr>
                        <a:t>Shield Det-4 against low-energy X-rays in the flash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 i="0">
                          <a:solidFill>
                            <a:srgbClr val="222222"/>
                          </a:solidFill>
                          <a:latin typeface="Calibri"/>
                        </a:rPr>
                        <a:t>No effect — flash is dominated by MeV photons/electrons, not keV X-rays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350" b="0" i="0">
                          <a:solidFill>
                            <a:srgbClr val="222222"/>
                          </a:solidFill>
                          <a:latin typeface="Calibri"/>
                        </a:rPr>
                        <a:t>Mesh charge injection</a:t>
                      </a:r>
                    </a:p>
                  </a:txBody>
                  <a:tcPr marL="54864" marR="54864" marT="18288" marB="18288" anchor="ctr">
                    <a:solidFill>
                      <a:srgbClr val="EEEE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 i="0">
                          <a:solidFill>
                            <a:srgbClr val="222222"/>
                          </a:solidFill>
                          <a:latin typeface="Calibri"/>
                        </a:rPr>
                        <a:t>Inject positive charge on the floating mesh to cancel flash charge</a:t>
                      </a:r>
                    </a:p>
                  </a:txBody>
                  <a:tcPr marL="54864" marR="54864" marT="18288" marB="18288" anchor="ctr">
                    <a:solidFill>
                      <a:srgbClr val="EEEE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 i="0">
                          <a:solidFill>
                            <a:srgbClr val="222222"/>
                          </a:solidFill>
                          <a:latin typeface="Calibri"/>
                        </a:rPr>
                        <a:t>Tentative early promise, but circuit killed by 400–800 V discharges from the resistive layer; could not iterate</a:t>
                      </a:r>
                    </a:p>
                  </a:txBody>
                  <a:tcPr marL="54864" marR="54864" marT="18288" marB="18288" anchor="ctr">
                    <a:solidFill>
                      <a:srgbClr val="EEEEEE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350" b="0" i="0">
                          <a:solidFill>
                            <a:srgbClr val="222222"/>
                          </a:solidFill>
                          <a:latin typeface="Calibri"/>
                        </a:rPr>
                        <a:t>Neon / Isobutane 95/5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 i="0">
                          <a:solidFill>
                            <a:srgbClr val="222222"/>
                          </a:solidFill>
                          <a:latin typeface="Calibri"/>
                        </a:rPr>
                        <a:t>Lower-Z gas: predicted ‘goldilocks’ between Ar and He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 i="0">
                          <a:solidFill>
                            <a:srgbClr val="222222"/>
                          </a:solidFill>
                          <a:latin typeface="Calibri"/>
                        </a:rPr>
                        <a:t>Efficiency onset ~490 V, flash-survival peak ~420 V — ~70 V gap, not usable; neon also costly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4892040"/>
            <a:ext cx="11201400" cy="1371600"/>
          </a:xfrm>
          <a:prstGeom prst="roundRect">
            <a:avLst/>
          </a:prstGeom>
          <a:solidFill>
            <a:srgbClr val="FBF3D8"/>
          </a:solidFill>
          <a:ln w="19050">
            <a:solidFill>
              <a:srgbClr val="E07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500" b="1" i="0">
                <a:solidFill>
                  <a:srgbClr val="142C52"/>
                </a:solidFill>
                <a:latin typeface="Calibri"/>
              </a:rPr>
              <a:t>Conclusion: no viable path to a high-energy measurement was demonstrated. The mesh-injection circuit is the only surviving concept, but needs a discharge-protected redesign. The high-energy measurement is not planned for July.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55664"/>
            <a:ext cx="1463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Calibri"/>
              </a:rPr>
              <a:t>n_TOF X17  ·  May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4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 i="0">
                <a:solidFill>
                  <a:srgbClr val="E07820"/>
                </a:solidFill>
                <a:latin typeface="Calibri"/>
              </a:rPr>
              <a:t>MAY · THERMAL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42C52"/>
                </a:solidFill>
                <a:latin typeface="Calibri"/>
              </a:rPr>
              <a:t>Pivot: commissioning the thermal-neutron trigger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63040"/>
            <a:ext cx="113385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•  From 13 May, focus shifted to the thermal window (t &gt; ~1 ms): low occupancy, clean topology,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</a:rPr>
              <a:t>–  no flash in the signal region — the ~20% of yield we can realistically reach.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•  Trigger = SiPM wall (behind Det-3) in coincidence with the GDD scintillator behind it.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</a:rPr>
              <a:t>–  The coincidence rejects single Compton gammas and selects charged particles through both layers.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42C52"/>
                </a:solidFill>
                <a:latin typeface="Calibri"/>
              </a:rPr>
              <a:t>•  Measured coincidence rates per PS pulse (after monostable correction):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3657600"/>
          <a:ext cx="694944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2194560"/>
              </a:tblGrid>
              <a:tr h="388620">
                <a:tc>
                  <a:txBody>
                    <a:bodyPr wrap="square"/>
                    <a:lstStyle/>
                    <a:p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Coincidence configuration</a:t>
                      </a:r>
                    </a:p>
                  </a:txBody>
                  <a:tcPr marL="54864" marR="54864" marT="18288" marB="18288" anchor="ctr">
                    <a:solidFill>
                      <a:srgbClr val="142C5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Non-flash triggers / PS pulse</a:t>
                      </a:r>
                    </a:p>
                  </a:txBody>
                  <a:tcPr marL="54864" marR="54864" marT="18288" marB="18288" anchor="ctr">
                    <a:solidFill>
                      <a:srgbClr val="142C52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1350" b="0" i="0">
                          <a:solidFill>
                            <a:srgbClr val="222222"/>
                          </a:solidFill>
                          <a:latin typeface="Calibri"/>
                        </a:rPr>
                        <a:t>Det-4 scint + Det-3 wall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 i="0">
                          <a:solidFill>
                            <a:srgbClr val="222222"/>
                          </a:solidFill>
                          <a:latin typeface="Calibri"/>
                        </a:rPr>
                        <a:t>≈ 2.68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1350" b="0" i="0">
                          <a:solidFill>
                            <a:srgbClr val="222222"/>
                          </a:solidFill>
                          <a:latin typeface="Calibri"/>
                        </a:rPr>
                        <a:t>Det-3 scint + Det-3 wall</a:t>
                      </a:r>
                    </a:p>
                  </a:txBody>
                  <a:tcPr marL="54864" marR="54864" marT="18288" marB="18288" anchor="ctr">
                    <a:solidFill>
                      <a:srgbClr val="EEEE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 i="0">
                          <a:solidFill>
                            <a:srgbClr val="222222"/>
                          </a:solidFill>
                          <a:latin typeface="Calibri"/>
                        </a:rPr>
                        <a:t>≈ 6.87</a:t>
                      </a:r>
                    </a:p>
                  </a:txBody>
                  <a:tcPr marL="54864" marR="54864" marT="18288" marB="18288" anchor="ctr">
                    <a:solidFill>
                      <a:srgbClr val="EEEEEE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1350" b="0" i="0">
                          <a:solidFill>
                            <a:srgbClr val="222222"/>
                          </a:solidFill>
                          <a:latin typeface="Calibri"/>
                        </a:rPr>
                        <a:t>Det-4 scint + Det-3 scint + Det-3 wall (3-way)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 i="0">
                          <a:solidFill>
                            <a:srgbClr val="222222"/>
                          </a:solidFill>
                          <a:latin typeface="Calibri"/>
                        </a:rPr>
                        <a:t>≈ 0.11  (very rare)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772400" y="3611880"/>
            <a:ext cx="4206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 i="0">
                <a:solidFill>
                  <a:srgbClr val="C0392B"/>
                </a:solidFill>
                <a:latin typeface="Calibri"/>
              </a:rPr>
              <a:t>•  Sr-90 source test: the ~1 mm Al backing on the SiPM wall blocks 1–2 MeV electrons —</a:t>
            </a:r>
          </a:p>
          <a:p>
            <a:pPr lvl="1">
              <a:spcAft>
                <a:spcPts val="600"/>
              </a:spcAft>
            </a:pPr>
            <a:r>
              <a:rPr sz="1200" b="0" i="0">
                <a:solidFill>
                  <a:srgbClr val="C0392B"/>
                </a:solidFill>
                <a:latin typeface="Calibri"/>
              </a:rPr>
              <a:t>–  must be removed/replaced with thin foil for July.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</a:rPr>
              <a:t>•  Lesson: NIM trigger logic must live inside EAR2 — the long cable run drops signals</a:t>
            </a:r>
          </a:p>
          <a:p>
            <a:pPr lvl="1">
              <a:spcAft>
                <a:spcPts val="600"/>
              </a:spcAft>
            </a:pPr>
            <a:r>
              <a:rPr sz="1200" b="0" i="0">
                <a:solidFill>
                  <a:srgbClr val="222222"/>
                </a:solidFill>
                <a:latin typeface="Calibri"/>
              </a:rPr>
              <a:t>–  below the N1081B 10 mV threshold.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463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Calibri"/>
              </a:rPr>
              <a:t>n_TOF X17  ·  May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4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 i="0">
                <a:solidFill>
                  <a:srgbClr val="E07820"/>
                </a:solidFill>
                <a:latin typeface="Calibri"/>
              </a:rPr>
              <a:t>MAY · GAS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42C52"/>
                </a:solidFill>
                <a:latin typeface="Calibri"/>
              </a:rPr>
              <a:t>Four gases on beam — comparison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554480"/>
          <a:ext cx="112014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280160"/>
                <a:gridCol w="754380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Gas</a:t>
                      </a:r>
                    </a:p>
                  </a:txBody>
                  <a:tcPr marL="54864" marR="54864" marT="18288" marB="18288" anchor="ctr">
                    <a:solidFill>
                      <a:srgbClr val="142C5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Op. V</a:t>
                      </a:r>
                    </a:p>
                  </a:txBody>
                  <a:tcPr marL="54864" marR="54864" marT="18288" marB="18288" anchor="ctr">
                    <a:solidFill>
                      <a:srgbClr val="142C5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Flash behaviour / notes</a:t>
                      </a:r>
                    </a:p>
                  </a:txBody>
                  <a:tcPr marL="54864" marR="54864" marT="18288" marB="18288" anchor="ctr">
                    <a:solidFill>
                      <a:srgbClr val="142C5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222"/>
                          </a:solidFill>
                          <a:latin typeface="Calibri"/>
                        </a:rPr>
                        <a:t>Ar/CF4 90/10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222"/>
                          </a:solidFill>
                          <a:latin typeface="Calibri"/>
                        </a:rPr>
                        <a:t>~635 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222"/>
                          </a:solidFill>
                          <a:latin typeface="Calibri"/>
                        </a:rPr>
                        <a:t>February standard; flash saturation at op. V; early beam work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222"/>
                          </a:solidFill>
                          <a:latin typeface="Calibri"/>
                        </a:rPr>
                        <a:t>Ne/Iso 95/5</a:t>
                      </a:r>
                    </a:p>
                  </a:txBody>
                  <a:tcPr marL="54864" marR="54864" marT="18288" marB="18288" anchor="ctr">
                    <a:solidFill>
                      <a:srgbClr val="EEEE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222"/>
                          </a:solidFill>
                          <a:latin typeface="Calibri"/>
                        </a:rPr>
                        <a:t>~490 V</a:t>
                      </a:r>
                    </a:p>
                  </a:txBody>
                  <a:tcPr marL="54864" marR="54864" marT="18288" marB="18288" anchor="ctr">
                    <a:solidFill>
                      <a:srgbClr val="EEEE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222"/>
                          </a:solidFill>
                          <a:latin typeface="Calibri"/>
                        </a:rPr>
                        <a:t>No discharges on ramp (advantage); flash peak ~420 V → gap not useful; not viable</a:t>
                      </a:r>
                    </a:p>
                  </a:txBody>
                  <a:tcPr marL="54864" marR="54864" marT="18288" marB="18288" anchor="ctr">
                    <a:solidFill>
                      <a:srgbClr val="EEEE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222"/>
                          </a:solidFill>
                          <a:latin typeface="Calibri"/>
                        </a:rPr>
                        <a:t>He/Eth 96.5/3.5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222"/>
                          </a:solidFill>
                          <a:latin typeface="Calibri"/>
                        </a:rPr>
                        <a:t>~515 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222"/>
                          </a:solidFill>
                          <a:latin typeface="Calibri"/>
                        </a:rPr>
                        <a:t>Lower discharge rate; survives flash best; good thermal data; Feb calibration exists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222"/>
                          </a:solidFill>
                          <a:latin typeface="Calibri"/>
                        </a:rPr>
                        <a:t>Ar/CF4/Iso 88/10/2</a:t>
                      </a:r>
                    </a:p>
                  </a:txBody>
                  <a:tcPr marL="54864" marR="54864" marT="18288" marB="18288" anchor="ctr">
                    <a:solidFill>
                      <a:srgbClr val="EEEE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222"/>
                          </a:solidFill>
                          <a:latin typeface="Calibri"/>
                        </a:rPr>
                        <a:t>~800 V</a:t>
                      </a:r>
                    </a:p>
                  </a:txBody>
                  <a:tcPr marL="54864" marR="54864" marT="18288" marB="18288" anchor="ctr">
                    <a:solidFill>
                      <a:srgbClr val="EEEE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222"/>
                          </a:solidFill>
                          <a:latin typeface="Calibri"/>
                        </a:rPr>
                        <a:t>Very high V; heavy sparking on ramp; flash saturation confirmed (Feb benchmark)</a:t>
                      </a:r>
                    </a:p>
                  </a:txBody>
                  <a:tcPr marL="54864" marR="54864" marT="18288" marB="18288" anchor="ctr">
                    <a:solidFill>
                      <a:srgbClr val="EEEEEE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4572000"/>
            <a:ext cx="11201400" cy="1554480"/>
          </a:xfrm>
          <a:prstGeom prst="roundRect">
            <a:avLst/>
          </a:prstGeom>
          <a:solidFill>
            <a:srgbClr val="FBF3D8"/>
          </a:solidFill>
          <a:ln w="19050">
            <a:solidFill>
              <a:srgbClr val="E07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400" b="0" i="0">
                <a:solidFill>
                  <a:srgbClr val="142C52"/>
                </a:solidFill>
                <a:latin typeface="Calibri"/>
              </a:rPr>
              <a:t>July decision: an Argon/Isobutane mix — operating voltage similar to Ne/Iso, with the higher primary ionisation of an Argon-based gas for track quality. (Note: ZS mode was left on from Run 36 — all Ne/Iso, He/Eth, Ar/CF4/Iso data are zero-suppressed; analysis must account for it.)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55664"/>
            <a:ext cx="1463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Calibri"/>
              </a:rPr>
              <a:t>n_TOF X17  ·  May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4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 i="0">
                <a:solidFill>
                  <a:srgbClr val="E07820"/>
                </a:solidFill>
                <a:latin typeface="Calibri"/>
              </a:rPr>
              <a:t>BOTTOM 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42C52"/>
                </a:solidFill>
                <a:latin typeface="Calibri"/>
              </a:rPr>
              <a:t>Summary — what these technical tests established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555555"/>
                </a:solidFill>
                <a:latin typeface="Calibri"/>
              </a:rPr>
              <a:t>•  These were technical tests, not physics runs — the question was feasibility of the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555555"/>
                </a:solidFill>
                <a:latin typeface="Calibri"/>
              </a:rPr>
              <a:t>–  high-energy X17 measurement against the gamma flash.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C0392B"/>
                </a:solidFill>
                <a:latin typeface="Calibri"/>
              </a:rPr>
              <a:t>•  The DREAM DAQ saturates from the flash before the detector is efficient to e⁺e⁻ — confirmed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C0392B"/>
                </a:solidFill>
                <a:latin typeface="Calibri"/>
              </a:rPr>
              <a:t>–  in both Feb and May, across all gases tested.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•  Levers we quantified: smaller drift gap buys HV headroom (but kills tracking); He/Ethane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</a:rPr>
              <a:t>–  survives the flash best; reducing flash charge is the whole game.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C0392B"/>
                </a:solidFill>
                <a:latin typeface="Calibri"/>
              </a:rPr>
              <a:t>•  Mitigation ideas tried — Al shielding, mesh charge injection, neon gas — none gave a usable window.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2E8B57"/>
                </a:solidFill>
                <a:latin typeface="Calibri"/>
              </a:rPr>
              <a:t>•  DAQ understood and hardened: 4096 lock-up fixed (450 samples); grounding, ZS, RunCtrl issues mapped.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2E8B57"/>
                </a:solidFill>
                <a:latin typeface="Calibri"/>
              </a:rPr>
              <a:t>•  The thermal-neutron measurement is the viable path: coincidence trigger commissioned, ~3 triggers/pulse,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E8B57"/>
                </a:solidFill>
                <a:latin typeface="Calibri"/>
              </a:rPr>
              <a:t>–  architecture for July substantially defined.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42C52"/>
                </a:solidFill>
                <a:latin typeface="Calibri"/>
              </a:rPr>
              <a:t>•  July: full 4-detector + ³He-target run, targeting the thermal region.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55664"/>
            <a:ext cx="1463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Calibri"/>
              </a:rPr>
              <a:t>n_TOF X17  ·  Summary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146304"/>
          </a:xfrm>
          <a:prstGeom prst="rect">
            <a:avLst/>
          </a:prstGeom>
          <a:solidFill>
            <a:srgbClr val="E07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 i="0">
                <a:solidFill>
                  <a:srgbClr val="FFFFFF"/>
                </a:solidFill>
                <a:latin typeface="Calibri"/>
              </a:rPr>
              <a:t>Backup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7180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0" i="0">
                <a:solidFill>
                  <a:srgbClr val="CFDBEC"/>
                </a:solidFill>
                <a:latin typeface="Calibri"/>
              </a:rPr>
              <a:t>Supporting figures, tables and detail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4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 i="0">
                <a:solidFill>
                  <a:srgbClr val="E07820"/>
                </a:solidFill>
                <a:latin typeface="Calibri"/>
              </a:rPr>
              <a:t>BACKUP · PHYSICS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42C52"/>
                </a:solidFill>
                <a:latin typeface="Calibri"/>
              </a:rPr>
              <a:t>Motivation — the ATOMKI X17 anomaly</a:t>
            </a:r>
          </a:p>
        </p:txBody>
      </p:sp>
      <p:sp>
        <p:nvSpPr>
          <p:cNvPr id="6" name="Rectangle 5"/>
          <p:cNvSpPr/>
          <p:nvPr/>
        </p:nvSpPr>
        <p:spPr>
          <a:xfrm>
            <a:off x="1391219" y="1453515"/>
            <a:ext cx="9379082" cy="468249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atomki_pe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0744" y="1463040"/>
            <a:ext cx="9360032" cy="46634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6126480"/>
            <a:ext cx="10881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1">
                <a:solidFill>
                  <a:srgbClr val="555555"/>
                </a:solidFill>
                <a:latin typeface="Calibri"/>
              </a:rPr>
              <a:t>ATOMKI: excess e⁺e⁻ pairs peaking near ~120° opening angle — consistent with a 17 MeV boson.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463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Calibri"/>
              </a:rPr>
              <a:t>n_TOF X17  ·  Backup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4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 i="0">
                <a:solidFill>
                  <a:srgbClr val="E07820"/>
                </a:solidFill>
                <a:latin typeface="Calibri"/>
              </a:rPr>
              <a:t>BACKUP · FLASH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42C52"/>
                </a:solidFill>
                <a:latin typeface="Calibri"/>
              </a:rPr>
              <a:t>Gamma flash on the n_TOF 1 GHz DAQ</a:t>
            </a:r>
          </a:p>
        </p:txBody>
      </p:sp>
      <p:sp>
        <p:nvSpPr>
          <p:cNvPr id="6" name="Rectangle 5"/>
          <p:cNvSpPr/>
          <p:nvPr/>
        </p:nvSpPr>
        <p:spPr>
          <a:xfrm>
            <a:off x="2962275" y="1453515"/>
            <a:ext cx="6236970" cy="468249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flash_sco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1800" y="1463040"/>
            <a:ext cx="6217920" cy="46634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6126480"/>
            <a:ext cx="10881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1">
                <a:solidFill>
                  <a:srgbClr val="555555"/>
                </a:solidFill>
                <a:latin typeface="Calibri"/>
              </a:rPr>
              <a:t>Single MM strip on the n_TOF scope: ~ -15 mV, ~300 ns → ~90 pC/strip, already enough to saturate DREAM. Signals are visible here where DREAM reports nothing.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463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Calibri"/>
              </a:rPr>
              <a:t>n_TOF X17  ·  Backup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4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 i="0">
                <a:solidFill>
                  <a:srgbClr val="E07820"/>
                </a:solidFill>
                <a:latin typeface="Calibri"/>
              </a:rPr>
              <a:t>BACKUP · FLASH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42C52"/>
                </a:solidFill>
                <a:latin typeface="Calibri"/>
              </a:rPr>
              <a:t>Flash saturates all DREAM channels (waveforms)</a:t>
            </a:r>
          </a:p>
        </p:txBody>
      </p:sp>
      <p:sp>
        <p:nvSpPr>
          <p:cNvPr id="6" name="Rectangle 5"/>
          <p:cNvSpPr/>
          <p:nvPr/>
        </p:nvSpPr>
        <p:spPr>
          <a:xfrm>
            <a:off x="2185035" y="1453515"/>
            <a:ext cx="7791450" cy="468249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flash_wavefor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0" y="1463040"/>
            <a:ext cx="7772400" cy="46634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6126480"/>
            <a:ext cx="10881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1">
                <a:solidFill>
                  <a:srgbClr val="555555"/>
                </a:solidFill>
                <a:latin typeface="Calibri"/>
              </a:rPr>
              <a:t>Run 18, Ar/CF4/Iso. All X/Y channels driven to the 4096 rail by the flash, then flat baseline — no recovery within the readout window.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463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Calibri"/>
              </a:rPr>
              <a:t>n_TOF X17  ·  Backup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4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 i="0">
                <a:solidFill>
                  <a:srgbClr val="E07820"/>
                </a:solidFill>
                <a:latin typeface="Calibri"/>
              </a:rPr>
              <a:t>BACKUP · FLASH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42C52"/>
                </a:solidFill>
                <a:latin typeface="Calibri"/>
              </a:rPr>
              <a:t>High occupancy in the ~1 MeV neutron peak</a:t>
            </a:r>
          </a:p>
        </p:txBody>
      </p:sp>
      <p:sp>
        <p:nvSpPr>
          <p:cNvPr id="6" name="Rectangle 5"/>
          <p:cNvSpPr/>
          <p:nvPr/>
        </p:nvSpPr>
        <p:spPr>
          <a:xfrm>
            <a:off x="3288073" y="1453515"/>
            <a:ext cx="5585374" cy="468249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high_occupa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7598" y="1463040"/>
            <a:ext cx="5566324" cy="46634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6126480"/>
            <a:ext cx="10881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1">
                <a:solidFill>
                  <a:srgbClr val="555555"/>
                </a:solidFill>
                <a:latin typeface="Calibri"/>
              </a:rPr>
              <a:t>Even when not fully saturated, the post-flash hit density makes individual e⁺e⁻ track reconstruction extremely hard (Helium gas).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463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Calibri"/>
              </a:rPr>
              <a:t>n_TOF X17  ·  Backup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4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 i="0">
                <a:solidFill>
                  <a:srgbClr val="E07820"/>
                </a:solidFill>
                <a:latin typeface="Calibri"/>
              </a:rPr>
              <a:t>BACKUP · THERMAL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42C52"/>
                </a:solidFill>
                <a:latin typeface="Calibri"/>
              </a:rPr>
              <a:t>What we CAN see — isolated thermal-region track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3655" y="1453515"/>
            <a:ext cx="7014210" cy="468249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thermal_tr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3180" y="1463040"/>
            <a:ext cx="6995160" cy="46634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6126480"/>
            <a:ext cx="10881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1">
                <a:solidFill>
                  <a:srgbClr val="555555"/>
                </a:solidFill>
                <a:latin typeface="Calibri"/>
              </a:rPr>
              <a:t>He/Ethane, 30 mm drift, µ-TPC mode: a clean, well-separated track in the thermal window — exactly the regime targeted for July.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463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Calibri"/>
              </a:rPr>
              <a:t>n_TOF X17  ·  Backup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4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 i="0">
                <a:solidFill>
                  <a:srgbClr val="E07820"/>
                </a:solidFill>
                <a:latin typeface="Calibri"/>
              </a:rPr>
              <a:t>BACKUP · FEBRUARY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42C52"/>
                </a:solidFill>
                <a:latin typeface="Calibri"/>
              </a:rPr>
              <a:t>He/Ethane 30 mm — target comparison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678670" y="1453515"/>
            <a:ext cx="8804180" cy="468249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he_targ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8195" y="1463040"/>
            <a:ext cx="8785130" cy="46634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6126480"/>
            <a:ext cx="10881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1">
                <a:solidFill>
                  <a:srgbClr val="555555"/>
                </a:solidFill>
                <a:latin typeface="Calibri"/>
              </a:rPr>
              <a:t>Hits/event vs HV in three time windows for different samples. Carbon turns on/off earliest (more material → more scattering); B4C loudest at late times.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463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Calibri"/>
              </a:rPr>
              <a:t>n_TOF X17  ·  Backup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4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 i="0">
                <a:solidFill>
                  <a:srgbClr val="E07820"/>
                </a:solidFill>
                <a:latin typeface="Calibri"/>
              </a:rPr>
              <a:t>BACKUP · FEBRUARY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42C52"/>
                </a:solidFill>
                <a:latin typeface="Calibri"/>
              </a:rPr>
              <a:t>Cost of fewer strips / smaller acceptance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1766521" y="1453515"/>
            <a:ext cx="8628477" cy="468249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deadzone_c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6046" y="1463040"/>
            <a:ext cx="8609427" cy="46634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6126480"/>
            <a:ext cx="10881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1">
                <a:solidFill>
                  <a:srgbClr val="555555"/>
                </a:solidFill>
                <a:latin typeface="Calibri"/>
              </a:rPr>
              <a:t>Geometry of minimum resolvable angle and dead-zone fractions for the readout/channel-budget trade-offs.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463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Calibri"/>
              </a:rPr>
              <a:t>n_TOF X17  ·  Backup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4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 i="0">
                <a:solidFill>
                  <a:srgbClr val="E07820"/>
                </a:solidFill>
                <a:latin typeface="Calibri"/>
              </a:rPr>
              <a:t>BACKUP · MAY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42C52"/>
                </a:solidFill>
                <a:latin typeface="Calibri"/>
              </a:rPr>
              <a:t>Neon/Isobutane event display</a:t>
            </a:r>
          </a:p>
        </p:txBody>
      </p:sp>
      <p:sp>
        <p:nvSpPr>
          <p:cNvPr id="6" name="Rectangle 5"/>
          <p:cNvSpPr/>
          <p:nvPr/>
        </p:nvSpPr>
        <p:spPr>
          <a:xfrm>
            <a:off x="2339130" y="1453515"/>
            <a:ext cx="7483260" cy="468249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neon_ev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8655" y="1463040"/>
            <a:ext cx="7464210" cy="46634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6126480"/>
            <a:ext cx="10881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1">
                <a:solidFill>
                  <a:srgbClr val="555555"/>
                </a:solidFill>
                <a:latin typeface="Calibri"/>
              </a:rPr>
              <a:t>Run 47, Ne/Iso, resist 530 V: waveforms + reconstructed hits. Neon shows cleaner low-energy tracks than Ar/CF4, but no usable flash window.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463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Calibri"/>
              </a:rPr>
              <a:t>n_TOF X17  ·  Backup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4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 i="0">
                <a:solidFill>
                  <a:srgbClr val="E07820"/>
                </a:solidFill>
                <a:latin typeface="Calibri"/>
              </a:rPr>
              <a:t>BACKUP · MAY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42C52"/>
                </a:solidFill>
                <a:latin typeface="Calibri"/>
              </a:rPr>
              <a:t>Sr-90 beta spectrum (source test)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6162" y="1453515"/>
            <a:ext cx="7009195" cy="468249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sr90_spectr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5687" y="1463040"/>
            <a:ext cx="6990145" cy="46634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6126480"/>
            <a:ext cx="10881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1">
                <a:solidFill>
                  <a:srgbClr val="555555"/>
                </a:solidFill>
                <a:latin typeface="Calibri"/>
              </a:rPr>
              <a:t>Sr-90 endpoint ~2 MeV with substantial spectrum near 1 MeV — used to probe SiPM-wall material budget; the ~1 mm Al backing blocks these electrons.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463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Calibri"/>
              </a:rPr>
              <a:t>n_TOF X17  ·  Backup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4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 i="0">
                <a:solidFill>
                  <a:srgbClr val="E07820"/>
                </a:solidFill>
                <a:latin typeface="Calibri"/>
              </a:rPr>
              <a:t>BACKUP · 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42C52"/>
                </a:solidFill>
                <a:latin typeface="Calibri"/>
              </a:rPr>
              <a:t>EAR2 setup photograph</a:t>
            </a:r>
          </a:p>
        </p:txBody>
      </p:sp>
      <p:sp>
        <p:nvSpPr>
          <p:cNvPr id="6" name="Rectangle 5"/>
          <p:cNvSpPr/>
          <p:nvPr/>
        </p:nvSpPr>
        <p:spPr>
          <a:xfrm>
            <a:off x="2963084" y="1453515"/>
            <a:ext cx="6235352" cy="468249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setup_pho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2609" y="1463040"/>
            <a:ext cx="6216302" cy="46634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6126480"/>
            <a:ext cx="10881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1">
                <a:solidFill>
                  <a:srgbClr val="555555"/>
                </a:solidFill>
                <a:latin typeface="Calibri"/>
              </a:rPr>
              <a:t>The MX17 detector and DREAM rack installed in EAR2.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463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Calibri"/>
              </a:rPr>
              <a:t>n_TOF X17  ·  Backup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4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 i="0">
                <a:solidFill>
                  <a:srgbClr val="E07820"/>
                </a:solidFill>
                <a:latin typeface="Calibri"/>
              </a:rPr>
              <a:t>BACKUP · EVENT DISPLAY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42C52"/>
                </a:solidFill>
                <a:latin typeface="Calibri"/>
              </a:rPr>
              <a:t>Event display — Micromegas strip hits (3-D)</a:t>
            </a:r>
          </a:p>
        </p:txBody>
      </p:sp>
      <p:sp>
        <p:nvSpPr>
          <p:cNvPr id="6" name="Rectangle 5"/>
          <p:cNvSpPr/>
          <p:nvPr/>
        </p:nvSpPr>
        <p:spPr>
          <a:xfrm>
            <a:off x="3803703" y="1453515"/>
            <a:ext cx="4554114" cy="468249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event_3d_m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3228" y="1463040"/>
            <a:ext cx="4535064" cy="46634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6126480"/>
            <a:ext cx="10881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1">
                <a:solidFill>
                  <a:srgbClr val="555555"/>
                </a:solidFill>
                <a:latin typeface="Calibri"/>
              </a:rPr>
              <a:t>Run 51, Event 100. FEU 1 X-strips (7 hits) and FEU 2 Y-strips (9 hits) placed in 3-D from strip position and drift time (v_drift = 0.0320 mm/ns, 16 mm gap); green = fitted µ-TPC track.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463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Calibri"/>
              </a:rPr>
              <a:t>n_TOF X17  ·  Backup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4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 i="0">
                <a:solidFill>
                  <a:srgbClr val="E07820"/>
                </a:solidFill>
                <a:latin typeface="Calibri"/>
              </a:rPr>
              <a:t>BACKUP · EVENT DISPLAY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42C52"/>
                </a:solidFill>
                <a:latin typeface="Calibri"/>
              </a:rPr>
              <a:t>Event display — hit-vs-drift fits &amp; raw waveforms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59802" y="1453515"/>
            <a:ext cx="7041916" cy="468249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event_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9327" y="1463040"/>
            <a:ext cx="7022866" cy="46634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6126480"/>
            <a:ext cx="10881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1">
                <a:solidFill>
                  <a:srgbClr val="555555"/>
                </a:solidFill>
                <a:latin typeface="Calibri"/>
              </a:rPr>
              <a:t>Same event. Top: X and Y hit position vs drift time (the µ-TPC slope = track angle). Bottom: reconstructed track position and the raw X/Y strip waveforms feeding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463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Calibri"/>
              </a:rPr>
              <a:t>n_TOF X17  ·  Backup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4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 i="0">
                <a:solidFill>
                  <a:srgbClr val="E07820"/>
                </a:solidFill>
                <a:latin typeface="Calibri"/>
              </a:rPr>
              <a:t>BACKUP · EVENT DISPLAY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42C52"/>
                </a:solidFill>
                <a:latin typeface="Calibri"/>
              </a:rPr>
              <a:t>Event display — X–Y detector-plane projection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776836" y="1453515"/>
            <a:ext cx="4607848" cy="468249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event_x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6361" y="1463040"/>
            <a:ext cx="4588798" cy="46634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6126480"/>
            <a:ext cx="10881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1">
                <a:solidFill>
                  <a:srgbClr val="555555"/>
                </a:solidFill>
                <a:latin typeface="Calibri"/>
              </a:rPr>
              <a:t>Same event projected onto the detector plane: X-strip and Y-strip hits, the MM active area, SiPM and large scintillators, capsule, and the track crossing points at each plane.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463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Calibri"/>
              </a:rPr>
              <a:t>n_TOF X17  ·  Backup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4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 i="0">
                <a:solidFill>
                  <a:srgbClr val="E07820"/>
                </a:solidFill>
                <a:latin typeface="Calibri"/>
              </a:rPr>
              <a:t>BACKUP · EVENT DISPLAY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42C52"/>
                </a:solidFill>
                <a:latin typeface="Calibri"/>
              </a:rPr>
              <a:t>Event display — cinematic render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1925955" y="1453515"/>
            <a:ext cx="8309610" cy="468249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event_cin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5480" y="1463040"/>
            <a:ext cx="8290560" cy="46634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6126480"/>
            <a:ext cx="10881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0" i="1">
                <a:solidFill>
                  <a:srgbClr val="555555"/>
                </a:solidFill>
                <a:latin typeface="Calibri"/>
              </a:rPr>
              <a:t>3-D render of the reconstructed track passing through the resistive Micromegas (detector_geo_100). A rotating animation is available as event_100_3d_geo_rotating.gif.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463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Calibri"/>
              </a:rPr>
              <a:t>n_TOF X17  ·  Backup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4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 i="0">
                <a:solidFill>
                  <a:srgbClr val="E07820"/>
                </a:solidFill>
                <a:latin typeface="Calibri"/>
              </a:rPr>
              <a:t>BACKUP · FEBRUARY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42C52"/>
                </a:solidFill>
                <a:latin typeface="Calibri"/>
              </a:rPr>
              <a:t>February — gases &amp; samples tested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508760"/>
          <a:ext cx="11201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103120"/>
                <a:gridCol w="635508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Gas mixture</a:t>
                      </a:r>
                    </a:p>
                  </a:txBody>
                  <a:tcPr marL="54864" marR="54864" marT="18288" marB="18288" anchor="ctr">
                    <a:solidFill>
                      <a:srgbClr val="142C5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Period</a:t>
                      </a:r>
                    </a:p>
                  </a:txBody>
                  <a:tcPr marL="54864" marR="54864" marT="18288" marB="18288" anchor="ctr">
                    <a:solidFill>
                      <a:srgbClr val="142C5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Key characteristics</a:t>
                      </a:r>
                    </a:p>
                  </a:txBody>
                  <a:tcPr marL="54864" marR="54864" marT="18288" marB="18288" anchor="ctr">
                    <a:solidFill>
                      <a:srgbClr val="142C52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222"/>
                          </a:solidFill>
                          <a:latin typeface="Calibri"/>
                        </a:rPr>
                        <a:t>Ar/CF4/Iso 88/10/2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222"/>
                          </a:solidFill>
                          <a:latin typeface="Calibri"/>
                        </a:rPr>
                        <a:t>Feb 2–7, 9–11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222"/>
                          </a:solidFill>
                          <a:latin typeface="Calibri"/>
                        </a:rPr>
                        <a:t>Strong flash saturation; op. V ~490 V; high spark rate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222"/>
                          </a:solidFill>
                          <a:latin typeface="Calibri"/>
                        </a:rPr>
                        <a:t>He/Ethane 96.5/3.5</a:t>
                      </a:r>
                    </a:p>
                  </a:txBody>
                  <a:tcPr marL="54864" marR="54864" marT="18288" marB="18288" anchor="ctr">
                    <a:solidFill>
                      <a:srgbClr val="EEEE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222"/>
                          </a:solidFill>
                          <a:latin typeface="Calibri"/>
                        </a:rPr>
                        <a:t>Feb 3–7, 20–Mar 2</a:t>
                      </a:r>
                    </a:p>
                  </a:txBody>
                  <a:tcPr marL="54864" marR="54864" marT="18288" marB="18288" anchor="ctr">
                    <a:solidFill>
                      <a:srgbClr val="EEEE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222"/>
                          </a:solidFill>
                          <a:latin typeface="Calibri"/>
                        </a:rPr>
                        <a:t>Survives flash at low HV; very neutron-sensitive; op. V ~500–540 V</a:t>
                      </a:r>
                    </a:p>
                  </a:txBody>
                  <a:tcPr marL="54864" marR="54864" marT="18288" marB="18288" anchor="ctr">
                    <a:solidFill>
                      <a:srgbClr val="EEEEE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222"/>
                          </a:solidFill>
                          <a:latin typeface="Calibri"/>
                        </a:rPr>
                        <a:t>Ar/CF4/CO2 45/40/15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222"/>
                          </a:solidFill>
                          <a:latin typeface="Calibri"/>
                        </a:rPr>
                        <a:t>Feb 9–11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222"/>
                          </a:solidFill>
                          <a:latin typeface="Calibri"/>
                        </a:rPr>
                        <a:t>Brief; op. V ~680–800 V; outside usable flash window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222"/>
                          </a:solidFill>
                          <a:latin typeface="Calibri"/>
                        </a:rPr>
                        <a:t>Ar/CF4 90/10</a:t>
                      </a:r>
                    </a:p>
                  </a:txBody>
                  <a:tcPr marL="54864" marR="54864" marT="18288" marB="18288" anchor="ctr">
                    <a:solidFill>
                      <a:srgbClr val="EEEE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222"/>
                          </a:solidFill>
                          <a:latin typeface="Calibri"/>
                        </a:rPr>
                        <a:t>Feb 10–16</a:t>
                      </a:r>
                    </a:p>
                  </a:txBody>
                  <a:tcPr marL="54864" marR="54864" marT="18288" marB="18288" anchor="ctr">
                    <a:solidFill>
                      <a:srgbClr val="EEEE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222"/>
                          </a:solidFill>
                          <a:latin typeface="Calibri"/>
                        </a:rPr>
                        <a:t>± B4C target; op. V region incompatible with flash survival</a:t>
                      </a:r>
                    </a:p>
                  </a:txBody>
                  <a:tcPr marL="54864" marR="54864" marT="18288" marB="18288" anchor="ctr">
                    <a:solidFill>
                      <a:srgbClr val="EEEEE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222"/>
                          </a:solidFill>
                          <a:latin typeface="Calibri"/>
                        </a:rPr>
                        <a:t>Ar/CO2 70/30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222"/>
                          </a:solidFill>
                          <a:latin typeface="Calibri"/>
                        </a:rPr>
                        <a:t>Feb 16–Mar 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222"/>
                          </a:solidFill>
                          <a:latin typeface="Calibri"/>
                        </a:rPr>
                        <a:t>Op. V ~680–720 V; saturation well below op. 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023360"/>
            <a:ext cx="11338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50" b="0" i="0">
                <a:solidFill>
                  <a:srgbClr val="222222"/>
                </a:solidFill>
                <a:latin typeface="Calibri"/>
              </a:rPr>
              <a:t>•  Samples: empty / lead (gammas) / B4C (strong n absorber) / carbon (≈ July capsule) / Timepix.</a:t>
            </a:r>
          </a:p>
          <a:p>
            <a:pPr>
              <a:spcAft>
                <a:spcPts val="600"/>
              </a:spcAft>
            </a:pPr>
            <a:r>
              <a:rPr sz="1350" b="0" i="0">
                <a:solidFill>
                  <a:srgbClr val="222222"/>
                </a:solidFill>
                <a:latin typeface="Calibri"/>
              </a:rPr>
              <a:t>•  Drift gaps: 30 mm (µ-TPC) → 6 mm (Feb 18) → 11 mm (final days). Frame: aluminium → carbon (Feb 26).</a:t>
            </a:r>
          </a:p>
          <a:p>
            <a:pPr>
              <a:spcAft>
                <a:spcPts val="600"/>
              </a:spcAft>
            </a:pPr>
            <a:r>
              <a:rPr sz="1350" b="1" i="0">
                <a:solidFill>
                  <a:srgbClr val="2E8B57"/>
                </a:solidFill>
                <a:latin typeface="Calibri"/>
              </a:rPr>
              <a:t>•  Feb 19: single-strip scope test conclusively pins the blindness on DREAM, not the detector.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55664"/>
            <a:ext cx="1463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Calibri"/>
              </a:rPr>
              <a:t>n_TOF X17  ·  Backup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4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 i="0">
                <a:solidFill>
                  <a:srgbClr val="E07820"/>
                </a:solidFill>
                <a:latin typeface="Calibri"/>
              </a:rPr>
              <a:t>BACKUP · FEBRUARY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42C52"/>
                </a:solidFill>
                <a:latin typeface="Calibri"/>
              </a:rPr>
              <a:t>February — selected run summary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508760"/>
          <a:ext cx="1088136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280160"/>
                <a:gridCol w="1828800"/>
                <a:gridCol w="1463040"/>
                <a:gridCol w="914400"/>
                <a:gridCol w="1280160"/>
                <a:gridCol w="32004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Run</a:t>
                      </a:r>
                    </a:p>
                  </a:txBody>
                  <a:tcPr marL="54864" marR="54864" marT="18288" marB="18288" anchor="ctr">
                    <a:solidFill>
                      <a:srgbClr val="142C5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Date</a:t>
                      </a:r>
                    </a:p>
                  </a:txBody>
                  <a:tcPr marL="54864" marR="54864" marT="18288" marB="18288" anchor="ctr">
                    <a:solidFill>
                      <a:srgbClr val="142C5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Gas</a:t>
                      </a:r>
                    </a:p>
                  </a:txBody>
                  <a:tcPr marL="54864" marR="54864" marT="18288" marB="18288" anchor="ctr">
                    <a:solidFill>
                      <a:srgbClr val="142C5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marL="54864" marR="54864" marT="18288" marB="18288" anchor="ctr">
                    <a:solidFill>
                      <a:srgbClr val="142C5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Drift</a:t>
                      </a:r>
                    </a:p>
                  </a:txBody>
                  <a:tcPr marL="54864" marR="54864" marT="18288" marB="18288" anchor="ctr">
                    <a:solidFill>
                      <a:srgbClr val="142C5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Frame</a:t>
                      </a:r>
                    </a:p>
                  </a:txBody>
                  <a:tcPr marL="54864" marR="54864" marT="18288" marB="18288" anchor="ctr">
                    <a:solidFill>
                      <a:srgbClr val="142C5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 marL="54864" marR="54864" marT="18288" marB="18288" anchor="ctr">
                    <a:solidFill>
                      <a:srgbClr val="142C5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</a:rPr>
                        <a:t>Feb 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</a:rPr>
                        <a:t>Ar/CF4/Iso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</a:rPr>
                        <a:t>Timepix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</a:rPr>
                        <a:t>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</a:rPr>
                        <a:t>First detailed flash study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 marL="54864" marR="54864" marT="18288" marB="18288" anchor="ctr">
                    <a:solidFill>
                      <a:srgbClr val="EEEE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</a:rPr>
                        <a:t>Feb 4</a:t>
                      </a:r>
                    </a:p>
                  </a:txBody>
                  <a:tcPr marL="54864" marR="54864" marT="18288" marB="18288" anchor="ctr">
                    <a:solidFill>
                      <a:srgbClr val="EEEE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</a:rPr>
                        <a:t>He/Eth</a:t>
                      </a:r>
                    </a:p>
                  </a:txBody>
                  <a:tcPr marL="54864" marR="54864" marT="18288" marB="18288" anchor="ctr">
                    <a:solidFill>
                      <a:srgbClr val="EEEE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54864" marR="54864" marT="18288" marB="18288" anchor="ctr">
                    <a:solidFill>
                      <a:srgbClr val="EEEE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54864" marR="54864" marT="18288" marB="18288" anchor="ctr">
                    <a:solidFill>
                      <a:srgbClr val="EEEE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</a:rPr>
                        <a:t>Al</a:t>
                      </a:r>
                    </a:p>
                  </a:txBody>
                  <a:tcPr marL="54864" marR="54864" marT="18288" marB="18288" anchor="ctr">
                    <a:solidFill>
                      <a:srgbClr val="EEEE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</a:rPr>
                        <a:t>Overnight HV scan</a:t>
                      </a:r>
                    </a:p>
                  </a:txBody>
                  <a:tcPr marL="54864" marR="54864" marT="18288" marB="18288" anchor="ctr">
                    <a:solidFill>
                      <a:srgbClr val="EEEE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</a:rPr>
                        <a:t>Feb 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</a:rPr>
                        <a:t>He/Eth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</a:rPr>
                        <a:t>B4C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</a:rPr>
                        <a:t>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</a:rPr>
                        <a:t>B4C vs no-target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 marL="54864" marR="54864" marT="18288" marB="18288" anchor="ctr">
                    <a:solidFill>
                      <a:srgbClr val="EEEE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</a:rPr>
                        <a:t>Feb 6</a:t>
                      </a:r>
                    </a:p>
                  </a:txBody>
                  <a:tcPr marL="54864" marR="54864" marT="18288" marB="18288" anchor="ctr">
                    <a:solidFill>
                      <a:srgbClr val="EEEE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</a:rPr>
                        <a:t>He/Eth</a:t>
                      </a:r>
                    </a:p>
                  </a:txBody>
                  <a:tcPr marL="54864" marR="54864" marT="18288" marB="18288" anchor="ctr">
                    <a:solidFill>
                      <a:srgbClr val="EEEE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</a:rPr>
                        <a:t>Carbon</a:t>
                      </a:r>
                    </a:p>
                  </a:txBody>
                  <a:tcPr marL="54864" marR="54864" marT="18288" marB="18288" anchor="ctr">
                    <a:solidFill>
                      <a:srgbClr val="EEEE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54864" marR="54864" marT="18288" marB="18288" anchor="ctr">
                    <a:solidFill>
                      <a:srgbClr val="EEEE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</a:rPr>
                        <a:t>Al</a:t>
                      </a:r>
                    </a:p>
                  </a:txBody>
                  <a:tcPr marL="54864" marR="54864" marT="18288" marB="18288" anchor="ctr">
                    <a:solidFill>
                      <a:srgbClr val="EEEE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</a:rPr>
                        <a:t>Carbon target scan</a:t>
                      </a:r>
                    </a:p>
                  </a:txBody>
                  <a:tcPr marL="54864" marR="54864" marT="18288" marB="18288" anchor="ctr">
                    <a:solidFill>
                      <a:srgbClr val="EEEE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</a:rPr>
                        <a:t>52–54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</a:rPr>
                        <a:t>Feb 11–12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</a:rPr>
                        <a:t>Ar/CF4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</a:rPr>
                        <a:t>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</a:rPr>
                        <a:t>SiPM-triggered cosmics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</a:rPr>
                        <a:t>71</a:t>
                      </a:r>
                    </a:p>
                  </a:txBody>
                  <a:tcPr marL="54864" marR="54864" marT="18288" marB="18288" anchor="ctr">
                    <a:solidFill>
                      <a:srgbClr val="EEEE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</a:rPr>
                        <a:t>Feb 19</a:t>
                      </a:r>
                    </a:p>
                  </a:txBody>
                  <a:tcPr marL="54864" marR="54864" marT="18288" marB="18288" anchor="ctr">
                    <a:solidFill>
                      <a:srgbClr val="EEEE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</a:rPr>
                        <a:t>Ar/CO2</a:t>
                      </a:r>
                    </a:p>
                  </a:txBody>
                  <a:tcPr marL="54864" marR="54864" marT="18288" marB="18288" anchor="ctr">
                    <a:solidFill>
                      <a:srgbClr val="EEEE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</a:rPr>
                        <a:t>B4C</a:t>
                      </a:r>
                    </a:p>
                  </a:txBody>
                  <a:tcPr marL="54864" marR="54864" marT="18288" marB="18288" anchor="ctr">
                    <a:solidFill>
                      <a:srgbClr val="EEEE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EEEE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</a:rPr>
                        <a:t>Al</a:t>
                      </a:r>
                    </a:p>
                  </a:txBody>
                  <a:tcPr marL="54864" marR="54864" marT="18288" marB="18288" anchor="ctr">
                    <a:solidFill>
                      <a:srgbClr val="EEEE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</a:rPr>
                        <a:t>0 V vs 1000 V drift — 6 mm alive</a:t>
                      </a:r>
                    </a:p>
                  </a:txBody>
                  <a:tcPr marL="54864" marR="54864" marT="18288" marB="18288" anchor="ctr">
                    <a:solidFill>
                      <a:srgbClr val="EEEE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</a:rPr>
                        <a:t>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</a:rPr>
                        <a:t>Feb 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</a:rPr>
                        <a:t>He/Eth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</a:rPr>
                        <a:t>Cs-137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</a:rPr>
                        <a:t>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</a:rPr>
                        <a:t>Key efficiency calibration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</a:rPr>
                        <a:t>136</a:t>
                      </a:r>
                    </a:p>
                  </a:txBody>
                  <a:tcPr marL="54864" marR="54864" marT="18288" marB="18288" anchor="ctr">
                    <a:solidFill>
                      <a:srgbClr val="EEEE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</a:rPr>
                        <a:t>Feb 28</a:t>
                      </a:r>
                    </a:p>
                  </a:txBody>
                  <a:tcPr marL="54864" marR="54864" marT="18288" marB="18288" anchor="ctr">
                    <a:solidFill>
                      <a:srgbClr val="EEEE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</a:rPr>
                        <a:t>He/Eth</a:t>
                      </a:r>
                    </a:p>
                  </a:txBody>
                  <a:tcPr marL="54864" marR="54864" marT="18288" marB="18288" anchor="ctr">
                    <a:solidFill>
                      <a:srgbClr val="EEEE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</a:rPr>
                        <a:t>Lead</a:t>
                      </a:r>
                    </a:p>
                  </a:txBody>
                  <a:tcPr marL="54864" marR="54864" marT="18288" marB="18288" anchor="ctr">
                    <a:solidFill>
                      <a:srgbClr val="EEEE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EEEE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</a:rPr>
                        <a:t>Carbon</a:t>
                      </a:r>
                    </a:p>
                  </a:txBody>
                  <a:tcPr marL="54864" marR="54864" marT="18288" marB="18288" anchor="ctr">
                    <a:solidFill>
                      <a:srgbClr val="EEEE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</a:rPr>
                        <a:t>Al vs carbon frame (~10–20%)</a:t>
                      </a:r>
                    </a:p>
                  </a:txBody>
                  <a:tcPr marL="54864" marR="54864" marT="18288" marB="18288" anchor="ctr">
                    <a:solidFill>
                      <a:srgbClr val="EEEE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</a:rPr>
                        <a:t>143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</a:rPr>
                        <a:t>Mar 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</a:rPr>
                        <a:t>He/Eth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</a:rPr>
                        <a:t>Carbon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</a:rPr>
                        <a:t>Carbon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22222"/>
                          </a:solidFill>
                          <a:latin typeface="Calibri"/>
                        </a:rPr>
                        <a:t>Final 11 mm dataset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0607040" y="6455664"/>
            <a:ext cx="1463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Calibri"/>
              </a:rPr>
              <a:t>n_TOF X17  ·  Backup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4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 i="0">
                <a:solidFill>
                  <a:srgbClr val="E07820"/>
                </a:solidFill>
                <a:latin typeface="Calibri"/>
              </a:rPr>
              <a:t>BACKUP · MAY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42C52"/>
                </a:solidFill>
                <a:latin typeface="Calibri"/>
              </a:rPr>
              <a:t>May — issues identified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508760"/>
          <a:ext cx="112014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6629400"/>
              </a:tblGrid>
              <a:tr h="467360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Issue</a:t>
                      </a:r>
                    </a:p>
                  </a:txBody>
                  <a:tcPr marL="54864" marR="54864" marT="18288" marB="18288" anchor="ctr">
                    <a:solidFill>
                      <a:srgbClr val="142C5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Status / action</a:t>
                      </a:r>
                    </a:p>
                  </a:txBody>
                  <a:tcPr marL="54864" marR="54864" marT="18288" marB="18288" anchor="ctr">
                    <a:solidFill>
                      <a:srgbClr val="142C52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222"/>
                          </a:solidFill>
                          <a:latin typeface="Calibri"/>
                        </a:rPr>
                        <a:t>DREAM 4096 lock-up at ≳470 samples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222"/>
                          </a:solidFill>
                          <a:latin typeface="Calibri"/>
                        </a:rPr>
                        <a:t>RESOLVED — limit to 450 samples (9 µs window)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222"/>
                          </a:solidFill>
                          <a:latin typeface="Calibri"/>
                        </a:rPr>
                        <a:t>Zero-suppression left on from Run 36</a:t>
                      </a:r>
                    </a:p>
                  </a:txBody>
                  <a:tcPr marL="54864" marR="54864" marT="18288" marB="18288" anchor="ctr">
                    <a:solidFill>
                      <a:srgbClr val="EEEE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222"/>
                          </a:solidFill>
                          <a:latin typeface="Calibri"/>
                        </a:rPr>
                        <a:t>All Ne/Iso, He/Eth, Ar/CF4/Iso data are ZS; reprocess with flag</a:t>
                      </a:r>
                    </a:p>
                  </a:txBody>
                  <a:tcPr marL="54864" marR="54864" marT="18288" marB="18288" anchor="ctr">
                    <a:solidFill>
                      <a:srgbClr val="EEEEEE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222"/>
                          </a:solidFill>
                          <a:latin typeface="Calibri"/>
                        </a:rPr>
                        <a:t>Det-4 largely inefficient (M2 mux)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222"/>
                          </a:solidFill>
                          <a:latin typeface="Calibri"/>
                        </a:rPr>
                        <a:t>Physics analysis relies on Det-3 only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222"/>
                          </a:solidFill>
                          <a:latin typeface="Calibri"/>
                        </a:rPr>
                        <a:t>SiPM wall ~1 mm Al backing</a:t>
                      </a:r>
                    </a:p>
                  </a:txBody>
                  <a:tcPr marL="54864" marR="54864" marT="18288" marB="18288" anchor="ctr">
                    <a:solidFill>
                      <a:srgbClr val="EEEE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222"/>
                          </a:solidFill>
                          <a:latin typeface="Calibri"/>
                        </a:rPr>
                        <a:t>Blocks 1–2 MeV e⁻; remove / thin-foil for July</a:t>
                      </a:r>
                    </a:p>
                  </a:txBody>
                  <a:tcPr marL="54864" marR="54864" marT="18288" marB="18288" anchor="ctr">
                    <a:solidFill>
                      <a:srgbClr val="EEEEEE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222"/>
                          </a:solidFill>
                          <a:latin typeface="Calibri"/>
                        </a:rPr>
                        <a:t>NIM trigger outside EAR2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222"/>
                          </a:solidFill>
                          <a:latin typeface="Calibri"/>
                        </a:rPr>
                        <a:t>Cable attenuation &lt; N1081B threshold; move logic in-area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222"/>
                          </a:solidFill>
                          <a:latin typeface="Calibri"/>
                        </a:rPr>
                        <a:t>B4C target misaligned (Runs 35–44)</a:t>
                      </a:r>
                    </a:p>
                  </a:txBody>
                  <a:tcPr marL="54864" marR="54864" marT="18288" marB="18288" anchor="ctr">
                    <a:solidFill>
                      <a:srgbClr val="EEEE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222"/>
                          </a:solidFill>
                          <a:latin typeface="Calibri"/>
                        </a:rPr>
                        <a:t>B4C data from those runs suspect</a:t>
                      </a:r>
                    </a:p>
                  </a:txBody>
                  <a:tcPr marL="54864" marR="54864" marT="18288" marB="18288" anchor="ctr">
                    <a:solidFill>
                      <a:srgbClr val="EEEEEE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222"/>
                          </a:solidFill>
                          <a:latin typeface="Calibri"/>
                        </a:rPr>
                        <a:t>RunCtrl manual ‘G’ keypress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222"/>
                          </a:solidFill>
                          <a:latin typeface="Calibri"/>
                        </a:rPr>
                        <a:t>Needs software watchdog for overnight runs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222"/>
                          </a:solidFill>
                          <a:latin typeface="Calibri"/>
                        </a:rPr>
                        <a:t>Disk I/O bottleneck on DAQ PC</a:t>
                      </a:r>
                    </a:p>
                  </a:txBody>
                  <a:tcPr marL="54864" marR="54864" marT="18288" marB="18288" anchor="ctr">
                    <a:solidFill>
                      <a:srgbClr val="EEEE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222"/>
                          </a:solidFill>
                          <a:latin typeface="Calibri"/>
                        </a:rPr>
                        <a:t>Clone OS to SSD before July</a:t>
                      </a:r>
                    </a:p>
                  </a:txBody>
                  <a:tcPr marL="54864" marR="54864" marT="18288" marB="18288" anchor="ctr">
                    <a:solidFill>
                      <a:srgbClr val="EEEEEE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0607040" y="6455664"/>
            <a:ext cx="1463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Calibri"/>
              </a:rPr>
              <a:t>n_TOF X17  ·  Backup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4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 i="0">
                <a:solidFill>
                  <a:srgbClr val="E07820"/>
                </a:solidFill>
                <a:latin typeface="Calibri"/>
              </a:rPr>
              <a:t>BACKUP · OUTLOOK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42C52"/>
                </a:solidFill>
                <a:latin typeface="Calibri"/>
              </a:rPr>
              <a:t>July concept — thermal trigger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114300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1" i="0">
                <a:solidFill>
                  <a:srgbClr val="142C52"/>
                </a:solidFill>
                <a:latin typeface="Calibri"/>
              </a:rPr>
              <a:t>•  Full four-detector geometry around a pressurised ³He carbon capsule.</a:t>
            </a:r>
          </a:p>
          <a:p>
            <a:pPr>
              <a:spcAft>
                <a:spcPts val="600"/>
              </a:spcAft>
            </a:pPr>
            <a:r>
              <a:rPr sz="1450" b="0" i="0">
                <a:solidFill>
                  <a:srgbClr val="222222"/>
                </a:solidFill>
                <a:latin typeface="Calibri"/>
              </a:rPr>
              <a:t>•  Per side: SiPM wall (16/20 bars → 8 channels) summed &amp; discriminated → one logic pulse.</a:t>
            </a:r>
          </a:p>
          <a:p>
            <a:pPr>
              <a:spcAft>
                <a:spcPts val="600"/>
              </a:spcAft>
            </a:pPr>
            <a:r>
              <a:rPr sz="1450" b="0" i="0">
                <a:solidFill>
                  <a:srgbClr val="222222"/>
                </a:solidFill>
                <a:latin typeface="Calibri"/>
              </a:rPr>
              <a:t>•  Coincide with the first layer of a new liquid-scintillator calorimeter (PMT readout) →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222222"/>
                </a:solidFill>
                <a:latin typeface="Calibri"/>
              </a:rPr>
              <a:t>–  a “sector hit” that rejects single Compton gammas but accepts e⁺/e⁻.</a:t>
            </a:r>
          </a:p>
          <a:p>
            <a:pPr>
              <a:spcAft>
                <a:spcPts val="600"/>
              </a:spcAft>
            </a:pPr>
            <a:r>
              <a:rPr sz="1450" b="0" i="0">
                <a:solidFill>
                  <a:srgbClr val="222222"/>
                </a:solidFill>
                <a:latin typeface="Calibri"/>
              </a:rPr>
              <a:t>•  Singles = any one sector; Doubles = majority ≥2 (for a ~120° pair).</a:t>
            </a:r>
          </a:p>
          <a:p>
            <a:pPr>
              <a:spcAft>
                <a:spcPts val="600"/>
              </a:spcAft>
            </a:pPr>
            <a:r>
              <a:rPr sz="1450" b="0" i="0">
                <a:solidFill>
                  <a:srgbClr val="222222"/>
                </a:solidFill>
                <a:latin typeface="Calibri"/>
              </a:rPr>
              <a:t>•  Optional hardware PS-flash veto; scaledown to Doubles if singles rate too high.</a:t>
            </a:r>
          </a:p>
          <a:p>
            <a:pPr>
              <a:spcAft>
                <a:spcPts val="600"/>
              </a:spcAft>
            </a:pPr>
            <a:r>
              <a:rPr sz="1450" b="0" i="0">
                <a:solidFill>
                  <a:srgbClr val="222222"/>
                </a:solidFill>
                <a:latin typeface="Calibri"/>
              </a:rPr>
              <a:t>•  Liquid scintillator must contain up to 10 MeV e± within ~5 cm (GEANT4 to verify acceptance).</a:t>
            </a:r>
          </a:p>
          <a:p>
            <a:pPr>
              <a:spcAft>
                <a:spcPts val="600"/>
              </a:spcAft>
            </a:pPr>
            <a:r>
              <a:rPr sz="1450" b="0" i="0">
                <a:solidFill>
                  <a:srgbClr val="222222"/>
                </a:solidFill>
                <a:latin typeface="Calibri"/>
              </a:rPr>
              <a:t>•  Rate scaling vs empty-capsule ~3/pulse: area ×1.8, no Al ×~2, ³He fill ×2–3, four walls ×4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222222"/>
                </a:solidFill>
                <a:latin typeface="Calibri"/>
              </a:rPr>
              <a:t>–  → O(50–200) singles/pulse; DREAM dead-time vs rate must be modelled to choose Singles vs Doubles.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55664"/>
            <a:ext cx="1463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Calibri"/>
              </a:rPr>
              <a:t>n_TOF X17  ·  Backup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4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 i="0">
                <a:solidFill>
                  <a:srgbClr val="E07820"/>
                </a:solidFill>
                <a:latin typeface="Calibri"/>
              </a:rPr>
              <a:t>BACKUP · OUTLOOK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42C52"/>
                </a:solidFill>
                <a:latin typeface="Calibri"/>
              </a:rPr>
              <a:t>Roadmap to July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554480"/>
          <a:ext cx="11201399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011680"/>
                <a:gridCol w="7726679"/>
              </a:tblGrid>
              <a:tr h="777240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Period</a:t>
                      </a:r>
                    </a:p>
                  </a:txBody>
                  <a:tcPr marL="54864" marR="54864" marT="18288" marB="18288" anchor="ctr">
                    <a:solidFill>
                      <a:srgbClr val="142C5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Milestone</a:t>
                      </a:r>
                    </a:p>
                  </a:txBody>
                  <a:tcPr marL="54864" marR="54864" marT="18288" marB="18288" anchor="ctr">
                    <a:solidFill>
                      <a:srgbClr val="142C5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Key items</a:t>
                      </a:r>
                    </a:p>
                  </a:txBody>
                  <a:tcPr marL="54864" marR="54864" marT="18288" marB="18288" anchor="ctr">
                    <a:solidFill>
                      <a:srgbClr val="142C52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222"/>
                          </a:solidFill>
                          <a:latin typeface="Calibri"/>
                        </a:rPr>
                        <a:t>June 2026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222"/>
                          </a:solidFill>
                          <a:latin typeface="Calibri"/>
                        </a:rPr>
                        <a:t>Production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222"/>
                          </a:solidFill>
                          <a:latin typeface="Calibri"/>
                        </a:rPr>
                        <a:t>Build 4 final MMs (30 mm, Al frame); upgrade/obtain DREAM FEUs &amp; 64 cables; build liquid-scint modules &amp; 3 more SiPM walls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222"/>
                          </a:solidFill>
                          <a:latin typeface="Calibri"/>
                        </a:rPr>
                        <a:t>June 2026</a:t>
                      </a:r>
                    </a:p>
                  </a:txBody>
                  <a:tcPr marL="54864" marR="54864" marT="18288" marB="18288" anchor="ctr">
                    <a:solidFill>
                      <a:srgbClr val="EEEE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222"/>
                          </a:solidFill>
                          <a:latin typeface="Calibri"/>
                        </a:rPr>
                        <a:t>DAQ &amp; trigger</a:t>
                      </a:r>
                    </a:p>
                  </a:txBody>
                  <a:tcPr marL="54864" marR="54864" marT="18288" marB="18288" anchor="ctr">
                    <a:solidFill>
                      <a:srgbClr val="EEEE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222"/>
                          </a:solidFill>
                          <a:latin typeface="Calibri"/>
                        </a:rPr>
                        <a:t>In-area NIM trigger (N1081B, veto); SSD clone; auto-ZS detection; RunCtrl watchdog; GEANT4 acceptance + dead-time model</a:t>
                      </a:r>
                    </a:p>
                  </a:txBody>
                  <a:tcPr marL="54864" marR="54864" marT="18288" marB="18288" anchor="ctr">
                    <a:solidFill>
                      <a:srgbClr val="EEEEEE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222"/>
                          </a:solidFill>
                          <a:latin typeface="Calibri"/>
                        </a:rPr>
                        <a:t>July 2026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222"/>
                          </a:solidFill>
                          <a:latin typeface="Calibri"/>
                        </a:rPr>
                        <a:t>Physics run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222"/>
                          </a:solidFill>
                          <a:latin typeface="Calibri"/>
                        </a:rPr>
                        <a:t>Four-detector thermal-region X17 search with ³He target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937760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 i="0">
                <a:solidFill>
                  <a:srgbClr val="C0392B"/>
                </a:solidFill>
                <a:latin typeface="Calibri"/>
              </a:rPr>
              <a:t>•  Open detector-quality question: Det-4 inefficiency and Det-3 discharges — root cause before building the four.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55664"/>
            <a:ext cx="1463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Calibri"/>
              </a:rPr>
              <a:t>n_TOF X17  ·  Backup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